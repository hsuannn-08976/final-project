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0"/>
  </p:notesMasterIdLst>
  <p:sldIdLst>
    <p:sldId id="256" r:id="rId2"/>
    <p:sldId id="327" r:id="rId3"/>
    <p:sldId id="259" r:id="rId4"/>
    <p:sldId id="261" r:id="rId5"/>
    <p:sldId id="263" r:id="rId6"/>
    <p:sldId id="295" r:id="rId7"/>
    <p:sldId id="316" r:id="rId8"/>
    <p:sldId id="257" r:id="rId9"/>
    <p:sldId id="258" r:id="rId10"/>
    <p:sldId id="286" r:id="rId11"/>
    <p:sldId id="287" r:id="rId12"/>
    <p:sldId id="289" r:id="rId13"/>
    <p:sldId id="290" r:id="rId14"/>
    <p:sldId id="312" r:id="rId15"/>
    <p:sldId id="325" r:id="rId16"/>
    <p:sldId id="317" r:id="rId17"/>
    <p:sldId id="319" r:id="rId18"/>
    <p:sldId id="313" r:id="rId19"/>
    <p:sldId id="320" r:id="rId20"/>
    <p:sldId id="314" r:id="rId21"/>
    <p:sldId id="321" r:id="rId22"/>
    <p:sldId id="315" r:id="rId23"/>
    <p:sldId id="322" r:id="rId24"/>
    <p:sldId id="318" r:id="rId25"/>
    <p:sldId id="324" r:id="rId26"/>
    <p:sldId id="323" r:id="rId27"/>
    <p:sldId id="269" r:id="rId28"/>
    <p:sldId id="270" r:id="rId29"/>
    <p:sldId id="271" r:id="rId30"/>
    <p:sldId id="272" r:id="rId31"/>
    <p:sldId id="296" r:id="rId32"/>
    <p:sldId id="265" r:id="rId33"/>
    <p:sldId id="266" r:id="rId34"/>
    <p:sldId id="267" r:id="rId35"/>
    <p:sldId id="268" r:id="rId36"/>
    <p:sldId id="298" r:id="rId37"/>
    <p:sldId id="299" r:id="rId38"/>
    <p:sldId id="300" r:id="rId39"/>
    <p:sldId id="301" r:id="rId40"/>
    <p:sldId id="302" r:id="rId41"/>
    <p:sldId id="304" r:id="rId42"/>
    <p:sldId id="303" r:id="rId43"/>
    <p:sldId id="310" r:id="rId44"/>
    <p:sldId id="311" r:id="rId45"/>
    <p:sldId id="309" r:id="rId46"/>
    <p:sldId id="273" r:id="rId47"/>
    <p:sldId id="274" r:id="rId48"/>
    <p:sldId id="275" r:id="rId49"/>
    <p:sldId id="276" r:id="rId50"/>
    <p:sldId id="291" r:id="rId51"/>
    <p:sldId id="292" r:id="rId52"/>
    <p:sldId id="277" r:id="rId53"/>
    <p:sldId id="294" r:id="rId54"/>
    <p:sldId id="278" r:id="rId55"/>
    <p:sldId id="279" r:id="rId56"/>
    <p:sldId id="280" r:id="rId57"/>
    <p:sldId id="281" r:id="rId58"/>
    <p:sldId id="326" r:id="rId5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3"/>
    <p:restoredTop sz="94737"/>
  </p:normalViewPr>
  <p:slideViewPr>
    <p:cSldViewPr snapToGrid="0" showGuides="1">
      <p:cViewPr varScale="1">
        <p:scale>
          <a:sx n="135" d="100"/>
          <a:sy n="135" d="100"/>
        </p:scale>
        <p:origin x="304" y="18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40163-9CFB-B541-AB5D-3A8958096BC4}" type="datetimeFigureOut">
              <a:rPr kumimoji="1" lang="zh-TW" altLang="en-US" smtClean="0"/>
              <a:t>2026/5/28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72DCE0-DECF-2845-AC32-B9D2A05CBB5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49240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#</a:t>
            </a:r>
            <a:r>
              <a:rPr kumimoji="1" lang="zh-TW" altLang="en-US" dirty="0"/>
              <a:t> 個人偏好</a:t>
            </a:r>
            <a:endParaRPr kumimoji="1" lang="en-US" altLang="zh-TW" dirty="0"/>
          </a:p>
          <a:p>
            <a:pPr marL="285750" indent="-285750">
              <a:buFontTx/>
              <a:buChar char="-"/>
            </a:pPr>
            <a:r>
              <a:rPr kumimoji="1" lang="zh-TW" altLang="en-US" dirty="0"/>
              <a:t>預設語言</a:t>
            </a:r>
            <a:r>
              <a:rPr kumimoji="1" lang="en-US" altLang="zh-TW" dirty="0"/>
              <a:t>:</a:t>
            </a:r>
            <a:r>
              <a:rPr kumimoji="1" lang="zh-TW" altLang="en-US" dirty="0"/>
              <a:t> 臺灣繁體中文</a:t>
            </a:r>
            <a:r>
              <a:rPr kumimoji="1" lang="en-US" altLang="zh-TW" dirty="0"/>
              <a:t>(</a:t>
            </a:r>
            <a:r>
              <a:rPr kumimoji="1" lang="zh-TW" altLang="en-US" dirty="0"/>
              <a:t>請以繁體中文回應自然語言與文件內容</a:t>
            </a:r>
            <a:r>
              <a:rPr kumimoji="1" lang="en-US" altLang="zh-TW" dirty="0"/>
              <a:t>)</a:t>
            </a:r>
            <a:r>
              <a:rPr kumimoji="1" lang="zh-TW" altLang="en-US" dirty="0"/>
              <a:t>，包括你自已的思考流程，都使用繁體中文和我交談</a:t>
            </a:r>
            <a:endParaRPr kumimoji="1" lang="en-US" altLang="zh-TW" dirty="0"/>
          </a:p>
          <a:p>
            <a:pPr marL="285750" indent="-285750">
              <a:buFontTx/>
              <a:buChar char="-"/>
            </a:pPr>
            <a:r>
              <a:rPr kumimoji="1" lang="zh-TW" altLang="en-US" dirty="0"/>
              <a:t>如果使用</a:t>
            </a:r>
            <a:r>
              <a:rPr kumimoji="1" lang="en-US" altLang="zh-TW" dirty="0"/>
              <a:t>python </a:t>
            </a:r>
            <a:r>
              <a:rPr kumimoji="1" lang="zh-TW" altLang="en-US" dirty="0"/>
              <a:t>開發程式，一定要用</a:t>
            </a:r>
            <a:r>
              <a:rPr kumimoji="1" lang="en-US" altLang="zh-TW" dirty="0" err="1"/>
              <a:t>uv</a:t>
            </a:r>
            <a:r>
              <a:rPr kumimoji="1" lang="en-US" altLang="zh-TW" dirty="0"/>
              <a:t> </a:t>
            </a:r>
            <a:r>
              <a:rPr kumimoji="1" lang="zh-TW" altLang="en-US" dirty="0"/>
              <a:t>建立環境，千萬不要用到</a:t>
            </a:r>
            <a:r>
              <a:rPr kumimoji="1" lang="en-US" altLang="zh-TW" dirty="0"/>
              <a:t>base</a:t>
            </a:r>
            <a:r>
              <a:rPr kumimoji="1" lang="zh-TW" altLang="en-US" dirty="0"/>
              <a:t>及單獨使用</a:t>
            </a:r>
            <a:r>
              <a:rPr kumimoji="1" lang="en-US" altLang="zh-TW" dirty="0"/>
              <a:t>pip</a:t>
            </a:r>
          </a:p>
          <a:p>
            <a:pPr marL="285750" indent="-285750">
              <a:buFontTx/>
              <a:buChar char="-"/>
            </a:pPr>
            <a:r>
              <a:rPr kumimoji="1" lang="en-US" altLang="zh-TW" dirty="0"/>
              <a:t>Agent </a:t>
            </a:r>
            <a:r>
              <a:rPr kumimoji="1" lang="zh-TW" altLang="en-US" dirty="0"/>
              <a:t>所產生的</a:t>
            </a:r>
            <a:r>
              <a:rPr kumimoji="1" lang="en-US" altLang="zh-TW" dirty="0"/>
              <a:t>implementation plan*, </a:t>
            </a:r>
            <a:r>
              <a:rPr kumimoji="1" lang="en-US" altLang="zh-TW" dirty="0" err="1"/>
              <a:t>task.md</a:t>
            </a:r>
            <a:r>
              <a:rPr kumimoji="1" lang="en-US" altLang="zh-TW" dirty="0"/>
              <a:t>*, </a:t>
            </a:r>
            <a:r>
              <a:rPr kumimoji="1" lang="en-US" altLang="zh-TW" dirty="0" err="1"/>
              <a:t>walkthrough.md</a:t>
            </a:r>
            <a:r>
              <a:rPr kumimoji="1" lang="en-US" altLang="zh-TW" dirty="0"/>
              <a:t>*</a:t>
            </a:r>
            <a:r>
              <a:rPr kumimoji="1" lang="zh-TW" altLang="en-US" dirty="0"/>
              <a:t>，全用繁體中文台灣用語</a:t>
            </a:r>
            <a:endParaRPr kumimoji="1" lang="en-US" altLang="zh-TW" dirty="0"/>
          </a:p>
          <a:p>
            <a:pPr marL="285750" indent="-285750">
              <a:buFontTx/>
              <a:buChar char="-"/>
            </a:pPr>
            <a:r>
              <a:rPr kumimoji="1" lang="zh-TW" altLang="en-US" dirty="0"/>
              <a:t>如果是</a:t>
            </a:r>
            <a:r>
              <a:rPr kumimoji="1" lang="en-US" altLang="zh-TW" dirty="0" err="1"/>
              <a:t>javascript</a:t>
            </a:r>
            <a:r>
              <a:rPr kumimoji="1" lang="zh-TW" altLang="en-US" dirty="0"/>
              <a:t>或是</a:t>
            </a:r>
            <a:r>
              <a:rPr kumimoji="1" lang="en-US" altLang="zh-TW" dirty="0"/>
              <a:t>typescript</a:t>
            </a:r>
            <a:r>
              <a:rPr kumimoji="1" lang="zh-TW" altLang="en-US" dirty="0"/>
              <a:t>，一律使用</a:t>
            </a:r>
            <a:r>
              <a:rPr kumimoji="1" lang="en-US" altLang="zh-TW" dirty="0" err="1"/>
              <a:t>npm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npx</a:t>
            </a:r>
            <a:r>
              <a:rPr kumimoji="1" lang="zh-TW" altLang="en-US" dirty="0"/>
              <a:t>，不要亂裝動到我的</a:t>
            </a:r>
            <a:r>
              <a:rPr kumimoji="1" lang="en-US" altLang="zh-TW" dirty="0"/>
              <a:t>base</a:t>
            </a:r>
            <a:r>
              <a:rPr kumimoji="1" lang="zh-TW" altLang="en-US" dirty="0"/>
              <a:t>環境</a:t>
            </a:r>
            <a:endParaRPr kumimoji="1" lang="en-US" altLang="zh-TW" dirty="0"/>
          </a:p>
          <a:p>
            <a:r>
              <a:rPr kumimoji="1" lang="en-US" altLang="zh-TW" dirty="0"/>
              <a:t>-</a:t>
            </a:r>
            <a:r>
              <a:rPr kumimoji="1" lang="zh-TW" altLang="en-US" dirty="0"/>
              <a:t>    如果是有其他語言的套件安裝，請用</a:t>
            </a:r>
            <a:r>
              <a:rPr kumimoji="1" lang="en-US" altLang="zh-TW" dirty="0" err="1"/>
              <a:t>conda</a:t>
            </a:r>
            <a:r>
              <a:rPr kumimoji="1" lang="zh-TW" altLang="en-US" dirty="0"/>
              <a:t>管理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2DCE0-DECF-2845-AC32-B9D2A05CBB56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1724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9074B-3380-643C-5F8C-26CC4303B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4E54249-D4EB-0BCA-5C54-0EE4F5F02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B0BD09C-233B-9D6E-6F7F-1A77370F10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#</a:t>
            </a:r>
            <a:r>
              <a:rPr kumimoji="1" lang="zh-TW" altLang="en-US" dirty="0"/>
              <a:t> 個人偏好</a:t>
            </a:r>
            <a:endParaRPr kumimoji="1" lang="en-US" altLang="zh-TW" dirty="0"/>
          </a:p>
          <a:p>
            <a:pPr marL="285750" indent="-285750">
              <a:buFontTx/>
              <a:buChar char="-"/>
            </a:pPr>
            <a:r>
              <a:rPr kumimoji="1" lang="zh-TW" altLang="en-US" dirty="0"/>
              <a:t>預設語言</a:t>
            </a:r>
            <a:r>
              <a:rPr kumimoji="1" lang="en-US" altLang="zh-TW" dirty="0"/>
              <a:t>:</a:t>
            </a:r>
            <a:r>
              <a:rPr kumimoji="1" lang="zh-TW" altLang="en-US" dirty="0"/>
              <a:t> 臺灣繁體中文</a:t>
            </a:r>
            <a:r>
              <a:rPr kumimoji="1" lang="en-US" altLang="zh-TW" dirty="0"/>
              <a:t>(</a:t>
            </a:r>
            <a:r>
              <a:rPr kumimoji="1" lang="zh-TW" altLang="en-US" dirty="0"/>
              <a:t>請以繁體中文回應自然語言與文件內容</a:t>
            </a:r>
            <a:r>
              <a:rPr kumimoji="1" lang="en-US" altLang="zh-TW" dirty="0"/>
              <a:t>)</a:t>
            </a:r>
            <a:r>
              <a:rPr kumimoji="1" lang="zh-TW" altLang="en-US" dirty="0"/>
              <a:t>，包括你自已的思考流程，都使用繁體中文和我交談</a:t>
            </a:r>
            <a:endParaRPr kumimoji="1" lang="en-US" altLang="zh-TW" dirty="0"/>
          </a:p>
          <a:p>
            <a:pPr marL="285750" indent="-285750">
              <a:buFontTx/>
              <a:buChar char="-"/>
            </a:pPr>
            <a:r>
              <a:rPr kumimoji="1" lang="zh-TW" altLang="en-US" dirty="0"/>
              <a:t>如果使用</a:t>
            </a:r>
            <a:r>
              <a:rPr kumimoji="1" lang="en-US" altLang="zh-TW" dirty="0"/>
              <a:t>python </a:t>
            </a:r>
            <a:r>
              <a:rPr kumimoji="1" lang="zh-TW" altLang="en-US" dirty="0"/>
              <a:t>開發程式，一定要用</a:t>
            </a:r>
            <a:r>
              <a:rPr kumimoji="1" lang="en-US" altLang="zh-TW" dirty="0" err="1"/>
              <a:t>uv</a:t>
            </a:r>
            <a:r>
              <a:rPr kumimoji="1" lang="en-US" altLang="zh-TW" dirty="0"/>
              <a:t> </a:t>
            </a:r>
            <a:r>
              <a:rPr kumimoji="1" lang="zh-TW" altLang="en-US" dirty="0"/>
              <a:t>建立環境，千萬不要用到</a:t>
            </a:r>
            <a:r>
              <a:rPr kumimoji="1" lang="en-US" altLang="zh-TW" dirty="0"/>
              <a:t>base</a:t>
            </a:r>
            <a:r>
              <a:rPr kumimoji="1" lang="zh-TW" altLang="en-US" dirty="0"/>
              <a:t>及單獨使用</a:t>
            </a:r>
            <a:r>
              <a:rPr kumimoji="1" lang="en-US" altLang="zh-TW" dirty="0"/>
              <a:t>pip</a:t>
            </a:r>
          </a:p>
          <a:p>
            <a:pPr marL="285750" indent="-285750">
              <a:buFontTx/>
              <a:buChar char="-"/>
            </a:pPr>
            <a:r>
              <a:rPr kumimoji="1" lang="en-US" altLang="zh-TW" dirty="0"/>
              <a:t>Agent </a:t>
            </a:r>
            <a:r>
              <a:rPr kumimoji="1" lang="zh-TW" altLang="en-US" dirty="0"/>
              <a:t>所產生的</a:t>
            </a:r>
            <a:r>
              <a:rPr kumimoji="1" lang="en-US" altLang="zh-TW" dirty="0"/>
              <a:t>implementation plan*, </a:t>
            </a:r>
            <a:r>
              <a:rPr kumimoji="1" lang="en-US" altLang="zh-TW" dirty="0" err="1"/>
              <a:t>task.md</a:t>
            </a:r>
            <a:r>
              <a:rPr kumimoji="1" lang="en-US" altLang="zh-TW" dirty="0"/>
              <a:t>*, </a:t>
            </a:r>
            <a:r>
              <a:rPr kumimoji="1" lang="en-US" altLang="zh-TW" dirty="0" err="1"/>
              <a:t>walkthrough.md</a:t>
            </a:r>
            <a:r>
              <a:rPr kumimoji="1" lang="en-US" altLang="zh-TW" dirty="0"/>
              <a:t>*</a:t>
            </a:r>
            <a:r>
              <a:rPr kumimoji="1" lang="zh-TW" altLang="en-US" dirty="0"/>
              <a:t>，全用繁體中文台灣用語</a:t>
            </a:r>
            <a:endParaRPr kumimoji="1" lang="en-US" altLang="zh-TW" dirty="0"/>
          </a:p>
          <a:p>
            <a:pPr marL="285750" indent="-285750">
              <a:buFontTx/>
              <a:buChar char="-"/>
            </a:pPr>
            <a:r>
              <a:rPr kumimoji="1" lang="zh-TW" altLang="en-US" dirty="0"/>
              <a:t>如果是</a:t>
            </a:r>
            <a:r>
              <a:rPr kumimoji="1" lang="en-US" altLang="zh-TW" dirty="0" err="1"/>
              <a:t>javascript</a:t>
            </a:r>
            <a:r>
              <a:rPr kumimoji="1" lang="zh-TW" altLang="en-US" dirty="0"/>
              <a:t>或是</a:t>
            </a:r>
            <a:r>
              <a:rPr kumimoji="1" lang="en-US" altLang="zh-TW" dirty="0"/>
              <a:t>typescript</a:t>
            </a:r>
            <a:r>
              <a:rPr kumimoji="1" lang="zh-TW" altLang="en-US" dirty="0"/>
              <a:t>，一律使用</a:t>
            </a:r>
            <a:r>
              <a:rPr kumimoji="1" lang="en-US" altLang="zh-TW" dirty="0" err="1"/>
              <a:t>npm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npx</a:t>
            </a:r>
            <a:r>
              <a:rPr kumimoji="1" lang="zh-TW" altLang="en-US" dirty="0"/>
              <a:t>，不要亂裝動到我的</a:t>
            </a:r>
            <a:r>
              <a:rPr kumimoji="1" lang="en-US" altLang="zh-TW" dirty="0"/>
              <a:t>base</a:t>
            </a:r>
            <a:r>
              <a:rPr kumimoji="1" lang="zh-TW" altLang="en-US" dirty="0"/>
              <a:t>環境</a:t>
            </a:r>
            <a:endParaRPr kumimoji="1" lang="en-US" altLang="zh-TW" dirty="0"/>
          </a:p>
          <a:p>
            <a:r>
              <a:rPr kumimoji="1" lang="en-US" altLang="zh-TW" dirty="0"/>
              <a:t>-</a:t>
            </a:r>
            <a:r>
              <a:rPr kumimoji="1" lang="zh-TW" altLang="en-US" dirty="0"/>
              <a:t>    如果是有其他語言的套件安裝，請用</a:t>
            </a:r>
            <a:r>
              <a:rPr kumimoji="1" lang="en-US" altLang="zh-TW" dirty="0" err="1"/>
              <a:t>conda</a:t>
            </a:r>
            <a:r>
              <a:rPr kumimoji="1" lang="zh-TW" altLang="en-US" dirty="0"/>
              <a:t>管理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D4EADB1-1711-6954-710A-67861B6A7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2DCE0-DECF-2845-AC32-B9D2A05CBB56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59812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E71C9E-C1D3-59B8-9187-C3161A71E2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5412E0B-39C7-0D5A-8267-215FEEA84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6FC91C7-485C-D800-CFBD-66170AA04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D3E0-026B-4147-85BF-025C176DA8C4}" type="datetimeFigureOut">
              <a:rPr kumimoji="1" lang="zh-TW" altLang="en-US" smtClean="0"/>
              <a:t>2026/5/28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B6D2DB1-D260-EDC3-2B3C-EB1935246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A1986E-16B6-EF1F-BFD5-9D1C6B453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D53-DBDD-5F4D-AF40-20CDA77E2B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02806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6D32F3-ADAA-0CD2-ACE3-9D93ED633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E13F58-0A3C-3F05-BB1D-F1B6F473F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05E9B2-5E44-8861-C480-049B688B1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D3E0-026B-4147-85BF-025C176DA8C4}" type="datetimeFigureOut">
              <a:rPr kumimoji="1" lang="zh-TW" altLang="en-US" smtClean="0"/>
              <a:t>2026/5/28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4B4B558-C257-0E74-99C9-A397147C9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73180A-D817-959C-BE3E-F52022D4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D53-DBDD-5F4D-AF40-20CDA77E2B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18619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7F0E24-BC07-9563-8126-F5A790B04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FD6C8F5-B5C0-E36E-4FA2-2051CB730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561D2A-DDA0-5F29-7B78-318C47B7A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D3E0-026B-4147-85BF-025C176DA8C4}" type="datetimeFigureOut">
              <a:rPr kumimoji="1" lang="zh-TW" altLang="en-US" smtClean="0"/>
              <a:t>2026/5/28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35E59CA-3903-D8A0-48C9-8A794E120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78E56DF-0B85-87AA-9E9D-8AF9843AE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D53-DBDD-5F4D-AF40-20CDA77E2B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32039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5EF685-DE54-46DB-02F6-48C14E211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0A0EC2-4F53-A0BA-D944-77E7497DA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60D414B-4AFD-6DE2-AEA4-D1D844393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E9F34B5-CB23-09C5-CDF3-B37160340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D3E0-026B-4147-85BF-025C176DA8C4}" type="datetimeFigureOut">
              <a:rPr kumimoji="1" lang="zh-TW" altLang="en-US" smtClean="0"/>
              <a:t>2026/5/28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0A13370-7006-3438-8CA6-FBECDA761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03417B5-A96B-C7B7-6D26-75CA5D289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D53-DBDD-5F4D-AF40-20CDA77E2B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57119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604BD5-A93A-7214-C339-0300D1BBA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7BE45A9-48D8-5F95-B029-CB370FB42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8884DBF-B5F9-2760-422F-2206BF921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E0DFE75-B0B0-0B6F-FB19-E0EFFFEA3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0E89605-366B-49B0-B735-65D33635BD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E2B311D-B6B1-9655-5CF0-DF01A0CBF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D3E0-026B-4147-85BF-025C176DA8C4}" type="datetimeFigureOut">
              <a:rPr kumimoji="1" lang="zh-TW" altLang="en-US" smtClean="0"/>
              <a:t>2026/5/28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0EC4DD0-56D6-01DE-6B05-CE01D7D38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4A47DE2-422A-8E24-66B2-4A967776C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D53-DBDD-5F4D-AF40-20CDA77E2B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14057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BAAE43-15B2-3A88-8A7F-E65ACA09A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3DFC5AB-19F9-BB43-378C-0FC88C179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D3E0-026B-4147-85BF-025C176DA8C4}" type="datetimeFigureOut">
              <a:rPr kumimoji="1" lang="zh-TW" altLang="en-US" smtClean="0"/>
              <a:t>2026/5/28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A8B9E57-B286-899A-F38E-D057B579F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66A079B-2F61-AF04-6692-B3D672280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D53-DBDD-5F4D-AF40-20CDA77E2B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52779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5052668-9414-C33F-4BE5-DD70BABA4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D3E0-026B-4147-85BF-025C176DA8C4}" type="datetimeFigureOut">
              <a:rPr kumimoji="1" lang="zh-TW" altLang="en-US" smtClean="0"/>
              <a:t>2026/5/28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645A1B1-E271-EDF9-A32B-E2CE49E1E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0A1062-E040-CFCC-DACB-9D13FAEBC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D53-DBDD-5F4D-AF40-20CDA77E2B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65898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5BE8DC-A39A-3441-C05B-5F157690A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86C01E9-0F9D-F564-9CC9-F88595692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612BDD3-D0B0-3447-0059-C75F5DF60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A87214-3C19-43EF-C1CA-429123AF0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D3E0-026B-4147-85BF-025C176DA8C4}" type="datetimeFigureOut">
              <a:rPr kumimoji="1" lang="zh-TW" altLang="en-US" smtClean="0"/>
              <a:t>2026/5/28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10E0B7D-61B9-1530-BA65-123FEFCEB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0DA691C-1E50-22F2-E66F-4D8AAB146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D53-DBDD-5F4D-AF40-20CDA77E2B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28622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2F254F-71AC-8B72-5DAA-01F2D7C89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75D9227-8091-86D6-D8A7-3A02D03B47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5F81F0F-381C-BC1A-9E2B-1B72B6343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3440A2B-3C4F-7DD3-9E56-6E30A8A81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D3E0-026B-4147-85BF-025C176DA8C4}" type="datetimeFigureOut">
              <a:rPr kumimoji="1" lang="zh-TW" altLang="en-US" smtClean="0"/>
              <a:t>2026/5/28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DA8D354-2DF5-E9D0-6DB4-030940A8C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92B1514-433C-6532-2EF3-A436C1D90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D53-DBDD-5F4D-AF40-20CDA77E2B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2181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A1CB63-F659-F99D-0958-4364A8499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92E997B-BB9D-713D-3F3B-0B858E540C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6A735C-F2E1-85CA-7844-A1D248891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D3E0-026B-4147-85BF-025C176DA8C4}" type="datetimeFigureOut">
              <a:rPr kumimoji="1" lang="zh-TW" altLang="en-US" smtClean="0"/>
              <a:t>2026/5/28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961B61D-2DA2-9926-A6AE-7DAE46479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17AFA42-6158-7FD4-D5D1-D608B8017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D53-DBDD-5F4D-AF40-20CDA77E2B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40805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7F7DB33-3676-95F6-4722-5A7740CDE3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4F1F979-4C8B-5EDF-4186-66504C4CC9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C1FA32B-35CC-4FAC-AD69-3156A9ECA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D3E0-026B-4147-85BF-025C176DA8C4}" type="datetimeFigureOut">
              <a:rPr kumimoji="1" lang="zh-TW" altLang="en-US" smtClean="0"/>
              <a:t>2026/5/28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19FA2B0-9C74-C1F2-ACC4-F8597E39F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A1E90E7-019C-EA72-794C-C3EF5C1DC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B9D53-DBDD-5F4D-AF40-20CDA77E2B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95361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E07A669-C92C-563C-A6B1-FCBFAC78B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586BBEB-307C-373D-5C96-9653F1EDD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9DEA000-D529-C9F1-C2C5-D459136A6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48D3E0-026B-4147-85BF-025C176DA8C4}" type="datetimeFigureOut">
              <a:rPr kumimoji="1" lang="zh-TW" altLang="en-US" smtClean="0"/>
              <a:t>2026/5/28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F354059-476F-F80B-3206-1F6260DAD8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05A70ED-38EB-2749-6326-88E6DB73A3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1B9D53-DBDD-5F4D-AF40-20CDA77E2B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58017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killhub.club/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www.notion.so/Antigravity-2-0-36df3e2d392280409029e112e318685e?source=copy_link" TargetMode="Externa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D498AB-A9BC-F40E-61A2-0D1A8DB0D9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08A7B66-9D83-0ABD-B377-9774923DD1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40870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0781C5-406F-72E7-FDFB-882EFE8A0AD2}"/>
              </a:ext>
            </a:extLst>
          </p:cNvPr>
          <p:cNvSpPr txBox="1"/>
          <p:nvPr/>
        </p:nvSpPr>
        <p:spPr>
          <a:xfrm>
            <a:off x="381000" y="223415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000" b="1" dirty="0"/>
              <a:t>Final project</a:t>
            </a:r>
            <a:endParaRPr sz="3000" b="1" dirty="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F217D5EC-766F-5E3E-3CF0-CC835026A297}"/>
              </a:ext>
            </a:extLst>
          </p:cNvPr>
          <p:cNvSpPr txBox="1"/>
          <p:nvPr/>
        </p:nvSpPr>
        <p:spPr>
          <a:xfrm>
            <a:off x="381000" y="1422189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 err="1"/>
              <a:t>請做一個自已有興趣的app</a:t>
            </a:r>
            <a:endParaRPr sz="2400" b="1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2F56AEA6-CD64-2A6D-769C-57918BBBEE1C}"/>
              </a:ext>
            </a:extLst>
          </p:cNvPr>
          <p:cNvSpPr txBox="1"/>
          <p:nvPr/>
        </p:nvSpPr>
        <p:spPr>
          <a:xfrm>
            <a:off x="381000" y="2413337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 err="1"/>
              <a:t>裡面要有plan.md檔</a:t>
            </a:r>
            <a:r>
              <a:rPr lang="zh-TW" altLang="en-US" sz="2400" b="1" dirty="0"/>
              <a:t>，寫下為什麼要做這個</a:t>
            </a:r>
            <a:r>
              <a:rPr lang="en-US" altLang="zh-TW" sz="2400" b="1" dirty="0"/>
              <a:t>app</a:t>
            </a:r>
            <a:r>
              <a:rPr lang="zh-TW" altLang="en-US" sz="2400" b="1" dirty="0"/>
              <a:t>，以及上課教的怎麼設計這個</a:t>
            </a:r>
            <a:r>
              <a:rPr lang="en-US" altLang="zh-TW" sz="2400" b="1" dirty="0"/>
              <a:t>app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34EC6A44-B975-292E-6C82-40F5FC1F60EB}"/>
              </a:ext>
            </a:extLst>
          </p:cNvPr>
          <p:cNvSpPr txBox="1"/>
          <p:nvPr/>
        </p:nvSpPr>
        <p:spPr>
          <a:xfrm>
            <a:off x="381000" y="5015372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 err="1"/>
              <a:t>評分</a:t>
            </a:r>
            <a:r>
              <a:rPr lang="en-US" sz="2400" b="1" dirty="0"/>
              <a:t>:</a:t>
            </a:r>
            <a:r>
              <a:rPr lang="zh-TW" altLang="en-US" sz="2400" b="1" dirty="0"/>
              <a:t> 創意</a:t>
            </a:r>
            <a:r>
              <a:rPr lang="en-US" altLang="zh-TW" sz="2400" b="1" dirty="0"/>
              <a:t>(10%)</a:t>
            </a:r>
            <a:r>
              <a:rPr lang="zh-TW" altLang="en-US" sz="2400" b="1" dirty="0"/>
              <a:t>，實用度</a:t>
            </a:r>
            <a:r>
              <a:rPr lang="en-US" altLang="zh-TW" sz="2400" b="1" dirty="0"/>
              <a:t>(15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%)</a:t>
            </a:r>
            <a:r>
              <a:rPr lang="zh-TW" altLang="en-US" sz="2400" b="1" dirty="0"/>
              <a:t>，完成度</a:t>
            </a:r>
            <a:r>
              <a:rPr lang="en-US" altLang="zh-TW" sz="2400" b="1" dirty="0"/>
              <a:t>(70%)</a:t>
            </a:r>
            <a:r>
              <a:rPr lang="zh-TW" altLang="en-US" sz="2400" b="1" dirty="0"/>
              <a:t>，完成難度</a:t>
            </a:r>
            <a:r>
              <a:rPr lang="en-US" altLang="zh-TW" sz="2400" b="1" dirty="0"/>
              <a:t>(5%)</a:t>
            </a:r>
            <a:endParaRPr sz="2400" b="1" dirty="0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5326049B-3A46-1263-00C6-1C5B3958C3FB}"/>
              </a:ext>
            </a:extLst>
          </p:cNvPr>
          <p:cNvSpPr txBox="1"/>
          <p:nvPr/>
        </p:nvSpPr>
        <p:spPr>
          <a:xfrm>
            <a:off x="381000" y="3714354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sz="2400" b="1" dirty="0"/>
              <a:t>最後將壓縮檔或已上線網站的網址寄到我的信箱</a:t>
            </a:r>
            <a:r>
              <a:rPr lang="en-US" altLang="zh-TW" sz="2400" b="1" dirty="0"/>
              <a:t> chenyc0901@gmail.com</a:t>
            </a:r>
          </a:p>
        </p:txBody>
      </p:sp>
    </p:spTree>
    <p:extLst>
      <p:ext uri="{BB962C8B-B14F-4D97-AF65-F5344CB8AC3E}">
        <p14:creationId xmlns:p14="http://schemas.microsoft.com/office/powerpoint/2010/main" val="7661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201168" cy="6858000"/>
          </a:xfrm>
          <a:prstGeom prst="rect">
            <a:avLst/>
          </a:prstGeom>
          <a:solidFill>
            <a:srgbClr val="00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3068" y="1188721"/>
            <a:ext cx="112471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>
                <a:solidFill>
                  <a:srgbClr val="FFFFFF"/>
                </a:solidFill>
              </a:rPr>
              <a:t>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3068" y="2514601"/>
            <a:ext cx="112471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Vibe Coding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7668" y="4160520"/>
            <a:ext cx="6309360" cy="64008"/>
          </a:xfrm>
          <a:prstGeom prst="rect">
            <a:avLst/>
          </a:prstGeom>
          <a:solidFill>
            <a:srgbClr val="00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3068" y="4315969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BBCCDD"/>
                </a:solidFill>
              </a:rPr>
              <a:t>用說話的方式寫程式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00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8" y="9144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誰發明的？一句話改變了大家對寫程式的想像</a:t>
            </a:r>
          </a:p>
        </p:txBody>
      </p:sp>
      <p:sp>
        <p:nvSpPr>
          <p:cNvPr id="5" name="Rectangle 4"/>
          <p:cNvSpPr/>
          <p:nvPr/>
        </p:nvSpPr>
        <p:spPr>
          <a:xfrm>
            <a:off x="413068" y="1170432"/>
            <a:ext cx="11338560" cy="1920240"/>
          </a:xfrm>
          <a:prstGeom prst="rect">
            <a:avLst/>
          </a:prstGeom>
          <a:solidFill>
            <a:srgbClr val="F3F6FB"/>
          </a:solidFill>
          <a:ln w="25400">
            <a:solidFill>
              <a:srgbClr val="1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1668" y="1243584"/>
            <a:ext cx="109728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i="1">
                <a:solidFill>
                  <a:srgbClr val="0F1E3C"/>
                </a:solidFill>
              </a:rPr>
              <a:t>"Fully give in to the vibes,
embrace exponentials,
and forget that the code even exists."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6708" y="3145536"/>
            <a:ext cx="4846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4A5A78"/>
                </a:solidFill>
              </a:rPr>
              <a:t>── Andrej Karpathy，2025 年 2 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3068" y="373075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E3C"/>
                </a:solidFill>
              </a:rPr>
              <a:t>Andrej Karpathy 是誰？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413068" y="4187952"/>
            <a:ext cx="5074920" cy="2423160"/>
          </a:xfrm>
          <a:prstGeom prst="rect">
            <a:avLst/>
          </a:prstGeom>
          <a:solidFill>
            <a:srgbClr val="F3F6FB"/>
          </a:solidFill>
          <a:ln w="2286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460" y="4200144"/>
            <a:ext cx="480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0A366"/>
                </a:solidFill>
              </a:rPr>
              <a:t>他的背景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460" y="4657344"/>
            <a:ext cx="4800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• OpenAI 共同創辦人之一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460" y="5205984"/>
            <a:ext cx="4800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4A5A78"/>
                </a:solidFill>
              </a:rPr>
              <a:t>• Tesla </a:t>
            </a:r>
            <a:r>
              <a:rPr sz="1600" dirty="0" err="1">
                <a:solidFill>
                  <a:srgbClr val="4A5A78"/>
                </a:solidFill>
              </a:rPr>
              <a:t>前</a:t>
            </a:r>
            <a:r>
              <a:rPr sz="1600" dirty="0">
                <a:solidFill>
                  <a:srgbClr val="4A5A78"/>
                </a:solidFill>
              </a:rPr>
              <a:t> AI </a:t>
            </a:r>
            <a:r>
              <a:rPr sz="1600" dirty="0" err="1">
                <a:solidFill>
                  <a:srgbClr val="4A5A78"/>
                </a:solidFill>
              </a:rPr>
              <a:t>主管</a:t>
            </a:r>
            <a:endParaRPr sz="1600" dirty="0">
              <a:solidFill>
                <a:srgbClr val="4A5A78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1460" y="5754624"/>
            <a:ext cx="4800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• Stanford AI 博士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460" y="6303264"/>
            <a:ext cx="4800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• AI 圈非常有影響力 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70868" y="4187952"/>
            <a:ext cx="6126480" cy="2423160"/>
          </a:xfrm>
          <a:prstGeom prst="rect">
            <a:avLst/>
          </a:prstGeom>
          <a:solidFill>
            <a:srgbClr val="F3F6FB"/>
          </a:solidFill>
          <a:ln w="1905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53748" y="4279392"/>
            <a:ext cx="5760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0A366"/>
                </a:solidFill>
              </a:rPr>
              <a:t>這句話是什麼意思？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3748" y="4754880"/>
            <a:ext cx="5760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4A5A78"/>
                </a:solidFill>
              </a:rPr>
              <a:t>「順著感覺走，別執著在程式碼本身，
專注在你想要的結果就好。
讓 AI 去煩惱細節吧！」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00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8" y="9144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Vibe Coding 實際上怎麼運作？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21628" y="1170432"/>
            <a:ext cx="2743200" cy="5349240"/>
          </a:xfrm>
          <a:prstGeom prst="rect">
            <a:avLst/>
          </a:prstGeom>
          <a:solidFill>
            <a:srgbClr val="F3F6FB"/>
          </a:solidFill>
          <a:ln w="2540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81748" y="1353312"/>
            <a:ext cx="822960" cy="822960"/>
          </a:xfrm>
          <a:prstGeom prst="rect">
            <a:avLst/>
          </a:prstGeom>
          <a:solidFill>
            <a:srgbClr val="00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1748" y="1353313"/>
            <a:ext cx="8229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356" y="2304289"/>
            <a:ext cx="252374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dirty="0" err="1">
                <a:solidFill>
                  <a:srgbClr val="00A366"/>
                </a:solidFill>
              </a:rPr>
              <a:t>你說你要什麼</a:t>
            </a:r>
            <a:endParaRPr sz="1900" b="1" dirty="0">
              <a:solidFill>
                <a:srgbClr val="00A366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1356" y="2834641"/>
            <a:ext cx="25237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4A5A78"/>
                </a:solidFill>
              </a:rPr>
              <a:t>「幫我做一個可以記帳的網頁，
要能分類支出、看圖表」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4828" y="3474721"/>
            <a:ext cx="2560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D0D8EA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84284" y="1170432"/>
            <a:ext cx="2743200" cy="5349240"/>
          </a:xfrm>
          <a:prstGeom prst="rect">
            <a:avLst/>
          </a:prstGeom>
          <a:solidFill>
            <a:srgbClr val="F3F6FB"/>
          </a:solidFill>
          <a:ln w="25400">
            <a:solidFill>
              <a:srgbClr val="1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44404" y="1353312"/>
            <a:ext cx="822960" cy="822960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44404" y="1353313"/>
            <a:ext cx="8229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4012" y="2304289"/>
            <a:ext cx="252374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77EC1"/>
                </a:solidFill>
              </a:rPr>
              <a:t>AI 生成程式碼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4012" y="2834641"/>
            <a:ext cx="25237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4A5A78"/>
                </a:solidFill>
              </a:rPr>
              <a:t>AI 直接寫出完整程式碼
（HTML + JavaScript + 樣式）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27484" y="3474721"/>
            <a:ext cx="2560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D0D8EA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6940" y="1170432"/>
            <a:ext cx="2743200" cy="5349240"/>
          </a:xfrm>
          <a:prstGeom prst="rect">
            <a:avLst/>
          </a:prstGeom>
          <a:solidFill>
            <a:srgbClr val="F3F6FB"/>
          </a:solidFill>
          <a:ln w="2540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207060" y="1353312"/>
            <a:ext cx="822960" cy="822960"/>
          </a:xfrm>
          <a:prstGeom prst="rect">
            <a:avLst/>
          </a:prstGeom>
          <a:solidFill>
            <a:srgbClr val="E06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07060" y="1353313"/>
            <a:ext cx="8229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6668" y="2304289"/>
            <a:ext cx="252374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E06C10"/>
                </a:solidFill>
              </a:rPr>
              <a:t>你看結果對不對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6668" y="2834641"/>
            <a:ext cx="25237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4A5A78"/>
                </a:solidFill>
              </a:rPr>
              <a:t>打開網頁看看，哪裡不對勁
哪裡跟你想的不一樣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0140" y="3474721"/>
            <a:ext cx="2560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D0D8EA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09596" y="1170432"/>
            <a:ext cx="2743200" cy="5349240"/>
          </a:xfrm>
          <a:prstGeom prst="rect">
            <a:avLst/>
          </a:prstGeom>
          <a:solidFill>
            <a:srgbClr val="F3F6FB"/>
          </a:solidFill>
          <a:ln w="25400">
            <a:solidFill>
              <a:srgbClr val="C02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169716" y="1353312"/>
            <a:ext cx="822960" cy="822960"/>
          </a:xfrm>
          <a:prstGeom prst="rect">
            <a:avLst/>
          </a:prstGeom>
          <a:solidFill>
            <a:srgbClr val="C02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69716" y="1353313"/>
            <a:ext cx="8229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9324" y="2304289"/>
            <a:ext cx="252374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C02A78"/>
                </a:solidFill>
              </a:rPr>
              <a:t>再說一次調整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19324" y="2834641"/>
            <a:ext cx="25237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4A5A78"/>
                </a:solidFill>
              </a:rPr>
              <a:t>「把按鈕改成圓角」
「加一個刪除功能」
反覆直到滿意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068" y="6510528"/>
            <a:ext cx="11338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00A366"/>
                </a:solidFill>
              </a:rPr>
              <a:t>核心觀念：你是「導演」，AI 是「演員」，說清楚你要什麼場景就好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732C2357-58AE-0CD2-0B88-D9826D9882F6}"/>
              </a:ext>
            </a:extLst>
          </p:cNvPr>
          <p:cNvSpPr/>
          <p:nvPr/>
        </p:nvSpPr>
        <p:spPr>
          <a:xfrm>
            <a:off x="840931" y="858269"/>
            <a:ext cx="1102169" cy="384721"/>
          </a:xfrm>
          <a:prstGeom prst="rect">
            <a:avLst/>
          </a:prstGeom>
          <a:solidFill>
            <a:srgbClr val="F3F6FB"/>
          </a:solidFill>
          <a:ln w="2540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1513086E-1732-D062-6DAF-07EA6F8D733D}"/>
              </a:ext>
            </a:extLst>
          </p:cNvPr>
          <p:cNvSpPr txBox="1"/>
          <p:nvPr/>
        </p:nvSpPr>
        <p:spPr>
          <a:xfrm>
            <a:off x="840931" y="858269"/>
            <a:ext cx="1102169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rgbClr val="00A366"/>
                </a:solidFill>
              </a:rPr>
              <a:t>Desktop</a:t>
            </a:r>
            <a:endParaRPr sz="1900" b="1" dirty="0">
              <a:solidFill>
                <a:srgbClr val="00A366"/>
              </a:solidFill>
            </a:endParaRPr>
          </a:p>
        </p:txBody>
      </p:sp>
      <p:pic>
        <p:nvPicPr>
          <p:cNvPr id="5" name="圖片 4" descr="Codex - Windows官方下载| 微软应用商店| Microsoft Store">
            <a:extLst>
              <a:ext uri="{FF2B5EF4-FFF2-40B4-BE49-F238E27FC236}">
                <a16:creationId xmlns:a16="http://schemas.microsoft.com/office/drawing/2014/main" id="{33C897C7-7D53-3E4E-8D61-8E2DC62BF1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91" t="7061" r="7857" b="8654"/>
          <a:stretch>
            <a:fillRect/>
          </a:stretch>
        </p:blipFill>
        <p:spPr>
          <a:xfrm>
            <a:off x="2896875" y="384887"/>
            <a:ext cx="1102169" cy="112395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65187B78-B575-066B-4182-A86786B1223F}"/>
              </a:ext>
            </a:extLst>
          </p:cNvPr>
          <p:cNvSpPr txBox="1"/>
          <p:nvPr/>
        </p:nvSpPr>
        <p:spPr>
          <a:xfrm>
            <a:off x="2911311" y="1331650"/>
            <a:ext cx="1102169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dirty="0"/>
              <a:t>Codex</a:t>
            </a:r>
            <a:endParaRPr sz="1900" b="1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DCF50B11-5CFF-30CD-D3CE-A9C22CBD72F6}"/>
              </a:ext>
            </a:extLst>
          </p:cNvPr>
          <p:cNvSpPr/>
          <p:nvPr/>
        </p:nvSpPr>
        <p:spPr>
          <a:xfrm>
            <a:off x="887441" y="2953972"/>
            <a:ext cx="1102169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9B44E59A-4A8C-7F6C-BFD6-EB13FA758A3C}"/>
              </a:ext>
            </a:extLst>
          </p:cNvPr>
          <p:cNvSpPr txBox="1"/>
          <p:nvPr/>
        </p:nvSpPr>
        <p:spPr>
          <a:xfrm>
            <a:off x="887441" y="2953972"/>
            <a:ext cx="1102169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IDE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2" name="圖片 11" descr="Why Everyone is Talking about Google Antigravity: The Era of Agentic AI  Coding | Towards AI">
            <a:extLst>
              <a:ext uri="{FF2B5EF4-FFF2-40B4-BE49-F238E27FC236}">
                <a16:creationId xmlns:a16="http://schemas.microsoft.com/office/drawing/2014/main" id="{6D9637DA-D90F-B784-6D70-C58567AD0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186" y="384887"/>
            <a:ext cx="1236589" cy="946763"/>
          </a:xfrm>
          <a:prstGeom prst="rect">
            <a:avLst/>
          </a:prstGeom>
        </p:spPr>
      </p:pic>
      <p:sp>
        <p:nvSpPr>
          <p:cNvPr id="13" name="TextBox 7">
            <a:extLst>
              <a:ext uri="{FF2B5EF4-FFF2-40B4-BE49-F238E27FC236}">
                <a16:creationId xmlns:a16="http://schemas.microsoft.com/office/drawing/2014/main" id="{912F8689-CFFB-D09A-FFE1-4794D31B6BAE}"/>
              </a:ext>
            </a:extLst>
          </p:cNvPr>
          <p:cNvSpPr txBox="1"/>
          <p:nvPr/>
        </p:nvSpPr>
        <p:spPr>
          <a:xfrm>
            <a:off x="4318332" y="1153544"/>
            <a:ext cx="184629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dirty="0"/>
              <a:t>Google antigravity 2.0</a:t>
            </a:r>
            <a:endParaRPr sz="1900" b="1" dirty="0"/>
          </a:p>
        </p:txBody>
      </p:sp>
      <p:pic>
        <p:nvPicPr>
          <p:cNvPr id="14" name="圖片 13" descr="使用Lantern 存取Claude AI | 從任何地方開啟Anthropic">
            <a:extLst>
              <a:ext uri="{FF2B5EF4-FFF2-40B4-BE49-F238E27FC236}">
                <a16:creationId xmlns:a16="http://schemas.microsoft.com/office/drawing/2014/main" id="{51FC3B48-BA90-5987-449E-C0B5FF5BD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386" y="385985"/>
            <a:ext cx="1025525" cy="1025525"/>
          </a:xfrm>
          <a:prstGeom prst="rect">
            <a:avLst/>
          </a:prstGeom>
        </p:spPr>
      </p:pic>
      <p:sp>
        <p:nvSpPr>
          <p:cNvPr id="15" name="TextBox 7">
            <a:extLst>
              <a:ext uri="{FF2B5EF4-FFF2-40B4-BE49-F238E27FC236}">
                <a16:creationId xmlns:a16="http://schemas.microsoft.com/office/drawing/2014/main" id="{F7B21C9F-CCE7-8574-0941-60B0B46EB19B}"/>
              </a:ext>
            </a:extLst>
          </p:cNvPr>
          <p:cNvSpPr txBox="1"/>
          <p:nvPr/>
        </p:nvSpPr>
        <p:spPr>
          <a:xfrm>
            <a:off x="6096000" y="1411510"/>
            <a:ext cx="1846295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dirty="0"/>
              <a:t>Claude</a:t>
            </a:r>
            <a:endParaRPr sz="1900" b="1" dirty="0"/>
          </a:p>
        </p:txBody>
      </p:sp>
      <p:pic>
        <p:nvPicPr>
          <p:cNvPr id="16" name="圖片 15" descr="The Pulse: Antigravity 2.0 takes 'IDE' out of its new IDE">
            <a:extLst>
              <a:ext uri="{FF2B5EF4-FFF2-40B4-BE49-F238E27FC236}">
                <a16:creationId xmlns:a16="http://schemas.microsoft.com/office/drawing/2014/main" id="{4BF2BB44-37CC-04C2-697B-3F615D29A17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801" t="4676" r="52666" b="34135"/>
          <a:stretch>
            <a:fillRect/>
          </a:stretch>
        </p:blipFill>
        <p:spPr>
          <a:xfrm>
            <a:off x="2943385" y="2785865"/>
            <a:ext cx="903601" cy="837174"/>
          </a:xfrm>
          <a:prstGeom prst="rect">
            <a:avLst/>
          </a:prstGeom>
        </p:spPr>
      </p:pic>
      <p:sp>
        <p:nvSpPr>
          <p:cNvPr id="17" name="TextBox 7">
            <a:extLst>
              <a:ext uri="{FF2B5EF4-FFF2-40B4-BE49-F238E27FC236}">
                <a16:creationId xmlns:a16="http://schemas.microsoft.com/office/drawing/2014/main" id="{9E8AFCB5-51CA-3AED-5061-26F812A80D2E}"/>
              </a:ext>
            </a:extLst>
          </p:cNvPr>
          <p:cNvSpPr txBox="1"/>
          <p:nvPr/>
        </p:nvSpPr>
        <p:spPr>
          <a:xfrm>
            <a:off x="2472037" y="3775998"/>
            <a:ext cx="184629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dirty="0"/>
              <a:t>Google  antigravity IDE</a:t>
            </a:r>
            <a:endParaRPr sz="1900" b="1" dirty="0"/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EC67B204-D128-E4E2-F573-ECB522A2ADC6}"/>
              </a:ext>
            </a:extLst>
          </p:cNvPr>
          <p:cNvSpPr/>
          <p:nvPr/>
        </p:nvSpPr>
        <p:spPr>
          <a:xfrm>
            <a:off x="840931" y="5713139"/>
            <a:ext cx="1102169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37894210-952E-A7D1-4CF5-D3D99415E216}"/>
              </a:ext>
            </a:extLst>
          </p:cNvPr>
          <p:cNvSpPr txBox="1"/>
          <p:nvPr/>
        </p:nvSpPr>
        <p:spPr>
          <a:xfrm>
            <a:off x="840931" y="5713139"/>
            <a:ext cx="1102169" cy="384721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2">
                    <a:lumMod val="75000"/>
                  </a:schemeClr>
                </a:solidFill>
              </a:rPr>
              <a:t>CLI</a:t>
            </a:r>
            <a:endParaRPr sz="19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1" name="圖片 20" descr="Antigravity 2.0 登場Google 將Gemini CLI 轉型至Antigravity CLI - 流動日報">
            <a:extLst>
              <a:ext uri="{FF2B5EF4-FFF2-40B4-BE49-F238E27FC236}">
                <a16:creationId xmlns:a16="http://schemas.microsoft.com/office/drawing/2014/main" id="{3CB2CB28-4BF5-0D7A-6A7F-C656B8DCD55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9895" t="32787" b="32789"/>
          <a:stretch>
            <a:fillRect/>
          </a:stretch>
        </p:blipFill>
        <p:spPr>
          <a:xfrm>
            <a:off x="2425527" y="5294038"/>
            <a:ext cx="2197659" cy="935687"/>
          </a:xfrm>
          <a:prstGeom prst="rect">
            <a:avLst/>
          </a:prstGeom>
        </p:spPr>
      </p:pic>
      <p:sp>
        <p:nvSpPr>
          <p:cNvPr id="22" name="TextBox 7">
            <a:extLst>
              <a:ext uri="{FF2B5EF4-FFF2-40B4-BE49-F238E27FC236}">
                <a16:creationId xmlns:a16="http://schemas.microsoft.com/office/drawing/2014/main" id="{7A116A08-9294-3AE0-FB09-281545A4D6A3}"/>
              </a:ext>
            </a:extLst>
          </p:cNvPr>
          <p:cNvSpPr txBox="1"/>
          <p:nvPr/>
        </p:nvSpPr>
        <p:spPr>
          <a:xfrm>
            <a:off x="2543861" y="6215401"/>
            <a:ext cx="1846295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dirty="0"/>
              <a:t>Antigravity CLI</a:t>
            </a:r>
            <a:endParaRPr sz="1900" b="1" dirty="0"/>
          </a:p>
        </p:txBody>
      </p:sp>
      <p:pic>
        <p:nvPicPr>
          <p:cNvPr id="23" name="圖片 22" descr="Claude Code 101">
            <a:extLst>
              <a:ext uri="{FF2B5EF4-FFF2-40B4-BE49-F238E27FC236}">
                <a16:creationId xmlns:a16="http://schemas.microsoft.com/office/drawing/2014/main" id="{B6776716-5D7A-3F84-F7F4-CB26DD27D50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9879" t="25631" r="23244" b="36367"/>
          <a:stretch>
            <a:fillRect/>
          </a:stretch>
        </p:blipFill>
        <p:spPr>
          <a:xfrm>
            <a:off x="5527352" y="5141953"/>
            <a:ext cx="1420780" cy="1125006"/>
          </a:xfrm>
          <a:prstGeom prst="rect">
            <a:avLst/>
          </a:prstGeom>
        </p:spPr>
      </p:pic>
      <p:sp>
        <p:nvSpPr>
          <p:cNvPr id="24" name="TextBox 7">
            <a:extLst>
              <a:ext uri="{FF2B5EF4-FFF2-40B4-BE49-F238E27FC236}">
                <a16:creationId xmlns:a16="http://schemas.microsoft.com/office/drawing/2014/main" id="{9AA7F6BF-1C35-56A1-318E-5F8F7F1CC678}"/>
              </a:ext>
            </a:extLst>
          </p:cNvPr>
          <p:cNvSpPr txBox="1"/>
          <p:nvPr/>
        </p:nvSpPr>
        <p:spPr>
          <a:xfrm>
            <a:off x="5298629" y="6266959"/>
            <a:ext cx="1846295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dirty="0"/>
              <a:t>Claude code</a:t>
            </a:r>
            <a:endParaRPr sz="1900" b="1" dirty="0"/>
          </a:p>
        </p:txBody>
      </p:sp>
      <p:pic>
        <p:nvPicPr>
          <p:cNvPr id="25" name="圖片 24" descr="如何在Windows安裝OpenClaw 龍蝦AI代理人（Gemini + Telegram + WSL） · Ivon的部落格">
            <a:extLst>
              <a:ext uri="{FF2B5EF4-FFF2-40B4-BE49-F238E27FC236}">
                <a16:creationId xmlns:a16="http://schemas.microsoft.com/office/drawing/2014/main" id="{51633551-9505-5F96-A06B-DC07F4F3D1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9430" y="2480755"/>
            <a:ext cx="3412709" cy="698755"/>
          </a:xfrm>
          <a:prstGeom prst="rect">
            <a:avLst/>
          </a:prstGeom>
        </p:spPr>
      </p:pic>
      <p:sp>
        <p:nvSpPr>
          <p:cNvPr id="26" name="Rectangle 4">
            <a:extLst>
              <a:ext uri="{FF2B5EF4-FFF2-40B4-BE49-F238E27FC236}">
                <a16:creationId xmlns:a16="http://schemas.microsoft.com/office/drawing/2014/main" id="{B302FEA4-A285-3787-A8D8-12FCE06E7BE5}"/>
              </a:ext>
            </a:extLst>
          </p:cNvPr>
          <p:cNvSpPr/>
          <p:nvPr/>
        </p:nvSpPr>
        <p:spPr>
          <a:xfrm>
            <a:off x="5955301" y="3069792"/>
            <a:ext cx="1102169" cy="384721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12A1351C-320D-9AAB-93DC-58561DE13C80}"/>
              </a:ext>
            </a:extLst>
          </p:cNvPr>
          <p:cNvSpPr txBox="1"/>
          <p:nvPr/>
        </p:nvSpPr>
        <p:spPr>
          <a:xfrm>
            <a:off x="5955301" y="3069792"/>
            <a:ext cx="1102169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5">
                    <a:lumMod val="75000"/>
                  </a:schemeClr>
                </a:solidFill>
              </a:rPr>
              <a:t>Remote</a:t>
            </a:r>
            <a:endParaRPr sz="19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28" name="圖片 27" descr="使用Lantern 存取Claude AI | 從任何地方開啟Anthropic">
            <a:extLst>
              <a:ext uri="{FF2B5EF4-FFF2-40B4-BE49-F238E27FC236}">
                <a16:creationId xmlns:a16="http://schemas.microsoft.com/office/drawing/2014/main" id="{7EEFA5E0-00CE-1183-42F3-9501D3257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7642" y="3288006"/>
            <a:ext cx="689305" cy="689305"/>
          </a:xfrm>
          <a:prstGeom prst="rect">
            <a:avLst/>
          </a:prstGeom>
        </p:spPr>
      </p:pic>
      <p:pic>
        <p:nvPicPr>
          <p:cNvPr id="29" name="圖片 28" descr="Codex - Windows官方下载| 微软应用商店| Microsoft Store">
            <a:extLst>
              <a:ext uri="{FF2B5EF4-FFF2-40B4-BE49-F238E27FC236}">
                <a16:creationId xmlns:a16="http://schemas.microsoft.com/office/drawing/2014/main" id="{586A6829-4ACF-F3B1-CBE6-CAB280A796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91" t="7061" r="7857" b="8654"/>
          <a:stretch>
            <a:fillRect/>
          </a:stretch>
        </p:blipFill>
        <p:spPr>
          <a:xfrm>
            <a:off x="8554725" y="3179510"/>
            <a:ext cx="827400" cy="843751"/>
          </a:xfrm>
          <a:prstGeom prst="rect">
            <a:avLst/>
          </a:prstGeom>
        </p:spPr>
      </p:pic>
      <p:pic>
        <p:nvPicPr>
          <p:cNvPr id="31" name="圖片 30" descr="Codex - Windows官方下载| 微软应用商店| Microsoft Store">
            <a:extLst>
              <a:ext uri="{FF2B5EF4-FFF2-40B4-BE49-F238E27FC236}">
                <a16:creationId xmlns:a16="http://schemas.microsoft.com/office/drawing/2014/main" id="{F0F84949-BBC6-DF34-6621-EC1E64FA71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91" t="7061" r="7857" b="8654"/>
          <a:stretch>
            <a:fillRect/>
          </a:stretch>
        </p:blipFill>
        <p:spPr>
          <a:xfrm>
            <a:off x="7852298" y="5151164"/>
            <a:ext cx="1102169" cy="1123950"/>
          </a:xfrm>
          <a:prstGeom prst="rect">
            <a:avLst/>
          </a:prstGeom>
        </p:spPr>
      </p:pic>
      <p:sp>
        <p:nvSpPr>
          <p:cNvPr id="32" name="TextBox 7">
            <a:extLst>
              <a:ext uri="{FF2B5EF4-FFF2-40B4-BE49-F238E27FC236}">
                <a16:creationId xmlns:a16="http://schemas.microsoft.com/office/drawing/2014/main" id="{AB010AFD-CE76-2BF1-E5F9-6278DD758F02}"/>
              </a:ext>
            </a:extLst>
          </p:cNvPr>
          <p:cNvSpPr txBox="1"/>
          <p:nvPr/>
        </p:nvSpPr>
        <p:spPr>
          <a:xfrm>
            <a:off x="7459430" y="6128295"/>
            <a:ext cx="1991899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dirty="0"/>
              <a:t>Codex CLI</a:t>
            </a:r>
            <a:endParaRPr sz="1900" b="1" dirty="0"/>
          </a:p>
        </p:txBody>
      </p:sp>
    </p:spTree>
    <p:extLst>
      <p:ext uri="{BB962C8B-B14F-4D97-AF65-F5344CB8AC3E}">
        <p14:creationId xmlns:p14="http://schemas.microsoft.com/office/powerpoint/2010/main" val="1193104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The Pulse: Antigravity 2.0 takes 'IDE' out of its new IDE">
            <a:extLst>
              <a:ext uri="{FF2B5EF4-FFF2-40B4-BE49-F238E27FC236}">
                <a16:creationId xmlns:a16="http://schemas.microsoft.com/office/drawing/2014/main" id="{75208B94-A281-0FD5-FEF6-E016D1E8DA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01" t="4676" r="52666" b="34135"/>
          <a:stretch>
            <a:fillRect/>
          </a:stretch>
        </p:blipFill>
        <p:spPr>
          <a:xfrm>
            <a:off x="87063" y="118080"/>
            <a:ext cx="903601" cy="837174"/>
          </a:xfrm>
          <a:prstGeom prst="rect">
            <a:avLst/>
          </a:prstGeom>
        </p:spPr>
      </p:pic>
      <p:sp>
        <p:nvSpPr>
          <p:cNvPr id="3" name="TextBox 7">
            <a:extLst>
              <a:ext uri="{FF2B5EF4-FFF2-40B4-BE49-F238E27FC236}">
                <a16:creationId xmlns:a16="http://schemas.microsoft.com/office/drawing/2014/main" id="{73AB6367-4CA5-173E-8F62-676EC17B44DE}"/>
              </a:ext>
            </a:extLst>
          </p:cNvPr>
          <p:cNvSpPr txBox="1"/>
          <p:nvPr/>
        </p:nvSpPr>
        <p:spPr>
          <a:xfrm>
            <a:off x="660727" y="344306"/>
            <a:ext cx="325139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dirty="0"/>
              <a:t>Google  antigravity IDE</a:t>
            </a:r>
            <a:endParaRPr sz="1900" b="1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A336A1A-3F40-3821-FA10-5627EA1E3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545" y="1011609"/>
            <a:ext cx="9836131" cy="550208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F0A784A-E8C4-91FB-593B-8CA99ABA0FD7}"/>
              </a:ext>
            </a:extLst>
          </p:cNvPr>
          <p:cNvSpPr/>
          <p:nvPr/>
        </p:nvSpPr>
        <p:spPr>
          <a:xfrm>
            <a:off x="1225484" y="989586"/>
            <a:ext cx="2318993" cy="55146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BA2051C-B922-CEB8-1EE9-25A109D79EA2}"/>
              </a:ext>
            </a:extLst>
          </p:cNvPr>
          <p:cNvSpPr txBox="1"/>
          <p:nvPr/>
        </p:nvSpPr>
        <p:spPr>
          <a:xfrm>
            <a:off x="1809945" y="3562260"/>
            <a:ext cx="115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</a:rPr>
              <a:t>檔案區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B8D6FB-F6BF-7B57-8CD7-226C5253031F}"/>
              </a:ext>
            </a:extLst>
          </p:cNvPr>
          <p:cNvSpPr/>
          <p:nvPr/>
        </p:nvSpPr>
        <p:spPr>
          <a:xfrm>
            <a:off x="3544477" y="989586"/>
            <a:ext cx="6099143" cy="55146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DE56282-2BD4-F7A4-BEF3-0D83F272A2D2}"/>
              </a:ext>
            </a:extLst>
          </p:cNvPr>
          <p:cNvSpPr txBox="1"/>
          <p:nvPr/>
        </p:nvSpPr>
        <p:spPr>
          <a:xfrm>
            <a:off x="6194610" y="4195427"/>
            <a:ext cx="115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</a:rPr>
              <a:t>程式區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6D20275-3A27-7ECA-400E-3A27B276CD9F}"/>
              </a:ext>
            </a:extLst>
          </p:cNvPr>
          <p:cNvSpPr/>
          <p:nvPr/>
        </p:nvSpPr>
        <p:spPr>
          <a:xfrm>
            <a:off x="9643620" y="1011609"/>
            <a:ext cx="1469056" cy="55146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6F34B6C-5A19-A541-2F19-2CB255BC4E53}"/>
              </a:ext>
            </a:extLst>
          </p:cNvPr>
          <p:cNvSpPr txBox="1"/>
          <p:nvPr/>
        </p:nvSpPr>
        <p:spPr>
          <a:xfrm>
            <a:off x="9891489" y="5303049"/>
            <a:ext cx="1150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AI </a:t>
            </a:r>
            <a:r>
              <a:rPr kumimoji="1" lang="zh-TW" altLang="en-US" dirty="0">
                <a:solidFill>
                  <a:srgbClr val="FF0000"/>
                </a:solidFill>
              </a:rPr>
              <a:t>區</a:t>
            </a:r>
          </a:p>
        </p:txBody>
      </p:sp>
    </p:spTree>
    <p:extLst>
      <p:ext uri="{BB962C8B-B14F-4D97-AF65-F5344CB8AC3E}">
        <p14:creationId xmlns:p14="http://schemas.microsoft.com/office/powerpoint/2010/main" val="277768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602E1F-E4A8-17DC-6FAE-3B3D116E2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916" y="152474"/>
            <a:ext cx="10515600" cy="1325563"/>
          </a:xfrm>
        </p:spPr>
        <p:txBody>
          <a:bodyPr/>
          <a:lstStyle/>
          <a:p>
            <a:r>
              <a:rPr kumimoji="1" lang="en-US" altLang="zh-TW" dirty="0"/>
              <a:t>Rules</a:t>
            </a:r>
            <a:endParaRPr kumimoji="1"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9571CD9-7AA1-AE6A-7C40-AB6620CE888A}"/>
              </a:ext>
            </a:extLst>
          </p:cNvPr>
          <p:cNvSpPr txBox="1"/>
          <p:nvPr/>
        </p:nvSpPr>
        <p:spPr>
          <a:xfrm>
            <a:off x="742506" y="1318549"/>
            <a:ext cx="11229753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是你手動定議的約條件，用來引導</a:t>
            </a:r>
            <a:r>
              <a:rPr kumimoji="1" lang="en-US" altLang="zh-TW" dirty="0"/>
              <a:t>Agent</a:t>
            </a:r>
            <a:r>
              <a:rPr kumimoji="1" lang="zh-TW" altLang="en-US" dirty="0"/>
              <a:t>遵循特定的行為模式，無論是全</a:t>
            </a:r>
            <a:r>
              <a:rPr kumimoji="1" lang="en-US" altLang="zh-TW" dirty="0"/>
              <a:t> </a:t>
            </a:r>
            <a:r>
              <a:rPr kumimoji="1" lang="zh-TW" altLang="en-US" dirty="0"/>
              <a:t>域套用到所有專案，還是針對特定工作區設定，</a:t>
            </a:r>
            <a:r>
              <a:rPr kumimoji="1" lang="en-US" altLang="zh-TW" dirty="0"/>
              <a:t>Rules</a:t>
            </a:r>
            <a:r>
              <a:rPr kumimoji="1" lang="zh-TW" altLang="en-US" dirty="0"/>
              <a:t>都能幫助你打造符合需求的</a:t>
            </a:r>
            <a:r>
              <a:rPr kumimoji="1" lang="en-US" altLang="zh-TW" dirty="0"/>
              <a:t>AI</a:t>
            </a:r>
            <a:r>
              <a:rPr kumimoji="1" lang="zh-TW" altLang="en-US" dirty="0"/>
              <a:t>助手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663B63B-0C81-55CF-D589-EBDB04296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506" y="2517344"/>
            <a:ext cx="3950730" cy="2375777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2532AD3-975F-0934-3D60-C36643A04138}"/>
              </a:ext>
            </a:extLst>
          </p:cNvPr>
          <p:cNvSpPr/>
          <p:nvPr/>
        </p:nvSpPr>
        <p:spPr>
          <a:xfrm>
            <a:off x="3210426" y="2517344"/>
            <a:ext cx="1482810" cy="9116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3" name="圖形 12" descr="手背向前食指朝右指 外框">
            <a:extLst>
              <a:ext uri="{FF2B5EF4-FFF2-40B4-BE49-F238E27FC236}">
                <a16:creationId xmlns:a16="http://schemas.microsoft.com/office/drawing/2014/main" id="{709FA03D-8D9D-03E3-B7D3-524CDECFAF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8739" y="2484623"/>
            <a:ext cx="646331" cy="646331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51270708-EB84-B5D6-2BDC-CEFF7483B90C}"/>
              </a:ext>
            </a:extLst>
          </p:cNvPr>
          <p:cNvSpPr txBox="1"/>
          <p:nvPr/>
        </p:nvSpPr>
        <p:spPr>
          <a:xfrm>
            <a:off x="2592588" y="2661297"/>
            <a:ext cx="1235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1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6C1FE33-83D7-1CF6-4F0F-C7322C2922F4}"/>
              </a:ext>
            </a:extLst>
          </p:cNvPr>
          <p:cNvSpPr/>
          <p:nvPr/>
        </p:nvSpPr>
        <p:spPr>
          <a:xfrm>
            <a:off x="742506" y="3717494"/>
            <a:ext cx="886269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6" name="圖形 15" descr="手背向前食指朝右指 外框">
            <a:extLst>
              <a:ext uri="{FF2B5EF4-FFF2-40B4-BE49-F238E27FC236}">
                <a16:creationId xmlns:a16="http://schemas.microsoft.com/office/drawing/2014/main" id="{228E1670-EAB8-FA94-70B9-DC3581832E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19" y="3684773"/>
            <a:ext cx="646331" cy="646331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8B534A33-3B93-13E9-FC5F-A5BAC2F2AC3C}"/>
              </a:ext>
            </a:extLst>
          </p:cNvPr>
          <p:cNvSpPr txBox="1"/>
          <p:nvPr/>
        </p:nvSpPr>
        <p:spPr>
          <a:xfrm>
            <a:off x="124668" y="3861447"/>
            <a:ext cx="1235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2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50DC197-0A06-0F84-FEFF-DF82118B3BB3}"/>
              </a:ext>
            </a:extLst>
          </p:cNvPr>
          <p:cNvSpPr txBox="1"/>
          <p:nvPr/>
        </p:nvSpPr>
        <p:spPr>
          <a:xfrm>
            <a:off x="5029200" y="3255829"/>
            <a:ext cx="619169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+Global </a:t>
            </a:r>
            <a:r>
              <a:rPr kumimoji="1" lang="zh-TW" altLang="en-US" dirty="0"/>
              <a:t>建立全域規則 </a:t>
            </a:r>
            <a:r>
              <a:rPr kumimoji="1" lang="en-US" altLang="zh-TW" dirty="0"/>
              <a:t>(</a:t>
            </a:r>
            <a:r>
              <a:rPr kumimoji="1" lang="zh-TW" altLang="en-US" dirty="0"/>
              <a:t>套用到所有工作區</a:t>
            </a:r>
            <a:r>
              <a:rPr kumimoji="1" lang="en-US" altLang="zh-TW" dirty="0"/>
              <a:t>)</a:t>
            </a:r>
          </a:p>
          <a:p>
            <a:r>
              <a:rPr kumimoji="1" lang="en-US" altLang="zh-TW" dirty="0"/>
              <a:t>+Workspace</a:t>
            </a:r>
            <a:r>
              <a:rPr kumimoji="1" lang="zh-TW" altLang="en-US" dirty="0"/>
              <a:t> 建立工作區規則 </a:t>
            </a:r>
            <a:r>
              <a:rPr kumimoji="1" lang="en-US" altLang="zh-TW" dirty="0"/>
              <a:t>(</a:t>
            </a:r>
            <a:r>
              <a:rPr kumimoji="1" lang="zh-TW" altLang="en-US" dirty="0"/>
              <a:t>只套用到目前的專案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6701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CE3A2-27D7-7809-46AF-C16070850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15038E-A70D-9F1D-67A7-89BA28338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916" y="152474"/>
            <a:ext cx="10515600" cy="1325563"/>
          </a:xfrm>
        </p:spPr>
        <p:txBody>
          <a:bodyPr/>
          <a:lstStyle/>
          <a:p>
            <a:r>
              <a:rPr kumimoji="1" lang="en-US" altLang="zh-TW" dirty="0"/>
              <a:t>Rules</a:t>
            </a:r>
            <a:endParaRPr kumimoji="1"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95A89B2-7680-0512-48E0-E09ADDE29822}"/>
              </a:ext>
            </a:extLst>
          </p:cNvPr>
          <p:cNvSpPr txBox="1"/>
          <p:nvPr/>
        </p:nvSpPr>
        <p:spPr>
          <a:xfrm>
            <a:off x="742506" y="1318549"/>
            <a:ext cx="11229753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是你手動定議的約條件，用來引導</a:t>
            </a:r>
            <a:r>
              <a:rPr kumimoji="1" lang="en-US" altLang="zh-TW" dirty="0"/>
              <a:t>Agent</a:t>
            </a:r>
            <a:r>
              <a:rPr kumimoji="1" lang="zh-TW" altLang="en-US" dirty="0"/>
              <a:t>遵循特定的行為模式，無論是全</a:t>
            </a:r>
            <a:r>
              <a:rPr kumimoji="1" lang="en-US" altLang="zh-TW" dirty="0"/>
              <a:t> </a:t>
            </a:r>
            <a:r>
              <a:rPr kumimoji="1" lang="zh-TW" altLang="en-US" dirty="0"/>
              <a:t>域套用到所有專案，還是針對特定工作區設定，</a:t>
            </a:r>
            <a:r>
              <a:rPr kumimoji="1" lang="en-US" altLang="zh-TW" dirty="0"/>
              <a:t>Rules</a:t>
            </a:r>
            <a:r>
              <a:rPr kumimoji="1" lang="zh-TW" altLang="en-US" dirty="0"/>
              <a:t>都能幫助你打造符合需求的</a:t>
            </a:r>
            <a:r>
              <a:rPr kumimoji="1" lang="en-US" altLang="zh-TW" dirty="0"/>
              <a:t>AI</a:t>
            </a:r>
            <a:r>
              <a:rPr kumimoji="1" lang="zh-TW" altLang="en-US" dirty="0"/>
              <a:t>助手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8009C21-D1B3-9AA0-DC04-50A3D1B13C40}"/>
              </a:ext>
            </a:extLst>
          </p:cNvPr>
          <p:cNvSpPr txBox="1"/>
          <p:nvPr/>
        </p:nvSpPr>
        <p:spPr>
          <a:xfrm>
            <a:off x="266700" y="3351079"/>
            <a:ext cx="58293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+Global </a:t>
            </a:r>
            <a:r>
              <a:rPr kumimoji="1" lang="zh-TW" altLang="en-US" dirty="0"/>
              <a:t>建立全域規則 </a:t>
            </a:r>
            <a:r>
              <a:rPr kumimoji="1" lang="en-US" altLang="zh-TW" dirty="0"/>
              <a:t>(</a:t>
            </a:r>
            <a:r>
              <a:rPr kumimoji="1" lang="zh-TW" altLang="en-US" dirty="0"/>
              <a:t>套用到所有工作區</a:t>
            </a:r>
            <a:r>
              <a:rPr kumimoji="1" lang="en-US" altLang="zh-TW" dirty="0"/>
              <a:t>)</a:t>
            </a:r>
          </a:p>
          <a:p>
            <a:r>
              <a:rPr kumimoji="1" lang="en-US" altLang="zh-TW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+Workspace</a:t>
            </a:r>
            <a:r>
              <a:rPr kumimoji="1" lang="zh-TW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建立工作區規則 </a:t>
            </a:r>
            <a:r>
              <a:rPr kumimoji="1" lang="en-US" altLang="zh-TW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</a:t>
            </a:r>
            <a:r>
              <a:rPr kumimoji="1" lang="zh-TW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只套用到目前的專案</a:t>
            </a:r>
            <a:r>
              <a:rPr kumimoji="1" lang="en-US" altLang="zh-TW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</a:t>
            </a:r>
            <a:endParaRPr kumimoji="1" lang="zh-TW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F26633E-EF34-2D9C-AAFE-E25D7CD6BBA8}"/>
              </a:ext>
            </a:extLst>
          </p:cNvPr>
          <p:cNvSpPr txBox="1"/>
          <p:nvPr/>
        </p:nvSpPr>
        <p:spPr>
          <a:xfrm>
            <a:off x="6577013" y="2999014"/>
            <a:ext cx="519112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儲存在電腦端，會套用到所有工作區。適合定義你個人的編程好和通用規範</a:t>
            </a:r>
          </a:p>
        </p:txBody>
      </p:sp>
      <p:sp>
        <p:nvSpPr>
          <p:cNvPr id="5" name="迴轉箭號 4">
            <a:extLst>
              <a:ext uri="{FF2B5EF4-FFF2-40B4-BE49-F238E27FC236}">
                <a16:creationId xmlns:a16="http://schemas.microsoft.com/office/drawing/2014/main" id="{198B373C-CB0F-08A3-81EA-C1599FF9314A}"/>
              </a:ext>
            </a:extLst>
          </p:cNvPr>
          <p:cNvSpPr/>
          <p:nvPr/>
        </p:nvSpPr>
        <p:spPr>
          <a:xfrm>
            <a:off x="3019425" y="2486025"/>
            <a:ext cx="5191125" cy="638175"/>
          </a:xfrm>
          <a:prstGeom prst="utur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57EB95A-EF12-149E-AF57-25E999FC2F97}"/>
              </a:ext>
            </a:extLst>
          </p:cNvPr>
          <p:cNvSpPr txBox="1"/>
          <p:nvPr/>
        </p:nvSpPr>
        <p:spPr>
          <a:xfrm>
            <a:off x="6577013" y="3718679"/>
            <a:ext cx="5191124" cy="313932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#</a:t>
            </a:r>
            <a:r>
              <a:rPr kumimoji="1" lang="zh-TW" altLang="en-US" dirty="0"/>
              <a:t> 個人偏好</a:t>
            </a:r>
            <a:endParaRPr kumimoji="1" lang="en-US" altLang="zh-TW" dirty="0"/>
          </a:p>
          <a:p>
            <a:pPr marL="285750" indent="-285750">
              <a:buFontTx/>
              <a:buChar char="-"/>
            </a:pPr>
            <a:r>
              <a:rPr kumimoji="1" lang="zh-TW" altLang="en-US" dirty="0"/>
              <a:t>預設語言</a:t>
            </a:r>
            <a:r>
              <a:rPr kumimoji="1" lang="en-US" altLang="zh-TW" dirty="0"/>
              <a:t>:</a:t>
            </a:r>
            <a:r>
              <a:rPr kumimoji="1" lang="zh-TW" altLang="en-US" dirty="0"/>
              <a:t> 臺灣繁體中文</a:t>
            </a:r>
            <a:r>
              <a:rPr kumimoji="1" lang="en-US" altLang="zh-TW" dirty="0"/>
              <a:t>(</a:t>
            </a:r>
            <a:r>
              <a:rPr kumimoji="1" lang="zh-TW" altLang="en-US" dirty="0"/>
              <a:t>請以繁體中文回應自然語言與文件內容</a:t>
            </a:r>
            <a:r>
              <a:rPr kumimoji="1" lang="en-US" altLang="zh-TW" dirty="0"/>
              <a:t>)</a:t>
            </a:r>
            <a:r>
              <a:rPr kumimoji="1" lang="zh-TW" altLang="en-US" dirty="0"/>
              <a:t>，包括你自已的思考流程，都使用繁體中文和我交談</a:t>
            </a:r>
            <a:endParaRPr kumimoji="1" lang="en-US" altLang="zh-TW" dirty="0"/>
          </a:p>
          <a:p>
            <a:pPr marL="285750" indent="-285750">
              <a:buFontTx/>
              <a:buChar char="-"/>
            </a:pPr>
            <a:r>
              <a:rPr kumimoji="1" lang="zh-TW" altLang="en-US" dirty="0"/>
              <a:t>如果使用</a:t>
            </a:r>
            <a:r>
              <a:rPr kumimoji="1" lang="en-US" altLang="zh-TW" dirty="0"/>
              <a:t>python </a:t>
            </a:r>
            <a:r>
              <a:rPr kumimoji="1" lang="zh-TW" altLang="en-US" dirty="0"/>
              <a:t>開發程式，一定要用</a:t>
            </a:r>
            <a:r>
              <a:rPr kumimoji="1" lang="en-US" altLang="zh-TW" dirty="0" err="1"/>
              <a:t>uv</a:t>
            </a:r>
            <a:r>
              <a:rPr kumimoji="1" lang="en-US" altLang="zh-TW" dirty="0"/>
              <a:t> </a:t>
            </a:r>
            <a:r>
              <a:rPr kumimoji="1" lang="zh-TW" altLang="en-US" dirty="0"/>
              <a:t>建立環境，千萬不要用到</a:t>
            </a:r>
            <a:r>
              <a:rPr kumimoji="1" lang="en-US" altLang="zh-TW" dirty="0"/>
              <a:t>base</a:t>
            </a:r>
            <a:r>
              <a:rPr kumimoji="1" lang="zh-TW" altLang="en-US" dirty="0"/>
              <a:t>及單獨使用</a:t>
            </a:r>
            <a:r>
              <a:rPr kumimoji="1" lang="en-US" altLang="zh-TW" dirty="0"/>
              <a:t>pip</a:t>
            </a:r>
          </a:p>
          <a:p>
            <a:pPr marL="285750" indent="-285750">
              <a:buFontTx/>
              <a:buChar char="-"/>
            </a:pPr>
            <a:r>
              <a:rPr kumimoji="1" lang="en-US" altLang="zh-TW" dirty="0"/>
              <a:t>Agent </a:t>
            </a:r>
            <a:r>
              <a:rPr kumimoji="1" lang="zh-TW" altLang="en-US" dirty="0"/>
              <a:t>所產生的</a:t>
            </a:r>
            <a:r>
              <a:rPr kumimoji="1" lang="en-US" altLang="zh-TW" dirty="0"/>
              <a:t>implementation plan*, </a:t>
            </a:r>
            <a:r>
              <a:rPr kumimoji="1" lang="en-US" altLang="zh-TW" dirty="0" err="1"/>
              <a:t>task.md</a:t>
            </a:r>
            <a:r>
              <a:rPr kumimoji="1" lang="en-US" altLang="zh-TW" dirty="0"/>
              <a:t>*, </a:t>
            </a:r>
            <a:r>
              <a:rPr kumimoji="1" lang="en-US" altLang="zh-TW" dirty="0" err="1"/>
              <a:t>walkthrough.md</a:t>
            </a:r>
            <a:r>
              <a:rPr kumimoji="1" lang="en-US" altLang="zh-TW" dirty="0"/>
              <a:t>*</a:t>
            </a:r>
            <a:r>
              <a:rPr kumimoji="1" lang="zh-TW" altLang="en-US" dirty="0"/>
              <a:t>，全用繁體中文台灣用語</a:t>
            </a:r>
            <a:endParaRPr kumimoji="1" lang="en-US" altLang="zh-TW" dirty="0"/>
          </a:p>
          <a:p>
            <a:pPr marL="285750" indent="-285750">
              <a:buFontTx/>
              <a:buChar char="-"/>
            </a:pPr>
            <a:r>
              <a:rPr kumimoji="1" lang="zh-TW" altLang="en-US" dirty="0"/>
              <a:t>如果是</a:t>
            </a:r>
            <a:r>
              <a:rPr kumimoji="1" lang="en-US" altLang="zh-TW" dirty="0" err="1"/>
              <a:t>javascript</a:t>
            </a:r>
            <a:r>
              <a:rPr kumimoji="1" lang="zh-TW" altLang="en-US" dirty="0"/>
              <a:t>或是</a:t>
            </a:r>
            <a:r>
              <a:rPr kumimoji="1" lang="en-US" altLang="zh-TW" dirty="0"/>
              <a:t>typescript</a:t>
            </a:r>
            <a:r>
              <a:rPr kumimoji="1" lang="zh-TW" altLang="en-US" dirty="0"/>
              <a:t>，一律使用</a:t>
            </a:r>
            <a:r>
              <a:rPr kumimoji="1" lang="en-US" altLang="zh-TW" dirty="0" err="1"/>
              <a:t>npm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npx</a:t>
            </a:r>
            <a:r>
              <a:rPr kumimoji="1" lang="zh-TW" altLang="en-US" dirty="0"/>
              <a:t>，不要亂裝動到我的</a:t>
            </a:r>
            <a:r>
              <a:rPr kumimoji="1" lang="en-US" altLang="zh-TW" dirty="0"/>
              <a:t>base</a:t>
            </a:r>
            <a:r>
              <a:rPr kumimoji="1" lang="zh-TW" altLang="en-US" dirty="0"/>
              <a:t>環境</a:t>
            </a:r>
            <a:endParaRPr kumimoji="1" lang="en-US" altLang="zh-TW" dirty="0"/>
          </a:p>
          <a:p>
            <a:r>
              <a:rPr kumimoji="1" lang="en-US" altLang="zh-TW" dirty="0"/>
              <a:t>-</a:t>
            </a:r>
            <a:r>
              <a:rPr kumimoji="1" lang="zh-TW" altLang="en-US" dirty="0"/>
              <a:t>    如果是有其他語言的套件安裝，請用</a:t>
            </a:r>
            <a:r>
              <a:rPr kumimoji="1" lang="en-US" altLang="zh-TW" dirty="0" err="1"/>
              <a:t>conda</a:t>
            </a:r>
            <a:r>
              <a:rPr kumimoji="1" lang="zh-TW" altLang="en-US" dirty="0"/>
              <a:t>管理</a:t>
            </a:r>
          </a:p>
        </p:txBody>
      </p:sp>
    </p:spTree>
    <p:extLst>
      <p:ext uri="{BB962C8B-B14F-4D97-AF65-F5344CB8AC3E}">
        <p14:creationId xmlns:p14="http://schemas.microsoft.com/office/powerpoint/2010/main" val="2753048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D9E09-88EF-33BB-BDF7-5E370AD88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33D804-D37B-F5A9-00A0-9DE40887A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991" y="-363355"/>
            <a:ext cx="10515600" cy="1325563"/>
          </a:xfrm>
        </p:spPr>
        <p:txBody>
          <a:bodyPr/>
          <a:lstStyle/>
          <a:p>
            <a:r>
              <a:rPr kumimoji="1" lang="en-US" altLang="zh-TW" dirty="0"/>
              <a:t>Rules</a:t>
            </a:r>
            <a:endParaRPr kumimoji="1"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883BA79-94EB-AB6D-C56C-C2CB032BA97C}"/>
              </a:ext>
            </a:extLst>
          </p:cNvPr>
          <p:cNvSpPr txBox="1"/>
          <p:nvPr/>
        </p:nvSpPr>
        <p:spPr>
          <a:xfrm>
            <a:off x="580581" y="802720"/>
            <a:ext cx="11229753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是你手動定議的約條件，用來引導</a:t>
            </a:r>
            <a:r>
              <a:rPr kumimoji="1" lang="en-US" altLang="zh-TW" dirty="0"/>
              <a:t>Agent</a:t>
            </a:r>
            <a:r>
              <a:rPr kumimoji="1" lang="zh-TW" altLang="en-US" dirty="0"/>
              <a:t>遵循特定的行為模式，無論是全</a:t>
            </a:r>
            <a:r>
              <a:rPr kumimoji="1" lang="en-US" altLang="zh-TW" dirty="0"/>
              <a:t> </a:t>
            </a:r>
            <a:r>
              <a:rPr kumimoji="1" lang="zh-TW" altLang="en-US" dirty="0"/>
              <a:t>域套用到所有專案，還是針對特定工作區設定，</a:t>
            </a:r>
            <a:r>
              <a:rPr kumimoji="1" lang="en-US" altLang="zh-TW" dirty="0"/>
              <a:t>Rules</a:t>
            </a:r>
            <a:r>
              <a:rPr kumimoji="1" lang="zh-TW" altLang="en-US" dirty="0"/>
              <a:t>都能幫助你打造符合需求的</a:t>
            </a:r>
            <a:r>
              <a:rPr kumimoji="1" lang="en-US" altLang="zh-TW" dirty="0"/>
              <a:t>AI</a:t>
            </a:r>
            <a:r>
              <a:rPr kumimoji="1" lang="zh-TW" altLang="en-US" dirty="0"/>
              <a:t>助手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035F196-F25F-29A3-E1FC-F4CA262550EF}"/>
              </a:ext>
            </a:extLst>
          </p:cNvPr>
          <p:cNvSpPr txBox="1"/>
          <p:nvPr/>
        </p:nvSpPr>
        <p:spPr>
          <a:xfrm>
            <a:off x="104775" y="2835250"/>
            <a:ext cx="58293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+Global </a:t>
            </a:r>
            <a:r>
              <a:rPr kumimoji="1" lang="zh-TW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建立全域規則 </a:t>
            </a:r>
            <a:r>
              <a:rPr kumimoji="1" lang="en-US" altLang="zh-TW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</a:t>
            </a:r>
            <a:r>
              <a:rPr kumimoji="1" lang="zh-TW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套用到所有工作區</a:t>
            </a:r>
            <a:r>
              <a:rPr kumimoji="1" lang="en-US" altLang="zh-TW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kumimoji="1" lang="en-US" altLang="zh-TW" dirty="0"/>
              <a:t>+Workspace</a:t>
            </a:r>
            <a:r>
              <a:rPr kumimoji="1" lang="zh-TW" altLang="en-US" dirty="0"/>
              <a:t> 建立工作區規則 </a:t>
            </a:r>
            <a:r>
              <a:rPr kumimoji="1" lang="en-US" altLang="zh-TW" dirty="0"/>
              <a:t>(</a:t>
            </a:r>
            <a:r>
              <a:rPr kumimoji="1" lang="zh-TW" altLang="en-US" dirty="0"/>
              <a:t>只套用到目前的專案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8F365AC-13D4-46CF-C077-CD31BEE584F0}"/>
              </a:ext>
            </a:extLst>
          </p:cNvPr>
          <p:cNvSpPr txBox="1"/>
          <p:nvPr/>
        </p:nvSpPr>
        <p:spPr>
          <a:xfrm>
            <a:off x="6415088" y="2483185"/>
            <a:ext cx="519112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儲存在 </a:t>
            </a:r>
            <a:r>
              <a:rPr kumimoji="1" lang="en-US" altLang="zh-TW" dirty="0"/>
              <a:t>.agent/rules/</a:t>
            </a:r>
            <a:r>
              <a:rPr kumimoji="1" lang="zh-TW" altLang="en-US" dirty="0"/>
              <a:t>資料夾，只套用到該工作區，建立工作區規則時，先輸入規則名稱</a:t>
            </a:r>
          </a:p>
        </p:txBody>
      </p:sp>
      <p:sp>
        <p:nvSpPr>
          <p:cNvPr id="5" name="迴轉箭號 4">
            <a:extLst>
              <a:ext uri="{FF2B5EF4-FFF2-40B4-BE49-F238E27FC236}">
                <a16:creationId xmlns:a16="http://schemas.microsoft.com/office/drawing/2014/main" id="{B3FE2F44-D588-F214-402C-FC5A7DAECF20}"/>
              </a:ext>
            </a:extLst>
          </p:cNvPr>
          <p:cNvSpPr/>
          <p:nvPr/>
        </p:nvSpPr>
        <p:spPr>
          <a:xfrm>
            <a:off x="2857500" y="1970196"/>
            <a:ext cx="5191125" cy="638175"/>
          </a:xfrm>
          <a:prstGeom prst="utur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3D9AE02-FB39-7A1F-4508-6F81CAA98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041" y="3336290"/>
            <a:ext cx="2661300" cy="1600376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2CC54FD7-C271-AEC7-CF23-DD38B46CDC66}"/>
              </a:ext>
            </a:extLst>
          </p:cNvPr>
          <p:cNvSpPr/>
          <p:nvPr/>
        </p:nvSpPr>
        <p:spPr>
          <a:xfrm>
            <a:off x="8078705" y="3756727"/>
            <a:ext cx="1223636" cy="3333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0" name="圖形 9" descr="手背向前食指朝右指 外框">
            <a:extLst>
              <a:ext uri="{FF2B5EF4-FFF2-40B4-BE49-F238E27FC236}">
                <a16:creationId xmlns:a16="http://schemas.microsoft.com/office/drawing/2014/main" id="{48263051-A95F-1496-D681-EDF7900EFF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2374" y="3600248"/>
            <a:ext cx="646331" cy="64633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60D0D6A8-5C08-AB70-9207-28F0784D3C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6861" y="4843579"/>
            <a:ext cx="7772400" cy="1990647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4060AB5E-A931-8F21-FD3C-C489C58191C4}"/>
              </a:ext>
            </a:extLst>
          </p:cNvPr>
          <p:cNvSpPr/>
          <p:nvPr/>
        </p:nvSpPr>
        <p:spPr>
          <a:xfrm>
            <a:off x="1963655" y="5038727"/>
            <a:ext cx="1223636" cy="7905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9D106BE-DC97-A133-AD01-B66F81261F5B}"/>
              </a:ext>
            </a:extLst>
          </p:cNvPr>
          <p:cNvSpPr txBox="1"/>
          <p:nvPr/>
        </p:nvSpPr>
        <p:spPr>
          <a:xfrm>
            <a:off x="7818630" y="5038727"/>
            <a:ext cx="4167187" cy="175432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Manual :</a:t>
            </a:r>
            <a:r>
              <a:rPr kumimoji="1" lang="zh-TW" altLang="en-US" dirty="0"/>
              <a:t>需要在</a:t>
            </a:r>
            <a:r>
              <a:rPr kumimoji="1" lang="en-US" altLang="zh-TW" dirty="0"/>
              <a:t>Agent</a:t>
            </a:r>
            <a:r>
              <a:rPr kumimoji="1" lang="zh-TW" altLang="en-US" dirty="0"/>
              <a:t>輸入框中使用</a:t>
            </a:r>
            <a:r>
              <a:rPr kumimoji="1" lang="en-US" altLang="zh-TW" dirty="0"/>
              <a:t>@</a:t>
            </a:r>
            <a:r>
              <a:rPr kumimoji="1" lang="zh-TW" altLang="en-US" dirty="0"/>
              <a:t>才會套用</a:t>
            </a:r>
            <a:endParaRPr kumimoji="1" lang="en-US" altLang="zh-TW" dirty="0"/>
          </a:p>
          <a:p>
            <a:r>
              <a:rPr kumimoji="1" lang="en-US" altLang="zh-TW" dirty="0"/>
              <a:t>Always On :</a:t>
            </a:r>
            <a:r>
              <a:rPr kumimoji="1" lang="zh-TW" altLang="en-US" dirty="0"/>
              <a:t>永遠套用</a:t>
            </a:r>
            <a:endParaRPr kumimoji="1" lang="en-US" altLang="zh-TW" dirty="0"/>
          </a:p>
          <a:p>
            <a:r>
              <a:rPr kumimoji="1" lang="en-US" altLang="zh-TW" dirty="0"/>
              <a:t>Model decision: </a:t>
            </a:r>
            <a:r>
              <a:rPr kumimoji="1" lang="zh-TW" altLang="en-US" dirty="0"/>
              <a:t>模型自行決定是否套用</a:t>
            </a:r>
            <a:endParaRPr kumimoji="1" lang="en-US" altLang="zh-TW" dirty="0"/>
          </a:p>
          <a:p>
            <a:r>
              <a:rPr kumimoji="1" lang="en-US" altLang="zh-TW" dirty="0"/>
              <a:t>Glob :</a:t>
            </a:r>
            <a:r>
              <a:rPr kumimoji="1" lang="zh-TW" altLang="en-US" dirty="0"/>
              <a:t>根據</a:t>
            </a:r>
            <a:r>
              <a:rPr kumimoji="1" lang="en-US" altLang="zh-TW" dirty="0"/>
              <a:t>glob</a:t>
            </a:r>
            <a:r>
              <a:rPr kumimoji="1" lang="zh-TW" altLang="en-US" dirty="0"/>
              <a:t>模式，當符合的檔案被編輯時自動套用</a:t>
            </a:r>
          </a:p>
        </p:txBody>
      </p:sp>
    </p:spTree>
    <p:extLst>
      <p:ext uri="{BB962C8B-B14F-4D97-AF65-F5344CB8AC3E}">
        <p14:creationId xmlns:p14="http://schemas.microsoft.com/office/powerpoint/2010/main" val="2298436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01BD62F-FEF8-02C5-AF06-82CD970FC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00" y="466724"/>
            <a:ext cx="8547100" cy="3862991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284BE3E-0DC8-A1E8-B737-9B9F4B1F3485}"/>
              </a:ext>
            </a:extLst>
          </p:cNvPr>
          <p:cNvSpPr txBox="1"/>
          <p:nvPr/>
        </p:nvSpPr>
        <p:spPr>
          <a:xfrm>
            <a:off x="1930400" y="4567840"/>
            <a:ext cx="8434387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設定</a:t>
            </a:r>
            <a:r>
              <a:rPr kumimoji="1" lang="en-US" altLang="zh-TW" dirty="0"/>
              <a:t>Glob Pattern</a:t>
            </a:r>
            <a:r>
              <a:rPr kumimoji="1" lang="zh-TW" altLang="en-US" dirty="0"/>
              <a:t>為 *</a:t>
            </a:r>
            <a:r>
              <a:rPr kumimoji="1" lang="en-US" altLang="zh-TW" dirty="0"/>
              <a:t>.</a:t>
            </a:r>
            <a:r>
              <a:rPr kumimoji="1" lang="en-US" altLang="zh-TW" dirty="0" err="1"/>
              <a:t>py</a:t>
            </a:r>
            <a:r>
              <a:rPr kumimoji="1" lang="en-US" altLang="zh-TW" dirty="0"/>
              <a:t> *.</a:t>
            </a:r>
            <a:r>
              <a:rPr kumimoji="1" lang="en-US" altLang="zh-TW" dirty="0" err="1"/>
              <a:t>ipynb</a:t>
            </a:r>
            <a:r>
              <a:rPr kumimoji="1" lang="zh-TW" altLang="en-US" dirty="0"/>
              <a:t>，當編輯</a:t>
            </a:r>
            <a:r>
              <a:rPr kumimoji="1" lang="en-US" altLang="zh-TW" dirty="0"/>
              <a:t>Python</a:t>
            </a:r>
            <a:r>
              <a:rPr kumimoji="1" lang="zh-TW" altLang="en-US" dirty="0"/>
              <a:t>或</a:t>
            </a:r>
            <a:r>
              <a:rPr kumimoji="1" lang="en-US" altLang="zh-TW" dirty="0" err="1"/>
              <a:t>Jupyter</a:t>
            </a:r>
            <a:r>
              <a:rPr kumimoji="1" lang="zh-TW" altLang="en-US" dirty="0"/>
              <a:t>檔案時會自動套用</a:t>
            </a:r>
          </a:p>
        </p:txBody>
      </p:sp>
    </p:spTree>
    <p:extLst>
      <p:ext uri="{BB962C8B-B14F-4D97-AF65-F5344CB8AC3E}">
        <p14:creationId xmlns:p14="http://schemas.microsoft.com/office/powerpoint/2010/main" val="3643554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D6693-58BF-09F7-9A4E-C88B75435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FAD33DA-B033-D548-0A72-090DB773E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37" y="1957123"/>
            <a:ext cx="3666538" cy="3055448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81AA99A7-B4C8-04D2-DA8F-54197046E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916" y="152474"/>
            <a:ext cx="10515600" cy="1325563"/>
          </a:xfrm>
        </p:spPr>
        <p:txBody>
          <a:bodyPr/>
          <a:lstStyle/>
          <a:p>
            <a:r>
              <a:rPr kumimoji="1" lang="en-US" altLang="zh-TW" dirty="0"/>
              <a:t>Workflows: </a:t>
            </a:r>
            <a:r>
              <a:rPr kumimoji="1" lang="zh-TW" altLang="en-US" dirty="0"/>
              <a:t>定義自動化工作流程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F79A04F-0554-A9BE-4A41-EEA7D654D5E6}"/>
              </a:ext>
            </a:extLst>
          </p:cNvPr>
          <p:cNvSpPr txBox="1"/>
          <p:nvPr/>
        </p:nvSpPr>
        <p:spPr>
          <a:xfrm>
            <a:off x="742506" y="1318549"/>
            <a:ext cx="1122975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讓你能夠定義一系列的步驟，引導</a:t>
            </a:r>
            <a:r>
              <a:rPr kumimoji="1" lang="en-US" altLang="zh-TW" dirty="0"/>
              <a:t>Agent</a:t>
            </a:r>
            <a:r>
              <a:rPr kumimoji="1" lang="zh-TW" altLang="en-US" dirty="0"/>
              <a:t>完成重複性的任務序列。</a:t>
            </a:r>
            <a:r>
              <a:rPr kumimoji="1" lang="en-US" altLang="zh-TW" dirty="0"/>
              <a:t>Workflows </a:t>
            </a:r>
            <a:r>
              <a:rPr kumimoji="1" lang="en-US" altLang="zh-TW" dirty="0">
                <a:sym typeface="Wingdings" pitchFamily="2" charset="2"/>
              </a:rPr>
              <a:t> </a:t>
            </a:r>
            <a:r>
              <a:rPr kumimoji="1" lang="zh-TW" altLang="en-US" dirty="0">
                <a:sym typeface="Wingdings" pitchFamily="2" charset="2"/>
              </a:rPr>
              <a:t>步驟導向，</a:t>
            </a:r>
            <a:r>
              <a:rPr kumimoji="1" lang="en-US" altLang="zh-TW" dirty="0">
                <a:sym typeface="Wingdings" pitchFamily="2" charset="2"/>
              </a:rPr>
              <a:t>Rules  </a:t>
            </a:r>
            <a:r>
              <a:rPr kumimoji="1" lang="zh-TW" altLang="en-US" dirty="0">
                <a:sym typeface="Wingdings" pitchFamily="2" charset="2"/>
              </a:rPr>
              <a:t>約束導向</a:t>
            </a:r>
            <a:endParaRPr kumimoji="1"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311807C-387F-3362-6F4D-7728EFB55383}"/>
              </a:ext>
            </a:extLst>
          </p:cNvPr>
          <p:cNvSpPr/>
          <p:nvPr/>
        </p:nvSpPr>
        <p:spPr>
          <a:xfrm>
            <a:off x="1486409" y="3048474"/>
            <a:ext cx="1106179" cy="3176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3" name="圖形 12" descr="手背向前食指朝右指 外框">
            <a:extLst>
              <a:ext uri="{FF2B5EF4-FFF2-40B4-BE49-F238E27FC236}">
                <a16:creationId xmlns:a16="http://schemas.microsoft.com/office/drawing/2014/main" id="{5ED842C0-B74B-8573-1AD7-D9148D20BF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078" y="2884136"/>
            <a:ext cx="646331" cy="64633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96ED223-FFDD-F5F2-594F-4A43868D1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5549" y="1910825"/>
            <a:ext cx="6316373" cy="4794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5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197E1-B79E-EBA2-2621-9FB3FBDD6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7517D2-6516-71AC-8671-EFDFDEC1D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916" y="152474"/>
            <a:ext cx="10515600" cy="1325563"/>
          </a:xfrm>
        </p:spPr>
        <p:txBody>
          <a:bodyPr/>
          <a:lstStyle/>
          <a:p>
            <a:r>
              <a:rPr kumimoji="1" lang="en-US" altLang="zh-TW" dirty="0"/>
              <a:t>Workflows: </a:t>
            </a:r>
            <a:r>
              <a:rPr kumimoji="1" lang="zh-TW" altLang="en-US" dirty="0"/>
              <a:t>定義自動化工作流程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A290A0C-B0EF-8EC2-2D99-4A61BCDE3554}"/>
              </a:ext>
            </a:extLst>
          </p:cNvPr>
          <p:cNvSpPr txBox="1"/>
          <p:nvPr/>
        </p:nvSpPr>
        <p:spPr>
          <a:xfrm>
            <a:off x="614916" y="2103752"/>
            <a:ext cx="986834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執行剛定義好的</a:t>
            </a:r>
            <a:r>
              <a:rPr kumimoji="1" lang="en-US" altLang="zh-TW" dirty="0"/>
              <a:t>workflow</a:t>
            </a:r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C630F68-C334-2ADD-B9E4-F377B1F1D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650" y="2832099"/>
            <a:ext cx="6216650" cy="267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086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90480530-F9FA-AE79-5C73-84528D6C1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361" y="2006862"/>
            <a:ext cx="10319172" cy="284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981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83E9397-ECC7-67D0-2EF0-46F952BD9B84}"/>
              </a:ext>
            </a:extLst>
          </p:cNvPr>
          <p:cNvSpPr txBox="1"/>
          <p:nvPr/>
        </p:nvSpPr>
        <p:spPr>
          <a:xfrm>
            <a:off x="1205937" y="1201172"/>
            <a:ext cx="978012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b="1" dirty="0"/>
              <a:t>任務開始前</a:t>
            </a:r>
          </a:p>
          <a:p>
            <a:pPr>
              <a:buNone/>
            </a:pPr>
            <a:r>
              <a:rPr lang="zh-TW" altLang="zh-TW" dirty="0"/>
              <a:t>agent 先產生 task list 或 implementation plan，讓你看它是否理解需求。</a:t>
            </a:r>
          </a:p>
          <a:p>
            <a:pPr>
              <a:buNone/>
            </a:pPr>
            <a:r>
              <a:rPr lang="zh-TW" altLang="zh-TW" b="1" dirty="0"/>
              <a:t>實作前</a:t>
            </a:r>
          </a:p>
          <a:p>
            <a:pPr>
              <a:buNone/>
            </a:pPr>
            <a:r>
              <a:rPr lang="zh-TW" altLang="zh-TW" dirty="0"/>
              <a:t>agent 提出具體變更計畫，可能要求你批准。</a:t>
            </a:r>
          </a:p>
          <a:p>
            <a:pPr>
              <a:buNone/>
            </a:pPr>
            <a:r>
              <a:rPr lang="zh-TW" altLang="zh-TW" b="1" dirty="0"/>
              <a:t>實作中</a:t>
            </a:r>
          </a:p>
          <a:p>
            <a:pPr>
              <a:buNone/>
            </a:pPr>
            <a:r>
              <a:rPr lang="zh-TW" altLang="zh-TW" dirty="0"/>
              <a:t>agent 更新任務清單、產生 diff、記錄變更。</a:t>
            </a:r>
          </a:p>
          <a:p>
            <a:pPr>
              <a:buNone/>
            </a:pPr>
            <a:r>
              <a:rPr lang="zh-TW" altLang="zh-TW" b="1" dirty="0"/>
              <a:t>驗證時</a:t>
            </a:r>
          </a:p>
          <a:p>
            <a:pPr>
              <a:buNone/>
            </a:pPr>
            <a:r>
              <a:rPr lang="zh-TW" altLang="zh-TW" dirty="0"/>
              <a:t>agent 產生測試結果、browser screenshot、browser recording。</a:t>
            </a:r>
          </a:p>
          <a:p>
            <a:pPr>
              <a:buNone/>
            </a:pPr>
            <a:r>
              <a:rPr lang="zh-TW" altLang="zh-TW" b="1" dirty="0"/>
              <a:t>完成後</a:t>
            </a:r>
          </a:p>
          <a:p>
            <a:pPr>
              <a:buNone/>
            </a:pPr>
            <a:r>
              <a:rPr lang="zh-TW" altLang="zh-TW" dirty="0"/>
              <a:t>agent 產生 walkthrough，總結完成內容與驗證方式。</a:t>
            </a: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E23ECAF3-B0A7-079A-C3B6-B308EE571D54}"/>
              </a:ext>
            </a:extLst>
          </p:cNvPr>
          <p:cNvSpPr txBox="1">
            <a:spLocks/>
          </p:cNvSpPr>
          <p:nvPr/>
        </p:nvSpPr>
        <p:spPr>
          <a:xfrm>
            <a:off x="596063" y="218461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TW" dirty="0"/>
              <a:t>Artifacts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5374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C92A58-2229-7BDC-DD3C-B2A1C1EBF43E}"/>
              </a:ext>
            </a:extLst>
          </p:cNvPr>
          <p:cNvSpPr/>
          <p:nvPr/>
        </p:nvSpPr>
        <p:spPr>
          <a:xfrm>
            <a:off x="972078" y="2188527"/>
            <a:ext cx="2743200" cy="582954"/>
          </a:xfrm>
          <a:prstGeom prst="rect">
            <a:avLst/>
          </a:prstGeom>
          <a:solidFill>
            <a:srgbClr val="F3F6FB"/>
          </a:solidFill>
          <a:ln w="2540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8C58C49A-B882-8167-A092-5F03D6C101B1}"/>
              </a:ext>
            </a:extLst>
          </p:cNvPr>
          <p:cNvSpPr txBox="1"/>
          <p:nvPr/>
        </p:nvSpPr>
        <p:spPr>
          <a:xfrm>
            <a:off x="972078" y="2287643"/>
            <a:ext cx="252374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rgbClr val="00A366"/>
                </a:solidFill>
              </a:rPr>
              <a:t>Artifacts</a:t>
            </a:r>
            <a:endParaRPr sz="1900" b="1" dirty="0">
              <a:solidFill>
                <a:srgbClr val="00A366"/>
              </a:solidFill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FC4923-357E-32B3-C008-9E63362E24F9}"/>
              </a:ext>
            </a:extLst>
          </p:cNvPr>
          <p:cNvSpPr/>
          <p:nvPr/>
        </p:nvSpPr>
        <p:spPr>
          <a:xfrm>
            <a:off x="6096000" y="960858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D0D5C4F9-A1A3-50CF-FC82-0518F186AB4C}"/>
              </a:ext>
            </a:extLst>
          </p:cNvPr>
          <p:cNvSpPr txBox="1"/>
          <p:nvPr/>
        </p:nvSpPr>
        <p:spPr>
          <a:xfrm>
            <a:off x="6096000" y="960858"/>
            <a:ext cx="3571437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Implementation plan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DA2F8B3-B6FF-A5AA-7006-48C88EC04A86}"/>
              </a:ext>
            </a:extLst>
          </p:cNvPr>
          <p:cNvSpPr/>
          <p:nvPr/>
        </p:nvSpPr>
        <p:spPr>
          <a:xfrm>
            <a:off x="6096000" y="2548017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ADC22AF-7D21-A466-AB01-D92A4D5D896D}"/>
              </a:ext>
            </a:extLst>
          </p:cNvPr>
          <p:cNvSpPr txBox="1"/>
          <p:nvPr/>
        </p:nvSpPr>
        <p:spPr>
          <a:xfrm>
            <a:off x="6096000" y="2548017"/>
            <a:ext cx="3571437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Task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AC6CAEF3-6A37-06AF-50B6-2177FF4297C2}"/>
              </a:ext>
            </a:extLst>
          </p:cNvPr>
          <p:cNvSpPr/>
          <p:nvPr/>
        </p:nvSpPr>
        <p:spPr>
          <a:xfrm>
            <a:off x="6096000" y="3993276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34F0C228-5849-7E9E-1399-E33C9FB96CA4}"/>
              </a:ext>
            </a:extLst>
          </p:cNvPr>
          <p:cNvSpPr txBox="1"/>
          <p:nvPr/>
        </p:nvSpPr>
        <p:spPr>
          <a:xfrm>
            <a:off x="6096000" y="3993276"/>
            <a:ext cx="3571437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Walkthrough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44DF0D60-B5AC-8767-A2E2-F502B1C2146E}"/>
              </a:ext>
            </a:extLst>
          </p:cNvPr>
          <p:cNvSpPr txBox="1"/>
          <p:nvPr/>
        </p:nvSpPr>
        <p:spPr>
          <a:xfrm>
            <a:off x="2939343" y="4474623"/>
            <a:ext cx="2743200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Screen shots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7EC8B2E2-40C7-DE82-2B68-BB913D813CCD}"/>
              </a:ext>
            </a:extLst>
          </p:cNvPr>
          <p:cNvSpPr txBox="1"/>
          <p:nvPr/>
        </p:nvSpPr>
        <p:spPr>
          <a:xfrm>
            <a:off x="2939343" y="5028393"/>
            <a:ext cx="2743200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Browser Recordings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2F4D030D-1418-83A2-1692-BB596BD19662}"/>
              </a:ext>
            </a:extLst>
          </p:cNvPr>
          <p:cNvCxnSpPr>
            <a:stCxn id="2" idx="3"/>
            <a:endCxn id="4" idx="1"/>
          </p:cNvCxnSpPr>
          <p:nvPr/>
        </p:nvCxnSpPr>
        <p:spPr>
          <a:xfrm flipV="1">
            <a:off x="3715278" y="1153219"/>
            <a:ext cx="2380722" cy="1326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2A658BD6-2354-7F21-573D-1AA2F8CFD698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3715278" y="2480004"/>
            <a:ext cx="2380722" cy="2603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6E729A28-5D77-DCA5-77E6-0A41FF7138F7}"/>
              </a:ext>
            </a:extLst>
          </p:cNvPr>
          <p:cNvCxnSpPr>
            <a:cxnSpLocks/>
            <a:stCxn id="2" idx="3"/>
            <a:endCxn id="9" idx="1"/>
          </p:cNvCxnSpPr>
          <p:nvPr/>
        </p:nvCxnSpPr>
        <p:spPr>
          <a:xfrm>
            <a:off x="3715278" y="2480004"/>
            <a:ext cx="2380722" cy="17056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FF7B301E-1822-DF65-6989-A1C90E4197FE}"/>
              </a:ext>
            </a:extLst>
          </p:cNvPr>
          <p:cNvCxnSpPr>
            <a:cxnSpLocks/>
          </p:cNvCxnSpPr>
          <p:nvPr/>
        </p:nvCxnSpPr>
        <p:spPr>
          <a:xfrm>
            <a:off x="2234303" y="2754233"/>
            <a:ext cx="290614" cy="21051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左大括弧 24">
            <a:extLst>
              <a:ext uri="{FF2B5EF4-FFF2-40B4-BE49-F238E27FC236}">
                <a16:creationId xmlns:a16="http://schemas.microsoft.com/office/drawing/2014/main" id="{8015AF8B-BDD9-7CE6-B0CC-5E23DA8400EC}"/>
              </a:ext>
            </a:extLst>
          </p:cNvPr>
          <p:cNvSpPr/>
          <p:nvPr/>
        </p:nvSpPr>
        <p:spPr>
          <a:xfrm>
            <a:off x="2524917" y="4072379"/>
            <a:ext cx="510514" cy="150978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50576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81730-FE6D-29D5-2418-697DA4D97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5049930-2CDB-60B3-D7D8-6783188E56AC}"/>
              </a:ext>
            </a:extLst>
          </p:cNvPr>
          <p:cNvSpPr/>
          <p:nvPr/>
        </p:nvSpPr>
        <p:spPr>
          <a:xfrm>
            <a:off x="972078" y="2188527"/>
            <a:ext cx="2743200" cy="582954"/>
          </a:xfrm>
          <a:prstGeom prst="rect">
            <a:avLst/>
          </a:prstGeom>
          <a:solidFill>
            <a:srgbClr val="F3F6FB"/>
          </a:solidFill>
          <a:ln w="2540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C18A79B9-1794-F6DD-C65D-850960F937CC}"/>
              </a:ext>
            </a:extLst>
          </p:cNvPr>
          <p:cNvSpPr txBox="1"/>
          <p:nvPr/>
        </p:nvSpPr>
        <p:spPr>
          <a:xfrm>
            <a:off x="972078" y="2287643"/>
            <a:ext cx="252374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rgbClr val="00A366"/>
                </a:solidFill>
              </a:rPr>
              <a:t>Artifacts</a:t>
            </a:r>
            <a:endParaRPr sz="1900" b="1" dirty="0">
              <a:solidFill>
                <a:srgbClr val="00A366"/>
              </a:solidFill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05024C5-E58B-A441-DE30-00201984A77E}"/>
              </a:ext>
            </a:extLst>
          </p:cNvPr>
          <p:cNvSpPr/>
          <p:nvPr/>
        </p:nvSpPr>
        <p:spPr>
          <a:xfrm>
            <a:off x="6096000" y="960858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5824D5AE-856B-3EFF-F144-B5DFF47F220B}"/>
              </a:ext>
            </a:extLst>
          </p:cNvPr>
          <p:cNvSpPr txBox="1"/>
          <p:nvPr/>
        </p:nvSpPr>
        <p:spPr>
          <a:xfrm>
            <a:off x="6096000" y="960858"/>
            <a:ext cx="3571437" cy="384721"/>
          </a:xfrm>
          <a:prstGeom prst="rect">
            <a:avLst/>
          </a:prstGeom>
          <a:solidFill>
            <a:srgbClr val="FFFF00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Implementation plan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863F18A-1866-964A-D712-FD7B9F4936FA}"/>
              </a:ext>
            </a:extLst>
          </p:cNvPr>
          <p:cNvSpPr/>
          <p:nvPr/>
        </p:nvSpPr>
        <p:spPr>
          <a:xfrm>
            <a:off x="6096000" y="2548017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792CE00-D16A-BE53-4FA2-36E3A8257E7E}"/>
              </a:ext>
            </a:extLst>
          </p:cNvPr>
          <p:cNvSpPr txBox="1"/>
          <p:nvPr/>
        </p:nvSpPr>
        <p:spPr>
          <a:xfrm>
            <a:off x="6096000" y="2548017"/>
            <a:ext cx="3571437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Task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F028C5EB-8F0F-F168-EDA1-63A8C3C802C7}"/>
              </a:ext>
            </a:extLst>
          </p:cNvPr>
          <p:cNvSpPr/>
          <p:nvPr/>
        </p:nvSpPr>
        <p:spPr>
          <a:xfrm>
            <a:off x="6096000" y="3993276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D735E526-8E77-9079-AD68-ADF54E8B042E}"/>
              </a:ext>
            </a:extLst>
          </p:cNvPr>
          <p:cNvSpPr txBox="1"/>
          <p:nvPr/>
        </p:nvSpPr>
        <p:spPr>
          <a:xfrm>
            <a:off x="6096000" y="3993276"/>
            <a:ext cx="3571437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Walkthrough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0DD9181D-DE44-CE4D-CAFC-31A622C31011}"/>
              </a:ext>
            </a:extLst>
          </p:cNvPr>
          <p:cNvSpPr txBox="1"/>
          <p:nvPr/>
        </p:nvSpPr>
        <p:spPr>
          <a:xfrm>
            <a:off x="2939343" y="4474623"/>
            <a:ext cx="2743200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Screen shots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AE224420-67A1-A6AD-8AD0-F9AE9152F2D3}"/>
              </a:ext>
            </a:extLst>
          </p:cNvPr>
          <p:cNvCxnSpPr>
            <a:stCxn id="2" idx="3"/>
            <a:endCxn id="4" idx="1"/>
          </p:cNvCxnSpPr>
          <p:nvPr/>
        </p:nvCxnSpPr>
        <p:spPr>
          <a:xfrm flipV="1">
            <a:off x="3715278" y="1153219"/>
            <a:ext cx="2380722" cy="1326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8D3E7BE3-1861-DBE2-F4BC-6AA7FB400F58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3715278" y="2480004"/>
            <a:ext cx="2380722" cy="2603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57F0C255-3205-26F0-25E4-9DB5998B2245}"/>
              </a:ext>
            </a:extLst>
          </p:cNvPr>
          <p:cNvCxnSpPr>
            <a:cxnSpLocks/>
            <a:stCxn id="2" idx="3"/>
            <a:endCxn id="9" idx="1"/>
          </p:cNvCxnSpPr>
          <p:nvPr/>
        </p:nvCxnSpPr>
        <p:spPr>
          <a:xfrm>
            <a:off x="3715278" y="2480004"/>
            <a:ext cx="2380722" cy="17056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374BE629-46A3-A610-1806-E91077B5577B}"/>
              </a:ext>
            </a:extLst>
          </p:cNvPr>
          <p:cNvCxnSpPr>
            <a:cxnSpLocks/>
          </p:cNvCxnSpPr>
          <p:nvPr/>
        </p:nvCxnSpPr>
        <p:spPr>
          <a:xfrm>
            <a:off x="2234303" y="2754233"/>
            <a:ext cx="290614" cy="21051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左大括弧 24">
            <a:extLst>
              <a:ext uri="{FF2B5EF4-FFF2-40B4-BE49-F238E27FC236}">
                <a16:creationId xmlns:a16="http://schemas.microsoft.com/office/drawing/2014/main" id="{3B81DF95-1776-E760-74D9-9FC71840D70B}"/>
              </a:ext>
            </a:extLst>
          </p:cNvPr>
          <p:cNvSpPr/>
          <p:nvPr/>
        </p:nvSpPr>
        <p:spPr>
          <a:xfrm>
            <a:off x="2524917" y="4072379"/>
            <a:ext cx="510514" cy="150978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C5057B4B-02AB-3711-6D87-F7E319CDCE1A}"/>
              </a:ext>
            </a:extLst>
          </p:cNvPr>
          <p:cNvSpPr txBox="1"/>
          <p:nvPr/>
        </p:nvSpPr>
        <p:spPr>
          <a:xfrm>
            <a:off x="2939343" y="5028393"/>
            <a:ext cx="2743200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Browser Recordings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590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84AD643C-A5F4-5141-5C51-AAFB7A97A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905" y="928575"/>
            <a:ext cx="7772400" cy="5472189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69F5ADE7-1B48-75DE-35AC-B162499FB621}"/>
              </a:ext>
            </a:extLst>
          </p:cNvPr>
          <p:cNvSpPr txBox="1"/>
          <p:nvPr/>
        </p:nvSpPr>
        <p:spPr>
          <a:xfrm>
            <a:off x="77771" y="154699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400" dirty="0"/>
              <a:t>Implementation Plan：實作計畫</a:t>
            </a:r>
            <a:endParaRPr lang="zh-TW" altLang="en-US" sz="24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9564463-29B1-04F5-D006-259E1F7122DE}"/>
              </a:ext>
            </a:extLst>
          </p:cNvPr>
          <p:cNvSpPr txBox="1"/>
          <p:nvPr/>
        </p:nvSpPr>
        <p:spPr>
          <a:xfrm>
            <a:off x="181466" y="872314"/>
            <a:ext cx="34572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dirty="0"/>
              <a:t>Implementation Plan 是最重要的 artifact 之一。它會說明 agent 打算怎麼改你的 codebase。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3209371-D200-6003-CF31-AD038986BABA}"/>
              </a:ext>
            </a:extLst>
          </p:cNvPr>
          <p:cNvSpPr txBox="1"/>
          <p:nvPr/>
        </p:nvSpPr>
        <p:spPr>
          <a:xfrm>
            <a:off x="181466" y="2107855"/>
            <a:ext cx="60944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dirty="0"/>
              <a:t>它通常會包含：</a:t>
            </a:r>
          </a:p>
          <a:p>
            <a:pPr lvl="1"/>
            <a:r>
              <a:rPr lang="zh-TW" altLang="zh-TW" dirty="0"/>
              <a:t>要改哪些檔案</a:t>
            </a:r>
            <a:br>
              <a:rPr lang="zh-TW" altLang="zh-TW" dirty="0"/>
            </a:br>
            <a:r>
              <a:rPr lang="zh-TW" altLang="zh-TW" dirty="0"/>
              <a:t>為什麼要改這些檔案</a:t>
            </a:r>
            <a:br>
              <a:rPr lang="zh-TW" altLang="zh-TW" dirty="0"/>
            </a:br>
            <a:r>
              <a:rPr lang="zh-TW" altLang="zh-TW" dirty="0"/>
              <a:t>預計新增或刪除哪些邏輯</a:t>
            </a:r>
            <a:br>
              <a:rPr lang="zh-TW" altLang="zh-TW" dirty="0"/>
            </a:br>
            <a:r>
              <a:rPr lang="zh-TW" altLang="zh-TW" dirty="0"/>
              <a:t>資料流或 API flow 如何變化</a:t>
            </a:r>
            <a:br>
              <a:rPr lang="zh-TW" altLang="zh-TW" dirty="0"/>
            </a:br>
            <a:r>
              <a:rPr lang="zh-TW" altLang="zh-TW" dirty="0"/>
              <a:t>風險與測試方式</a:t>
            </a:r>
            <a:br>
              <a:rPr lang="zh-TW" altLang="zh-TW" dirty="0"/>
            </a:br>
            <a:r>
              <a:rPr lang="zh-TW" altLang="zh-TW" dirty="0"/>
              <a:t>可能的替代方案</a:t>
            </a:r>
          </a:p>
        </p:txBody>
      </p:sp>
    </p:spTree>
    <p:extLst>
      <p:ext uri="{BB962C8B-B14F-4D97-AF65-F5344CB8AC3E}">
        <p14:creationId xmlns:p14="http://schemas.microsoft.com/office/powerpoint/2010/main" val="33209002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B5143-5A8C-6947-8156-6C80F1A26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7670BEF-2F49-19FB-3FF2-AC2215AF9B29}"/>
              </a:ext>
            </a:extLst>
          </p:cNvPr>
          <p:cNvSpPr/>
          <p:nvPr/>
        </p:nvSpPr>
        <p:spPr>
          <a:xfrm>
            <a:off x="972078" y="2188527"/>
            <a:ext cx="2743200" cy="582954"/>
          </a:xfrm>
          <a:prstGeom prst="rect">
            <a:avLst/>
          </a:prstGeom>
          <a:solidFill>
            <a:srgbClr val="F3F6FB"/>
          </a:solidFill>
          <a:ln w="2540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F6746FA3-F086-6227-D442-D803ADDFDF08}"/>
              </a:ext>
            </a:extLst>
          </p:cNvPr>
          <p:cNvSpPr txBox="1"/>
          <p:nvPr/>
        </p:nvSpPr>
        <p:spPr>
          <a:xfrm>
            <a:off x="972078" y="2287643"/>
            <a:ext cx="252374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rgbClr val="00A366"/>
                </a:solidFill>
              </a:rPr>
              <a:t>Artifacts</a:t>
            </a:r>
            <a:endParaRPr sz="1900" b="1" dirty="0">
              <a:solidFill>
                <a:srgbClr val="00A366"/>
              </a:solidFill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F12ED4C-D67B-3135-B710-AFEDB3E4AB02}"/>
              </a:ext>
            </a:extLst>
          </p:cNvPr>
          <p:cNvSpPr/>
          <p:nvPr/>
        </p:nvSpPr>
        <p:spPr>
          <a:xfrm>
            <a:off x="6096000" y="960858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32BED2C2-0C66-B5B9-FCCC-810BC7C208CC}"/>
              </a:ext>
            </a:extLst>
          </p:cNvPr>
          <p:cNvSpPr txBox="1"/>
          <p:nvPr/>
        </p:nvSpPr>
        <p:spPr>
          <a:xfrm>
            <a:off x="6096000" y="960858"/>
            <a:ext cx="3571437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Implementation plan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4BFF37C-75F1-2DFC-E4D4-76EC6D646624}"/>
              </a:ext>
            </a:extLst>
          </p:cNvPr>
          <p:cNvSpPr/>
          <p:nvPr/>
        </p:nvSpPr>
        <p:spPr>
          <a:xfrm>
            <a:off x="6096000" y="2548017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DA17F9F-47AA-6778-C57D-CDECD7D0237B}"/>
              </a:ext>
            </a:extLst>
          </p:cNvPr>
          <p:cNvSpPr txBox="1"/>
          <p:nvPr/>
        </p:nvSpPr>
        <p:spPr>
          <a:xfrm>
            <a:off x="6096000" y="2548017"/>
            <a:ext cx="3571437" cy="384721"/>
          </a:xfrm>
          <a:prstGeom prst="rect">
            <a:avLst/>
          </a:prstGeom>
          <a:solidFill>
            <a:srgbClr val="FFFF00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Task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CEBCD801-FBFD-FDA0-2FAC-DAC3AC2EC033}"/>
              </a:ext>
            </a:extLst>
          </p:cNvPr>
          <p:cNvSpPr/>
          <p:nvPr/>
        </p:nvSpPr>
        <p:spPr>
          <a:xfrm>
            <a:off x="6096000" y="3993276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5BB787A3-ACB3-D700-47BC-559CAB7FD972}"/>
              </a:ext>
            </a:extLst>
          </p:cNvPr>
          <p:cNvSpPr txBox="1"/>
          <p:nvPr/>
        </p:nvSpPr>
        <p:spPr>
          <a:xfrm>
            <a:off x="6096000" y="3993276"/>
            <a:ext cx="3571437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Walkthrough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AEB6EB31-ABCC-9B40-0813-203BADE30143}"/>
              </a:ext>
            </a:extLst>
          </p:cNvPr>
          <p:cNvSpPr txBox="1"/>
          <p:nvPr/>
        </p:nvSpPr>
        <p:spPr>
          <a:xfrm>
            <a:off x="2939343" y="4474623"/>
            <a:ext cx="2743200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Screen shots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CE04552D-DE37-F98E-2076-233A9E36F95A}"/>
              </a:ext>
            </a:extLst>
          </p:cNvPr>
          <p:cNvCxnSpPr>
            <a:stCxn id="2" idx="3"/>
            <a:endCxn id="4" idx="1"/>
          </p:cNvCxnSpPr>
          <p:nvPr/>
        </p:nvCxnSpPr>
        <p:spPr>
          <a:xfrm flipV="1">
            <a:off x="3715278" y="1153219"/>
            <a:ext cx="2380722" cy="1326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5585044A-0111-83BE-E66A-63A511DE9A20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3715278" y="2480004"/>
            <a:ext cx="2380722" cy="2603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7EB62AEF-C7B2-D85F-4BF3-5BE21EDE6F22}"/>
              </a:ext>
            </a:extLst>
          </p:cNvPr>
          <p:cNvCxnSpPr>
            <a:cxnSpLocks/>
            <a:stCxn id="2" idx="3"/>
            <a:endCxn id="9" idx="1"/>
          </p:cNvCxnSpPr>
          <p:nvPr/>
        </p:nvCxnSpPr>
        <p:spPr>
          <a:xfrm>
            <a:off x="3715278" y="2480004"/>
            <a:ext cx="2380722" cy="17056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F072F9D8-BDA1-E531-EC15-A216E8DA86CB}"/>
              </a:ext>
            </a:extLst>
          </p:cNvPr>
          <p:cNvCxnSpPr>
            <a:cxnSpLocks/>
          </p:cNvCxnSpPr>
          <p:nvPr/>
        </p:nvCxnSpPr>
        <p:spPr>
          <a:xfrm>
            <a:off x="2234303" y="2754233"/>
            <a:ext cx="290614" cy="21051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左大括弧 24">
            <a:extLst>
              <a:ext uri="{FF2B5EF4-FFF2-40B4-BE49-F238E27FC236}">
                <a16:creationId xmlns:a16="http://schemas.microsoft.com/office/drawing/2014/main" id="{114C7391-98FB-FBC5-F4D5-D6763C5FFAB0}"/>
              </a:ext>
            </a:extLst>
          </p:cNvPr>
          <p:cNvSpPr/>
          <p:nvPr/>
        </p:nvSpPr>
        <p:spPr>
          <a:xfrm>
            <a:off x="2524917" y="4072379"/>
            <a:ext cx="510514" cy="150978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ED29F063-2B71-4D55-AC53-6958EEF99D8C}"/>
              </a:ext>
            </a:extLst>
          </p:cNvPr>
          <p:cNvSpPr txBox="1"/>
          <p:nvPr/>
        </p:nvSpPr>
        <p:spPr>
          <a:xfrm>
            <a:off x="2939343" y="5028393"/>
            <a:ext cx="2743200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Browser Recordings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7234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9D831004-70D9-8C1D-C62B-A3A468F61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6158" y="877572"/>
            <a:ext cx="7772400" cy="5472189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FA9F43F5-324D-2C84-1935-FC7623CED872}"/>
              </a:ext>
            </a:extLst>
          </p:cNvPr>
          <p:cNvSpPr txBox="1"/>
          <p:nvPr/>
        </p:nvSpPr>
        <p:spPr>
          <a:xfrm>
            <a:off x="234098" y="442323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400" dirty="0"/>
              <a:t>Task List：任務清單</a:t>
            </a:r>
            <a:endParaRPr lang="zh-TW" altLang="en-US" sz="24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24B7473-D7C0-5A8C-34E8-34FE1A64AD93}"/>
              </a:ext>
            </a:extLst>
          </p:cNvPr>
          <p:cNvSpPr txBox="1"/>
          <p:nvPr/>
        </p:nvSpPr>
        <p:spPr>
          <a:xfrm>
            <a:off x="234098" y="1291719"/>
            <a:ext cx="364031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Task List 是 agent 在開始工作前或工作中產生的結構化待辦清單。Google 文件稱 task list 是 agent 用來組織工作、驗證等流程的 artifact。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284756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2AACD-57BD-EC54-A01F-E26BBC8CE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F926507-B964-E3BC-4A58-E4C25AD9A9AA}"/>
              </a:ext>
            </a:extLst>
          </p:cNvPr>
          <p:cNvSpPr/>
          <p:nvPr/>
        </p:nvSpPr>
        <p:spPr>
          <a:xfrm>
            <a:off x="972078" y="2188527"/>
            <a:ext cx="2743200" cy="582954"/>
          </a:xfrm>
          <a:prstGeom prst="rect">
            <a:avLst/>
          </a:prstGeom>
          <a:solidFill>
            <a:srgbClr val="F3F6FB"/>
          </a:solidFill>
          <a:ln w="2540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600D5318-7AE0-8891-943F-C22356A6389B}"/>
              </a:ext>
            </a:extLst>
          </p:cNvPr>
          <p:cNvSpPr txBox="1"/>
          <p:nvPr/>
        </p:nvSpPr>
        <p:spPr>
          <a:xfrm>
            <a:off x="972078" y="2287643"/>
            <a:ext cx="252374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rgbClr val="00A366"/>
                </a:solidFill>
              </a:rPr>
              <a:t>Artifacts</a:t>
            </a:r>
            <a:endParaRPr sz="1900" b="1" dirty="0">
              <a:solidFill>
                <a:srgbClr val="00A366"/>
              </a:solidFill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A7B92F8-64F5-2D79-8F5F-3BA1AEA161BB}"/>
              </a:ext>
            </a:extLst>
          </p:cNvPr>
          <p:cNvSpPr/>
          <p:nvPr/>
        </p:nvSpPr>
        <p:spPr>
          <a:xfrm>
            <a:off x="6096000" y="960858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46696768-DB08-9492-9F81-25A3ABF418AE}"/>
              </a:ext>
            </a:extLst>
          </p:cNvPr>
          <p:cNvSpPr txBox="1"/>
          <p:nvPr/>
        </p:nvSpPr>
        <p:spPr>
          <a:xfrm>
            <a:off x="6096000" y="960858"/>
            <a:ext cx="3571437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Implementation plan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2E45462-9AED-8A3E-6450-F731116B0CE4}"/>
              </a:ext>
            </a:extLst>
          </p:cNvPr>
          <p:cNvSpPr/>
          <p:nvPr/>
        </p:nvSpPr>
        <p:spPr>
          <a:xfrm>
            <a:off x="6096000" y="2548017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34A72D8-3AB2-E3AA-CD90-0A386C06FB5E}"/>
              </a:ext>
            </a:extLst>
          </p:cNvPr>
          <p:cNvSpPr txBox="1"/>
          <p:nvPr/>
        </p:nvSpPr>
        <p:spPr>
          <a:xfrm>
            <a:off x="6096000" y="2548017"/>
            <a:ext cx="3571437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Task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88305391-D62E-D1CA-AA93-E50CA5EEEA7D}"/>
              </a:ext>
            </a:extLst>
          </p:cNvPr>
          <p:cNvSpPr/>
          <p:nvPr/>
        </p:nvSpPr>
        <p:spPr>
          <a:xfrm>
            <a:off x="6096000" y="3993276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E6F8890-BE33-D1B5-8A9A-D9CDAB501263}"/>
              </a:ext>
            </a:extLst>
          </p:cNvPr>
          <p:cNvSpPr txBox="1"/>
          <p:nvPr/>
        </p:nvSpPr>
        <p:spPr>
          <a:xfrm>
            <a:off x="6096000" y="3993276"/>
            <a:ext cx="3571437" cy="384721"/>
          </a:xfrm>
          <a:prstGeom prst="rect">
            <a:avLst/>
          </a:prstGeom>
          <a:solidFill>
            <a:srgbClr val="FFFF00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Walkthrough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8AC7E27F-2170-9F45-C00E-ABB0499DCC79}"/>
              </a:ext>
            </a:extLst>
          </p:cNvPr>
          <p:cNvSpPr txBox="1"/>
          <p:nvPr/>
        </p:nvSpPr>
        <p:spPr>
          <a:xfrm>
            <a:off x="2939343" y="4474623"/>
            <a:ext cx="2743200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Screen shots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AB923676-A2F7-BE82-6D42-7E0BAE6B0A0C}"/>
              </a:ext>
            </a:extLst>
          </p:cNvPr>
          <p:cNvCxnSpPr>
            <a:stCxn id="2" idx="3"/>
            <a:endCxn id="4" idx="1"/>
          </p:cNvCxnSpPr>
          <p:nvPr/>
        </p:nvCxnSpPr>
        <p:spPr>
          <a:xfrm flipV="1">
            <a:off x="3715278" y="1153219"/>
            <a:ext cx="2380722" cy="1326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ADF8796C-8C5A-51EA-BC0A-C0ABA90EBF4C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3715278" y="2480004"/>
            <a:ext cx="2380722" cy="2603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9F019239-3A7F-3DB6-AEC9-F24A418FAFA5}"/>
              </a:ext>
            </a:extLst>
          </p:cNvPr>
          <p:cNvCxnSpPr>
            <a:cxnSpLocks/>
            <a:stCxn id="2" idx="3"/>
            <a:endCxn id="9" idx="1"/>
          </p:cNvCxnSpPr>
          <p:nvPr/>
        </p:nvCxnSpPr>
        <p:spPr>
          <a:xfrm>
            <a:off x="3715278" y="2480004"/>
            <a:ext cx="2380722" cy="17056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543AFD66-6555-D6A5-C787-4468DD725BF3}"/>
              </a:ext>
            </a:extLst>
          </p:cNvPr>
          <p:cNvCxnSpPr>
            <a:cxnSpLocks/>
          </p:cNvCxnSpPr>
          <p:nvPr/>
        </p:nvCxnSpPr>
        <p:spPr>
          <a:xfrm>
            <a:off x="2234303" y="2754233"/>
            <a:ext cx="290614" cy="21051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左大括弧 24">
            <a:extLst>
              <a:ext uri="{FF2B5EF4-FFF2-40B4-BE49-F238E27FC236}">
                <a16:creationId xmlns:a16="http://schemas.microsoft.com/office/drawing/2014/main" id="{B34DEE5A-7C8A-1ABC-4375-492297A6535F}"/>
              </a:ext>
            </a:extLst>
          </p:cNvPr>
          <p:cNvSpPr/>
          <p:nvPr/>
        </p:nvSpPr>
        <p:spPr>
          <a:xfrm>
            <a:off x="2524917" y="4072379"/>
            <a:ext cx="510514" cy="150978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ECD5B149-50D4-6222-C70B-B28D2F19C282}"/>
              </a:ext>
            </a:extLst>
          </p:cNvPr>
          <p:cNvSpPr txBox="1"/>
          <p:nvPr/>
        </p:nvSpPr>
        <p:spPr>
          <a:xfrm>
            <a:off x="2939343" y="5028393"/>
            <a:ext cx="2743200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Browser Recordings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8310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5C9E205-5E00-3C9F-BF01-E1B8E9892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503" y="909722"/>
            <a:ext cx="7772400" cy="5472189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B430BAF7-7859-B8DA-67FC-6899496DBAFD}"/>
              </a:ext>
            </a:extLst>
          </p:cNvPr>
          <p:cNvSpPr txBox="1"/>
          <p:nvPr/>
        </p:nvSpPr>
        <p:spPr>
          <a:xfrm>
            <a:off x="219173" y="173551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800" dirty="0"/>
              <a:t>Walkthrough：工作導覽／交付說明</a:t>
            </a:r>
            <a:endParaRPr lang="zh-TW" altLang="en-US" sz="28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0E59957-6916-8B2A-CB20-CF3BF0A4D978}"/>
              </a:ext>
            </a:extLst>
          </p:cNvPr>
          <p:cNvSpPr txBox="1"/>
          <p:nvPr/>
        </p:nvSpPr>
        <p:spPr>
          <a:xfrm>
            <a:off x="278091" y="1022032"/>
            <a:ext cx="44724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Walkthrough 可以理解成 agent 完成任務後的「交付報告」。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9B76F46-EA42-8400-147C-AA457971F994}"/>
              </a:ext>
            </a:extLst>
          </p:cNvPr>
          <p:cNvSpPr txBox="1"/>
          <p:nvPr/>
        </p:nvSpPr>
        <p:spPr>
          <a:xfrm>
            <a:off x="219173" y="2274838"/>
            <a:ext cx="486187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dirty="0"/>
              <a:t>它通常會總結：</a:t>
            </a:r>
          </a:p>
          <a:p>
            <a:pPr>
              <a:buNone/>
            </a:pPr>
            <a:r>
              <a:rPr lang="zh-TW" altLang="zh-TW" dirty="0"/>
              <a:t>做了哪些修改</a:t>
            </a:r>
            <a:br>
              <a:rPr lang="zh-TW" altLang="zh-TW" dirty="0"/>
            </a:br>
            <a:r>
              <a:rPr lang="zh-TW" altLang="zh-TW" dirty="0"/>
              <a:t>哪些檔案被改</a:t>
            </a:r>
            <a:br>
              <a:rPr lang="zh-TW" altLang="zh-TW" dirty="0"/>
            </a:br>
            <a:r>
              <a:rPr lang="zh-TW" altLang="zh-TW" dirty="0"/>
              <a:t>為什麼這樣改</a:t>
            </a:r>
            <a:br>
              <a:rPr lang="zh-TW" altLang="zh-TW" dirty="0"/>
            </a:br>
            <a:r>
              <a:rPr lang="zh-TW" altLang="zh-TW" dirty="0"/>
              <a:t>怎麼驗證</a:t>
            </a:r>
            <a:br>
              <a:rPr lang="zh-TW" altLang="zh-TW" dirty="0"/>
            </a:br>
            <a:r>
              <a:rPr lang="zh-TW" altLang="zh-TW" dirty="0"/>
              <a:t>還有哪些限制或後續建議</a:t>
            </a:r>
          </a:p>
          <a:p>
            <a:pPr>
              <a:buNone/>
            </a:pPr>
            <a:r>
              <a:rPr lang="zh-TW" altLang="zh-TW" dirty="0"/>
              <a:t>這很像一個 junior developer 做完任務後寫給 reviewer 的說明</a:t>
            </a:r>
          </a:p>
        </p:txBody>
      </p:sp>
    </p:spTree>
    <p:extLst>
      <p:ext uri="{BB962C8B-B14F-4D97-AF65-F5344CB8AC3E}">
        <p14:creationId xmlns:p14="http://schemas.microsoft.com/office/powerpoint/2010/main" val="27090913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769A7-E4E3-7D61-DD34-60B8A3A8F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9E126ED-A328-4279-31D4-EC49972C1441}"/>
              </a:ext>
            </a:extLst>
          </p:cNvPr>
          <p:cNvSpPr/>
          <p:nvPr/>
        </p:nvSpPr>
        <p:spPr>
          <a:xfrm>
            <a:off x="972078" y="2188527"/>
            <a:ext cx="2743200" cy="582954"/>
          </a:xfrm>
          <a:prstGeom prst="rect">
            <a:avLst/>
          </a:prstGeom>
          <a:solidFill>
            <a:srgbClr val="F3F6FB"/>
          </a:solidFill>
          <a:ln w="2540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30A8FA91-164D-E9C7-A574-0EFAF035CB29}"/>
              </a:ext>
            </a:extLst>
          </p:cNvPr>
          <p:cNvSpPr txBox="1"/>
          <p:nvPr/>
        </p:nvSpPr>
        <p:spPr>
          <a:xfrm>
            <a:off x="972078" y="2287643"/>
            <a:ext cx="252374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rgbClr val="00A366"/>
                </a:solidFill>
              </a:rPr>
              <a:t>Artifacts</a:t>
            </a:r>
            <a:endParaRPr sz="1900" b="1" dirty="0">
              <a:solidFill>
                <a:srgbClr val="00A366"/>
              </a:solidFill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58FACE0-ACBB-F5B8-0E9E-E49F4ED90B76}"/>
              </a:ext>
            </a:extLst>
          </p:cNvPr>
          <p:cNvSpPr/>
          <p:nvPr/>
        </p:nvSpPr>
        <p:spPr>
          <a:xfrm>
            <a:off x="6096000" y="960858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B452A1F6-03A7-FBCB-7091-8E25B4E960A7}"/>
              </a:ext>
            </a:extLst>
          </p:cNvPr>
          <p:cNvSpPr txBox="1"/>
          <p:nvPr/>
        </p:nvSpPr>
        <p:spPr>
          <a:xfrm>
            <a:off x="6096000" y="960858"/>
            <a:ext cx="3571437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Implementation plan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747A567-0C41-BD62-2A42-E471015B6B86}"/>
              </a:ext>
            </a:extLst>
          </p:cNvPr>
          <p:cNvSpPr/>
          <p:nvPr/>
        </p:nvSpPr>
        <p:spPr>
          <a:xfrm>
            <a:off x="6096000" y="2548017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6E22C4F-4A7D-9D2D-4842-C4D99B1A52A0}"/>
              </a:ext>
            </a:extLst>
          </p:cNvPr>
          <p:cNvSpPr txBox="1"/>
          <p:nvPr/>
        </p:nvSpPr>
        <p:spPr>
          <a:xfrm>
            <a:off x="6096000" y="2548017"/>
            <a:ext cx="3571437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Task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D4684DE-ACC6-293E-F338-5EE44D64C294}"/>
              </a:ext>
            </a:extLst>
          </p:cNvPr>
          <p:cNvSpPr/>
          <p:nvPr/>
        </p:nvSpPr>
        <p:spPr>
          <a:xfrm>
            <a:off x="6096000" y="3993276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1C9103B7-5439-504C-07A0-0BD2FB6785D6}"/>
              </a:ext>
            </a:extLst>
          </p:cNvPr>
          <p:cNvSpPr txBox="1"/>
          <p:nvPr/>
        </p:nvSpPr>
        <p:spPr>
          <a:xfrm>
            <a:off x="6096000" y="3993276"/>
            <a:ext cx="3571437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Walkthrough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0EE44F78-47E1-8A6E-59E4-7C1827E2B6A1}"/>
              </a:ext>
            </a:extLst>
          </p:cNvPr>
          <p:cNvSpPr txBox="1"/>
          <p:nvPr/>
        </p:nvSpPr>
        <p:spPr>
          <a:xfrm>
            <a:off x="2939343" y="4474623"/>
            <a:ext cx="2743200" cy="384721"/>
          </a:xfrm>
          <a:prstGeom prst="rect">
            <a:avLst/>
          </a:prstGeom>
          <a:solidFill>
            <a:srgbClr val="FFFF00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Screen shots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BB51311E-F3AB-6385-474C-B86A90C10584}"/>
              </a:ext>
            </a:extLst>
          </p:cNvPr>
          <p:cNvSpPr txBox="1"/>
          <p:nvPr/>
        </p:nvSpPr>
        <p:spPr>
          <a:xfrm>
            <a:off x="2939343" y="5028393"/>
            <a:ext cx="2743200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Browser Recordings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03FD8CF1-BC1A-A6ED-3CA9-677B585984F5}"/>
              </a:ext>
            </a:extLst>
          </p:cNvPr>
          <p:cNvCxnSpPr>
            <a:stCxn id="2" idx="3"/>
            <a:endCxn id="4" idx="1"/>
          </p:cNvCxnSpPr>
          <p:nvPr/>
        </p:nvCxnSpPr>
        <p:spPr>
          <a:xfrm flipV="1">
            <a:off x="3715278" y="1153219"/>
            <a:ext cx="2380722" cy="1326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ABBDAC2B-CA40-EAE0-A9F0-6DCF7C6C1DF1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3715278" y="2480004"/>
            <a:ext cx="2380722" cy="2603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CFE2ECD5-A537-896B-8889-24D166C65F00}"/>
              </a:ext>
            </a:extLst>
          </p:cNvPr>
          <p:cNvCxnSpPr>
            <a:cxnSpLocks/>
            <a:stCxn id="2" idx="3"/>
            <a:endCxn id="9" idx="1"/>
          </p:cNvCxnSpPr>
          <p:nvPr/>
        </p:nvCxnSpPr>
        <p:spPr>
          <a:xfrm>
            <a:off x="3715278" y="2480004"/>
            <a:ext cx="2380722" cy="17056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73AB9A26-8C10-2D7F-540C-ACA926E9B06A}"/>
              </a:ext>
            </a:extLst>
          </p:cNvPr>
          <p:cNvCxnSpPr>
            <a:cxnSpLocks/>
          </p:cNvCxnSpPr>
          <p:nvPr/>
        </p:nvCxnSpPr>
        <p:spPr>
          <a:xfrm>
            <a:off x="2234303" y="2754233"/>
            <a:ext cx="290614" cy="21051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左大括弧 24">
            <a:extLst>
              <a:ext uri="{FF2B5EF4-FFF2-40B4-BE49-F238E27FC236}">
                <a16:creationId xmlns:a16="http://schemas.microsoft.com/office/drawing/2014/main" id="{F163D113-81A4-118E-242B-B55BA16C5044}"/>
              </a:ext>
            </a:extLst>
          </p:cNvPr>
          <p:cNvSpPr/>
          <p:nvPr/>
        </p:nvSpPr>
        <p:spPr>
          <a:xfrm>
            <a:off x="2524917" y="4072379"/>
            <a:ext cx="510514" cy="150978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873521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9D4DACEE-B961-325D-8079-312A4AC7D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952435"/>
            <a:ext cx="7543800" cy="55753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F69AA69-74C6-BE1A-BE5D-A5856FDC093D}"/>
              </a:ext>
            </a:extLst>
          </p:cNvPr>
          <p:cNvSpPr txBox="1"/>
          <p:nvPr/>
        </p:nvSpPr>
        <p:spPr>
          <a:xfrm>
            <a:off x="1572" y="99432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400" dirty="0"/>
              <a:t>Screenshots：截圖</a:t>
            </a:r>
            <a:endParaRPr lang="zh-TW" altLang="en-US" sz="2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C0A0D34-93B1-6EA6-F5A8-F0393D3595D2}"/>
              </a:ext>
            </a:extLst>
          </p:cNvPr>
          <p:cNvSpPr txBox="1"/>
          <p:nvPr/>
        </p:nvSpPr>
        <p:spPr>
          <a:xfrm>
            <a:off x="157900" y="839313"/>
            <a:ext cx="39898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如果任務涉及 UI、網站、瀏覽器操作，agent 可能會產生 screenshots。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4E18A2C-59B0-A810-A1D8-5141970BB4C7}"/>
              </a:ext>
            </a:extLst>
          </p:cNvPr>
          <p:cNvSpPr txBox="1"/>
          <p:nvPr/>
        </p:nvSpPr>
        <p:spPr>
          <a:xfrm>
            <a:off x="157900" y="1997839"/>
            <a:ext cx="408416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dirty="0"/>
              <a:t>官方文件指出，screenshots 會被存成 image artifacts，而且可以被評論，用來給 agent 回饋。</a:t>
            </a:r>
          </a:p>
          <a:p>
            <a:pPr>
              <a:buNone/>
            </a:pPr>
            <a:r>
              <a:rPr lang="zh-TW" altLang="zh-TW" dirty="0"/>
              <a:t>例如你要求：</a:t>
            </a:r>
          </a:p>
          <a:p>
            <a:pPr>
              <a:buNone/>
            </a:pPr>
            <a:r>
              <a:rPr lang="zh-TW" altLang="zh-TW" dirty="0"/>
              <a:t>幫我調整 checkout page 的 layout。</a:t>
            </a:r>
          </a:p>
          <a:p>
            <a:pPr>
              <a:buNone/>
            </a:pPr>
            <a:r>
              <a:rPr lang="zh-TW" altLang="zh-TW" dirty="0"/>
              <a:t>agent 完成後可能會提供一張瀏覽器截圖。你可以直接在截圖 artifact 上指出：</a:t>
            </a:r>
          </a:p>
          <a:p>
            <a:pPr lvl="1"/>
            <a:r>
              <a:rPr lang="zh-TW" altLang="zh-TW" dirty="0"/>
              <a:t>「這個按鈕太靠右」</a:t>
            </a:r>
            <a:br>
              <a:rPr lang="zh-TW" altLang="zh-TW" dirty="0"/>
            </a:br>
            <a:r>
              <a:rPr lang="zh-TW" altLang="zh-TW" dirty="0"/>
              <a:t>「這裡文字被截斷」</a:t>
            </a:r>
            <a:br>
              <a:rPr lang="zh-TW" altLang="zh-TW" dirty="0"/>
            </a:br>
            <a:r>
              <a:rPr lang="zh-TW" altLang="zh-TW" dirty="0"/>
              <a:t>「手機版 navbar 壞掉了」</a:t>
            </a:r>
            <a:br>
              <a:rPr lang="zh-TW" altLang="zh-TW" dirty="0"/>
            </a:br>
            <a:r>
              <a:rPr lang="zh-TW" altLang="zh-TW" dirty="0"/>
              <a:t>「這個 modal 的 z-index 不對」</a:t>
            </a:r>
          </a:p>
        </p:txBody>
      </p:sp>
    </p:spTree>
    <p:extLst>
      <p:ext uri="{BB962C8B-B14F-4D97-AF65-F5344CB8AC3E}">
        <p14:creationId xmlns:p14="http://schemas.microsoft.com/office/powerpoint/2010/main" val="11554214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FA43D-6FC4-B0C8-58B8-6C4217521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85A17A4-BA24-128A-B717-D80C1BF55628}"/>
              </a:ext>
            </a:extLst>
          </p:cNvPr>
          <p:cNvSpPr/>
          <p:nvPr/>
        </p:nvSpPr>
        <p:spPr>
          <a:xfrm>
            <a:off x="972078" y="2188527"/>
            <a:ext cx="2743200" cy="582954"/>
          </a:xfrm>
          <a:prstGeom prst="rect">
            <a:avLst/>
          </a:prstGeom>
          <a:solidFill>
            <a:srgbClr val="F3F6FB"/>
          </a:solidFill>
          <a:ln w="2540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6AD8F6D3-1259-D9CC-209D-A32F4FE9F410}"/>
              </a:ext>
            </a:extLst>
          </p:cNvPr>
          <p:cNvSpPr txBox="1"/>
          <p:nvPr/>
        </p:nvSpPr>
        <p:spPr>
          <a:xfrm>
            <a:off x="972078" y="2287643"/>
            <a:ext cx="252374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rgbClr val="00A366"/>
                </a:solidFill>
              </a:rPr>
              <a:t>Artifacts</a:t>
            </a:r>
            <a:endParaRPr sz="1900" b="1" dirty="0">
              <a:solidFill>
                <a:srgbClr val="00A366"/>
              </a:solidFill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6C52EEF-479B-C98F-AAA6-AFE8D400FFD5}"/>
              </a:ext>
            </a:extLst>
          </p:cNvPr>
          <p:cNvSpPr/>
          <p:nvPr/>
        </p:nvSpPr>
        <p:spPr>
          <a:xfrm>
            <a:off x="6096000" y="960858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A1338D3A-BE3F-E814-A188-F4ECAE237476}"/>
              </a:ext>
            </a:extLst>
          </p:cNvPr>
          <p:cNvSpPr txBox="1"/>
          <p:nvPr/>
        </p:nvSpPr>
        <p:spPr>
          <a:xfrm>
            <a:off x="6096000" y="960858"/>
            <a:ext cx="3571437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Implementation plan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CB4184C-D7B5-3137-60E8-1733134167A7}"/>
              </a:ext>
            </a:extLst>
          </p:cNvPr>
          <p:cNvSpPr/>
          <p:nvPr/>
        </p:nvSpPr>
        <p:spPr>
          <a:xfrm>
            <a:off x="6096000" y="2548017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E3293EE-E130-1A54-456B-DF370133CBB7}"/>
              </a:ext>
            </a:extLst>
          </p:cNvPr>
          <p:cNvSpPr txBox="1"/>
          <p:nvPr/>
        </p:nvSpPr>
        <p:spPr>
          <a:xfrm>
            <a:off x="6096000" y="2548017"/>
            <a:ext cx="3571437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Task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C9D1857-45BB-92C0-B114-65F36B26897F}"/>
              </a:ext>
            </a:extLst>
          </p:cNvPr>
          <p:cNvSpPr/>
          <p:nvPr/>
        </p:nvSpPr>
        <p:spPr>
          <a:xfrm>
            <a:off x="6096000" y="3993276"/>
            <a:ext cx="3571437" cy="384721"/>
          </a:xfrm>
          <a:prstGeom prst="rect">
            <a:avLst/>
          </a:prstGeom>
          <a:solidFill>
            <a:srgbClr val="F3F6FB"/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E7BFEB03-71CB-B39A-01BC-FDBC83FDBF9C}"/>
              </a:ext>
            </a:extLst>
          </p:cNvPr>
          <p:cNvSpPr txBox="1"/>
          <p:nvPr/>
        </p:nvSpPr>
        <p:spPr>
          <a:xfrm>
            <a:off x="6096000" y="3993276"/>
            <a:ext cx="3571437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Walkthrough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BDFE7A7C-341F-2788-A6EB-9038410A5D48}"/>
              </a:ext>
            </a:extLst>
          </p:cNvPr>
          <p:cNvSpPr txBox="1"/>
          <p:nvPr/>
        </p:nvSpPr>
        <p:spPr>
          <a:xfrm>
            <a:off x="2939343" y="4474623"/>
            <a:ext cx="2743200" cy="38472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Screen shots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ADFCF7D5-DB1E-22DA-6059-7EE0D48B5D4D}"/>
              </a:ext>
            </a:extLst>
          </p:cNvPr>
          <p:cNvSpPr txBox="1"/>
          <p:nvPr/>
        </p:nvSpPr>
        <p:spPr>
          <a:xfrm>
            <a:off x="2939343" y="5028393"/>
            <a:ext cx="2743200" cy="384721"/>
          </a:xfrm>
          <a:prstGeom prst="rect">
            <a:avLst/>
          </a:prstGeom>
          <a:solidFill>
            <a:srgbClr val="FFFF00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900" b="1" dirty="0">
                <a:solidFill>
                  <a:schemeClr val="accent1">
                    <a:lumMod val="75000"/>
                  </a:schemeClr>
                </a:solidFill>
              </a:rPr>
              <a:t>Browser Recordings</a:t>
            </a:r>
            <a:endParaRPr sz="19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C8304AC7-5F25-8F53-4144-9E716329B60E}"/>
              </a:ext>
            </a:extLst>
          </p:cNvPr>
          <p:cNvCxnSpPr>
            <a:stCxn id="2" idx="3"/>
            <a:endCxn id="4" idx="1"/>
          </p:cNvCxnSpPr>
          <p:nvPr/>
        </p:nvCxnSpPr>
        <p:spPr>
          <a:xfrm flipV="1">
            <a:off x="3715278" y="1153219"/>
            <a:ext cx="2380722" cy="1326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2DC4441B-BECC-9358-9A2A-412B794B6F36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3715278" y="2480004"/>
            <a:ext cx="2380722" cy="2603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0DDD53C9-F1A4-6112-F9F2-80313C450A55}"/>
              </a:ext>
            </a:extLst>
          </p:cNvPr>
          <p:cNvCxnSpPr>
            <a:cxnSpLocks/>
            <a:stCxn id="2" idx="3"/>
            <a:endCxn id="9" idx="1"/>
          </p:cNvCxnSpPr>
          <p:nvPr/>
        </p:nvCxnSpPr>
        <p:spPr>
          <a:xfrm>
            <a:off x="3715278" y="2480004"/>
            <a:ext cx="2380722" cy="17056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06C0A37C-0F3B-9562-78F4-79512A12975F}"/>
              </a:ext>
            </a:extLst>
          </p:cNvPr>
          <p:cNvCxnSpPr>
            <a:cxnSpLocks/>
          </p:cNvCxnSpPr>
          <p:nvPr/>
        </p:nvCxnSpPr>
        <p:spPr>
          <a:xfrm>
            <a:off x="2234303" y="2754233"/>
            <a:ext cx="290614" cy="21051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左大括弧 24">
            <a:extLst>
              <a:ext uri="{FF2B5EF4-FFF2-40B4-BE49-F238E27FC236}">
                <a16:creationId xmlns:a16="http://schemas.microsoft.com/office/drawing/2014/main" id="{FA159B46-3348-48BC-BA17-D964436449F6}"/>
              </a:ext>
            </a:extLst>
          </p:cNvPr>
          <p:cNvSpPr/>
          <p:nvPr/>
        </p:nvSpPr>
        <p:spPr>
          <a:xfrm>
            <a:off x="2524917" y="4072379"/>
            <a:ext cx="510514" cy="150978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733849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st_recording_ppt">
            <a:hlinkClick r:id="" action="ppaction://media"/>
            <a:extLst>
              <a:ext uri="{FF2B5EF4-FFF2-40B4-BE49-F238E27FC236}">
                <a16:creationId xmlns:a16="http://schemas.microsoft.com/office/drawing/2014/main" id="{8D24BC0B-B611-C828-0AE7-920C4C596E1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453380" y="23166"/>
            <a:ext cx="6735402" cy="6735402"/>
          </a:xfrm>
          <a:prstGeom prst="roundRect">
            <a:avLst>
              <a:gd name="adj" fmla="val 5299"/>
            </a:avLst>
          </a:prstGeom>
          <a:ln>
            <a:noFill/>
          </a:ln>
          <a:effectLst/>
          <a:scene3d>
            <a:camera prst="orthographicFront"/>
            <a:lightRig rig="balanced" dir="t"/>
          </a:scene3d>
          <a:sp3d prstMaterial="plastic">
            <a:bevelT/>
            <a:contourClr>
              <a:srgbClr val="FFFFFF"/>
            </a:contourClr>
          </a:sp3d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97F3E5D3-A15F-050B-C67B-6042053C606C}"/>
              </a:ext>
            </a:extLst>
          </p:cNvPr>
          <p:cNvSpPr txBox="1"/>
          <p:nvPr/>
        </p:nvSpPr>
        <p:spPr>
          <a:xfrm>
            <a:off x="1572" y="99432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Browser Recordings</a:t>
            </a:r>
            <a:endParaRPr lang="zh-TW" altLang="en-US" sz="24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A32BADF-E378-CA46-C43F-502DB20E94DB}"/>
              </a:ext>
            </a:extLst>
          </p:cNvPr>
          <p:cNvSpPr txBox="1"/>
          <p:nvPr/>
        </p:nvSpPr>
        <p:spPr>
          <a:xfrm>
            <a:off x="326797" y="955258"/>
            <a:ext cx="380135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dirty="0"/>
              <a:t>Browser Recordings 是更進階的驗證 artifact。</a:t>
            </a:r>
          </a:p>
          <a:p>
            <a:pPr>
              <a:buNone/>
            </a:pPr>
            <a:r>
              <a:rPr lang="zh-TW" altLang="zh-TW" dirty="0"/>
              <a:t>Antigravity 的瀏覽器子 agent 在操作 browser 時，可能會產生 recording；官方文件說每次 browser subagent 操作瀏覽器時，它可能會生成錄影</a:t>
            </a:r>
          </a:p>
        </p:txBody>
      </p:sp>
    </p:spTree>
    <p:extLst>
      <p:ext uri="{BB962C8B-B14F-4D97-AF65-F5344CB8AC3E}">
        <p14:creationId xmlns:p14="http://schemas.microsoft.com/office/powerpoint/2010/main" val="2484473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48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201168" cy="6858000"/>
          </a:xfrm>
          <a:prstGeom prst="rect">
            <a:avLst/>
          </a:prstGeom>
          <a:solidFill>
            <a:srgbClr val="E06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3068" y="1188721"/>
            <a:ext cx="112471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3068" y="2514601"/>
            <a:ext cx="112471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SKILL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7668" y="4160520"/>
            <a:ext cx="6309360" cy="64008"/>
          </a:xfrm>
          <a:prstGeom prst="rect">
            <a:avLst/>
          </a:prstGeom>
          <a:solidFill>
            <a:srgbClr val="E06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3068" y="4315969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BBCCDD"/>
                </a:solidFill>
              </a:rPr>
              <a:t>讓 AI 學會你想要的「做事方式」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E06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8" y="9144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什麼是 SKILL？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13068" y="1170432"/>
            <a:ext cx="11338560" cy="1280160"/>
          </a:xfrm>
          <a:prstGeom prst="rect">
            <a:avLst/>
          </a:prstGeom>
          <a:solidFill>
            <a:srgbClr val="F3F6FB"/>
          </a:solidFill>
          <a:ln w="2540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5948" y="1243585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06C10"/>
                </a:solidFill>
              </a:rPr>
              <a:t>SKILL 就像是一本「SOP 手冊」，告訴 AI 碰到某種狀況要怎麼做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5948" y="1719072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0F1E3C"/>
                </a:solidFill>
              </a:rPr>
              <a:t>寫好一個 SKILL 之後，你只要打 /skill名稱，或直接說出來，AI 就知道要照那個流程做</a:t>
            </a:r>
          </a:p>
        </p:txBody>
      </p:sp>
      <p:sp>
        <p:nvSpPr>
          <p:cNvPr id="8" name="Rectangle 7"/>
          <p:cNvSpPr/>
          <p:nvPr/>
        </p:nvSpPr>
        <p:spPr>
          <a:xfrm>
            <a:off x="413068" y="2651761"/>
            <a:ext cx="3703320" cy="3977639"/>
          </a:xfrm>
          <a:prstGeom prst="rect">
            <a:avLst/>
          </a:prstGeom>
          <a:solidFill>
            <a:srgbClr val="F3F6FB"/>
          </a:solidFill>
          <a:ln w="1270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3068" y="2743201"/>
            <a:ext cx="37033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0F1E3C"/>
                </a:solidFill>
              </a:rPr>
              <a:t>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228" y="3493008"/>
            <a:ext cx="3429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06C10"/>
                </a:solidFill>
              </a:rPr>
              <a:t>像「食譜」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228" y="4023361"/>
            <a:ext cx="3429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4A5A78"/>
                </a:solidFill>
              </a:rPr>
              <a:t>你給 AI 一份食譜（Skill），
它就知道做這道菜要按什麼步驟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4988" y="2651761"/>
            <a:ext cx="3703320" cy="3977639"/>
          </a:xfrm>
          <a:prstGeom prst="rect">
            <a:avLst/>
          </a:prstGeom>
          <a:solidFill>
            <a:srgbClr val="F3F6FB"/>
          </a:solidFill>
          <a:ln w="1270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4988" y="2743201"/>
            <a:ext cx="37033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0F1E3C"/>
                </a:solidFill>
              </a:rP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2148" y="3493008"/>
            <a:ext cx="3429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06C10"/>
                </a:solidFill>
              </a:rPr>
              <a:t>AI 自動判斷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2148" y="4023361"/>
            <a:ext cx="342900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4A5A78"/>
                </a:solidFill>
              </a:rPr>
              <a:t>你說「幫我看看有啥改動」
AI 自己知道要用
「整理 git 差異」的 Skill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6907" y="2651761"/>
            <a:ext cx="3703320" cy="3977639"/>
          </a:xfrm>
          <a:prstGeom prst="rect">
            <a:avLst/>
          </a:prstGeom>
          <a:solidFill>
            <a:srgbClr val="F3F6FB"/>
          </a:solidFill>
          <a:ln w="1270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6907" y="2743201"/>
            <a:ext cx="37033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0F1E3C"/>
                </a:solidFill>
              </a:rPr>
              <a:t>🛠️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4068" y="3493008"/>
            <a:ext cx="3429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06C10"/>
                </a:solidFill>
              </a:rPr>
              <a:t>或你主動叫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4068" y="4023361"/>
            <a:ext cx="3429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4A5A78"/>
                </a:solidFill>
              </a:rPr>
              <a:t>你直接打 /code-review
AI 就用審查程式碼的方式來幫你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E06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8" y="69687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</a:rPr>
              <a:t>SKILL </a:t>
            </a:r>
            <a:r>
              <a:rPr lang="en-US" sz="3000" b="1" dirty="0" err="1">
                <a:solidFill>
                  <a:srgbClr val="FFFFFF"/>
                </a:solidFill>
              </a:rPr>
              <a:t>的作用</a:t>
            </a:r>
            <a:r>
              <a:rPr lang="zh-TW" altLang="en-US" sz="3000" b="1" dirty="0">
                <a:solidFill>
                  <a:srgbClr val="FFFFFF"/>
                </a:solidFill>
              </a:rPr>
              <a:t>   </a:t>
            </a:r>
            <a:r>
              <a:rPr lang="en-US" altLang="zh-TW" sz="3000" b="1" dirty="0">
                <a:solidFill>
                  <a:srgbClr val="FFFFFF"/>
                </a:solidFill>
                <a:sym typeface="Wingdings" pitchFamily="2" charset="2"/>
              </a:rPr>
              <a:t></a:t>
            </a:r>
            <a:r>
              <a:rPr lang="zh-TW" altLang="en-US" sz="3000" b="1" dirty="0">
                <a:solidFill>
                  <a:srgbClr val="FFFFFF"/>
                </a:solidFill>
                <a:sym typeface="Wingdings" pitchFamily="2" charset="2"/>
              </a:rPr>
              <a:t> </a:t>
            </a:r>
            <a:r>
              <a:rPr lang="en-US" altLang="zh-TW" sz="3000" b="1" dirty="0">
                <a:solidFill>
                  <a:srgbClr val="FFFFFF"/>
                </a:solidFill>
                <a:sym typeface="Wingdings" pitchFamily="2" charset="2"/>
              </a:rPr>
              <a:t> </a:t>
            </a:r>
            <a:r>
              <a:rPr lang="zh-TW" altLang="en-US" sz="3000" b="1" dirty="0">
                <a:solidFill>
                  <a:srgbClr val="FFFFFF"/>
                </a:solidFill>
                <a:sym typeface="Wingdings" pitchFamily="2" charset="2"/>
              </a:rPr>
              <a:t>有點像</a:t>
            </a:r>
            <a:r>
              <a:rPr lang="en-US" altLang="zh-TW" sz="3000" b="1" dirty="0">
                <a:solidFill>
                  <a:srgbClr val="FFFFFF"/>
                </a:solidFill>
                <a:sym typeface="Wingdings" pitchFamily="2" charset="2"/>
              </a:rPr>
              <a:t>class</a:t>
            </a:r>
            <a:r>
              <a:rPr lang="zh-TW" altLang="en-US" sz="3000" b="1" dirty="0">
                <a:solidFill>
                  <a:srgbClr val="FFFFFF"/>
                </a:solidFill>
                <a:sym typeface="Wingdings" pitchFamily="2" charset="2"/>
              </a:rPr>
              <a:t>的味道，重覆再利用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3068" y="1207008"/>
            <a:ext cx="11338560" cy="886968"/>
          </a:xfrm>
          <a:prstGeom prst="rect">
            <a:avLst/>
          </a:prstGeom>
          <a:solidFill>
            <a:srgbClr val="F3F6FB"/>
          </a:solidFill>
          <a:ln w="1905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3068" y="1207008"/>
            <a:ext cx="2788920" cy="886968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0228" y="1408177"/>
            <a:ext cx="260604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A366"/>
                </a:solidFill>
              </a:rPr>
              <a:t>/notebooklm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9148" y="1444752"/>
            <a:ext cx="8138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0F1E3C"/>
                </a:solidFill>
              </a:rPr>
              <a:t>建立 Google NotebookLM 筆記本，幫你整理資料或生成 Podcast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3068" y="2212848"/>
            <a:ext cx="11338560" cy="886968"/>
          </a:xfrm>
          <a:prstGeom prst="rect">
            <a:avLst/>
          </a:prstGeom>
          <a:solidFill>
            <a:srgbClr val="E8EFF8"/>
          </a:solidFill>
          <a:ln w="19050">
            <a:solidFill>
              <a:srgbClr val="1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3068" y="2212848"/>
            <a:ext cx="2788920" cy="886968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228" y="2414017"/>
            <a:ext cx="260604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77EC1"/>
                </a:solidFill>
              </a:rPr>
              <a:t>/code-review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9148" y="2450591"/>
            <a:ext cx="8138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0F1E3C"/>
                </a:solidFill>
              </a:rPr>
              <a:t>審查你的程式碼，找出問題、給改善建議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3068" y="3218688"/>
            <a:ext cx="11338560" cy="886968"/>
          </a:xfrm>
          <a:prstGeom prst="rect">
            <a:avLst/>
          </a:prstGeom>
          <a:solidFill>
            <a:srgbClr val="F3F6FB"/>
          </a:solidFill>
          <a:ln w="1905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3068" y="3218688"/>
            <a:ext cx="2788920" cy="886968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0228" y="3419857"/>
            <a:ext cx="260604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06C10"/>
                </a:solidFill>
              </a:rPr>
              <a:t>/vercel:deploy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9148" y="3456432"/>
            <a:ext cx="8138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0F1E3C"/>
                </a:solidFill>
              </a:rPr>
              <a:t>把你的網站部署上線（一個指令搞定）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3068" y="4224528"/>
            <a:ext cx="11338560" cy="886968"/>
          </a:xfrm>
          <a:prstGeom prst="rect">
            <a:avLst/>
          </a:prstGeom>
          <a:solidFill>
            <a:srgbClr val="E8EFF8"/>
          </a:solidFill>
          <a:ln w="19050">
            <a:solidFill>
              <a:srgbClr val="C02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3068" y="4224528"/>
            <a:ext cx="2788920" cy="886968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0228" y="4425697"/>
            <a:ext cx="260604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C02A78"/>
                </a:solidFill>
              </a:rPr>
              <a:t>/security-review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9148" y="4462272"/>
            <a:ext cx="8138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0F1E3C"/>
                </a:solidFill>
              </a:rPr>
              <a:t>檢查你的程式有沒有安全漏洞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3068" y="5230368"/>
            <a:ext cx="11338560" cy="886968"/>
          </a:xfrm>
          <a:prstGeom prst="rect">
            <a:avLst/>
          </a:prstGeom>
          <a:solidFill>
            <a:srgbClr val="F3F6FB"/>
          </a:solidFill>
          <a:ln w="19050">
            <a:solidFill>
              <a:srgbClr val="C2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3068" y="5230368"/>
            <a:ext cx="2788920" cy="886968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0228" y="5431537"/>
            <a:ext cx="260604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C28800"/>
                </a:solidFill>
              </a:rPr>
              <a:t>/loop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9148" y="5468112"/>
            <a:ext cx="8138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>
                <a:solidFill>
                  <a:srgbClr val="0F1E3C"/>
                </a:solidFill>
              </a:rPr>
              <a:t>讓某件事每隔一段時間重複執行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068" y="6327649"/>
            <a:ext cx="113385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0A366"/>
                </a:solidFill>
              </a:rPr>
              <a:t>💡  你可以寫自己的 SKILL！只要用一個 Markdown 文件說明「遇到 OO 情況要怎麼做」就完成了</a:t>
            </a:r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EA323701-D719-DF55-077C-F7EA844FB67F}"/>
              </a:ext>
            </a:extLst>
          </p:cNvPr>
          <p:cNvSpPr txBox="1"/>
          <p:nvPr/>
        </p:nvSpPr>
        <p:spPr>
          <a:xfrm>
            <a:off x="413068" y="590788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 err="1">
                <a:solidFill>
                  <a:srgbClr val="FFFFFF"/>
                </a:solidFill>
              </a:rPr>
              <a:t>每個skills</a:t>
            </a:r>
            <a:r>
              <a:rPr lang="en-US" b="1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應該只做一件事，而且要做好，不要建立萬能的skill，而是為不同的任務建立獨立的skills</a:t>
            </a:r>
            <a:endParaRPr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E06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8" y="9144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怎麼叫 AI 用 SKILL？兩種方式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413068" y="1170432"/>
            <a:ext cx="5486400" cy="5349240"/>
          </a:xfrm>
          <a:prstGeom prst="rect">
            <a:avLst/>
          </a:prstGeom>
          <a:solidFill>
            <a:srgbClr val="F3F6FB"/>
          </a:solidFill>
          <a:ln w="2540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5948" y="1280161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06C10"/>
                </a:solidFill>
              </a:rPr>
              <a:t>🙋  你主動叫它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5948" y="1810513"/>
            <a:ext cx="51206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4A5A78"/>
                </a:solidFill>
              </a:rPr>
              <a:t>直接打斜線加指令名稱</a:t>
            </a:r>
          </a:p>
        </p:txBody>
      </p:sp>
      <p:sp>
        <p:nvSpPr>
          <p:cNvPr id="8" name="Rectangle 7"/>
          <p:cNvSpPr/>
          <p:nvPr/>
        </p:nvSpPr>
        <p:spPr>
          <a:xfrm>
            <a:off x="687388" y="2331720"/>
            <a:ext cx="4846320" cy="658368"/>
          </a:xfrm>
          <a:prstGeom prst="rect">
            <a:avLst/>
          </a:prstGeom>
          <a:solidFill>
            <a:srgbClr val="E8EFF8"/>
          </a:solidFill>
          <a:ln w="1270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0268" y="237744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06C10"/>
                </a:solidFill>
              </a:rPr>
              <a:t>/code-review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388" y="3136391"/>
            <a:ext cx="4846320" cy="658368"/>
          </a:xfrm>
          <a:prstGeom prst="rect">
            <a:avLst/>
          </a:prstGeom>
          <a:solidFill>
            <a:srgbClr val="E8EFF8"/>
          </a:solidFill>
          <a:ln w="1270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0268" y="3182112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06C10"/>
                </a:solidFill>
              </a:rPr>
              <a:t>/deploy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7388" y="3941063"/>
            <a:ext cx="4846320" cy="658368"/>
          </a:xfrm>
          <a:prstGeom prst="rect">
            <a:avLst/>
          </a:prstGeom>
          <a:solidFill>
            <a:srgbClr val="E8EFF8"/>
          </a:solidFill>
          <a:ln w="1270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0268" y="3986784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06C10"/>
                </a:solidFill>
              </a:rPr>
              <a:t>/security-review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388" y="4745736"/>
            <a:ext cx="4846320" cy="658368"/>
          </a:xfrm>
          <a:prstGeom prst="rect">
            <a:avLst/>
          </a:prstGeom>
          <a:solidFill>
            <a:srgbClr val="E8EFF8"/>
          </a:solidFill>
          <a:ln w="1270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68" y="4791456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06C10"/>
                </a:solidFill>
              </a:rPr>
              <a:t>/summarize-changes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5948" y="61722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28800"/>
                </a:solidFill>
              </a:rPr>
              <a:t>適合：你清楚知道要做什麼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3788" y="1170432"/>
            <a:ext cx="5605272" cy="5349240"/>
          </a:xfrm>
          <a:prstGeom prst="rect">
            <a:avLst/>
          </a:prstGeom>
          <a:solidFill>
            <a:srgbClr val="F3F6FB"/>
          </a:solidFill>
          <a:ln w="2540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6668" y="1280161"/>
            <a:ext cx="5212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A366"/>
                </a:solidFill>
              </a:rPr>
              <a:t>🤖  AI 自動判斷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6668" y="1810513"/>
            <a:ext cx="521208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4A5A78"/>
                </a:solidFill>
              </a:rPr>
              <a:t>你說的話讓 AI 自己判斷要用哪個 Skill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6668" y="2331720"/>
            <a:ext cx="5212080" cy="12344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3828" y="2377440"/>
            <a:ext cx="4983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你說：「這次有哪些改動？」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3828" y="2816352"/>
            <a:ext cx="4983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A366"/>
                </a:solidFill>
              </a:rPr>
              <a:t>→ AI 自動用整理 git 差異的 Skill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6668" y="3721608"/>
            <a:ext cx="5212080" cy="12344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3828" y="3767328"/>
            <a:ext cx="4983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你說：「幫我看看 PR 有沒有問題」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3828" y="4206240"/>
            <a:ext cx="4983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A366"/>
                </a:solidFill>
              </a:rPr>
              <a:t>→ AI 自動用程式碼審查 Skill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6668" y="5111496"/>
            <a:ext cx="5212080" cy="123444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3828" y="5157216"/>
            <a:ext cx="4983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你說：「幫我建一個筆記本整理資料」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3828" y="5596128"/>
            <a:ext cx="4983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A366"/>
                </a:solidFill>
              </a:rPr>
              <a:t>→ AI 自動用 notebooklm Skill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6668" y="61722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28800"/>
                </a:solidFill>
              </a:rPr>
              <a:t>適合：你用自然語言描述問題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AFAD9E74-5FC7-4713-2C26-7662E8310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04" y="559410"/>
            <a:ext cx="11822391" cy="6178456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E50EA04-EC96-F5DD-AC26-99275F711EB1}"/>
              </a:ext>
            </a:extLst>
          </p:cNvPr>
          <p:cNvSpPr txBox="1"/>
          <p:nvPr/>
        </p:nvSpPr>
        <p:spPr>
          <a:xfrm>
            <a:off x="104775" y="120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hlinkClick r:id="rId3"/>
              </a:rPr>
              <a:t>https://www.skillhub.club/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361935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201168" cy="6858000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3068" y="1188721"/>
            <a:ext cx="112471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>
                <a:solidFill>
                  <a:srgbClr val="FFFFFF"/>
                </a:solidFill>
              </a:rPr>
              <a:t>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3068" y="2514601"/>
            <a:ext cx="112471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dirty="0">
                <a:solidFill>
                  <a:srgbClr val="FFFFFF"/>
                </a:solidFill>
              </a:rPr>
              <a:t>MCP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7668" y="4160520"/>
            <a:ext cx="6309360" cy="64008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3068" y="4315969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BBCCDD"/>
                </a:solidFill>
              </a:rPr>
              <a:t>讓 AI 能連到外部世界的「萬用插頭」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8" y="9144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什麼是 MCP？（先從生活比喻開始）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13068" y="1170432"/>
            <a:ext cx="11338560" cy="1371600"/>
          </a:xfrm>
          <a:prstGeom prst="rect">
            <a:avLst/>
          </a:prstGeom>
          <a:solidFill>
            <a:srgbClr val="F3F6FB"/>
          </a:solidFill>
          <a:ln w="25400">
            <a:solidFill>
              <a:srgbClr val="1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5948" y="1243584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77EC1"/>
                </a:solidFill>
              </a:rPr>
              <a:t>MCP 就像手機的「USB-C 插孔」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5948" y="1719072"/>
            <a:ext cx="10972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>
                <a:solidFill>
                  <a:srgbClr val="0F1E3C"/>
                </a:solidFill>
              </a:rPr>
              <a:t>以前每個廠牌插孔不一樣，現在一個插孔接所有設備。MCP 讓 AI 也能「插上」各種外部工具。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348" y="2743200"/>
            <a:ext cx="2788920" cy="3063240"/>
          </a:xfrm>
          <a:prstGeom prst="rect">
            <a:avLst/>
          </a:prstGeom>
          <a:solidFill>
            <a:srgbClr val="F3F6FB"/>
          </a:solidFill>
          <a:ln w="12700">
            <a:solidFill>
              <a:srgbClr val="1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7348" y="2834641"/>
            <a:ext cx="2788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>
                <a:solidFill>
                  <a:srgbClr val="0F1E3C"/>
                </a:solidFill>
              </a:rPr>
              <a:t>🗂️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076" y="3538729"/>
            <a:ext cx="257860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77EC1"/>
                </a:solidFill>
              </a:rPr>
              <a:t>連 Google 雲端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076" y="4041649"/>
            <a:ext cx="25786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4A5A78"/>
                </a:solidFill>
              </a:rPr>
              <a:t>叫 AI 去找 Google Drive
裡的文件、整理資料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0004" y="2743200"/>
            <a:ext cx="2788920" cy="3063240"/>
          </a:xfrm>
          <a:prstGeom prst="rect">
            <a:avLst/>
          </a:prstGeom>
          <a:solidFill>
            <a:srgbClr val="F3F6FB"/>
          </a:solidFill>
          <a:ln w="12700">
            <a:solidFill>
              <a:srgbClr val="1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30004" y="2834641"/>
            <a:ext cx="2788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>
                <a:solidFill>
                  <a:srgbClr val="0F1E3C"/>
                </a:solidFill>
              </a:rPr>
              <a:t>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9732" y="3538729"/>
            <a:ext cx="257860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77EC1"/>
                </a:solidFill>
              </a:rPr>
              <a:t>連 Notion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9732" y="4041649"/>
            <a:ext cx="25786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4A5A78"/>
                </a:solidFill>
              </a:rPr>
              <a:t>叫 AI 把會議紀錄整理好
直接存到 Notion 頁面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92660" y="2743200"/>
            <a:ext cx="2788920" cy="3063240"/>
          </a:xfrm>
          <a:prstGeom prst="rect">
            <a:avLst/>
          </a:prstGeom>
          <a:solidFill>
            <a:srgbClr val="F3F6FB"/>
          </a:solidFill>
          <a:ln w="12700">
            <a:solidFill>
              <a:srgbClr val="1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92660" y="2834641"/>
            <a:ext cx="2788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>
                <a:solidFill>
                  <a:srgbClr val="0F1E3C"/>
                </a:solidFill>
              </a:rPr>
              <a:t>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2388" y="3538729"/>
            <a:ext cx="257860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77EC1"/>
                </a:solidFill>
              </a:rPr>
              <a:t>連學術資料庫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2388" y="4041649"/>
            <a:ext cx="25786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4A5A78"/>
                </a:solidFill>
              </a:rPr>
              <a:t>叫 AI 幫你搜尋論文
整理成文獻回顧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55316" y="2743200"/>
            <a:ext cx="2788920" cy="3063240"/>
          </a:xfrm>
          <a:prstGeom prst="rect">
            <a:avLst/>
          </a:prstGeom>
          <a:solidFill>
            <a:srgbClr val="F3F6FB"/>
          </a:solidFill>
          <a:ln w="12700">
            <a:solidFill>
              <a:srgbClr val="1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55316" y="2834641"/>
            <a:ext cx="2788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>
                <a:solidFill>
                  <a:srgbClr val="0F1E3C"/>
                </a:solidFill>
              </a:rPr>
              <a:t>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5044" y="3538729"/>
            <a:ext cx="257860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77EC1"/>
                </a:solidFill>
              </a:rPr>
              <a:t>連 GitHub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5044" y="4041649"/>
            <a:ext cx="25786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4A5A78"/>
                </a:solidFill>
              </a:rPr>
              <a:t>叫 AI 審查你的程式碼
或自動建立 Issue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3068" y="5925312"/>
            <a:ext cx="11338560" cy="658368"/>
          </a:xfrm>
          <a:prstGeom prst="rect">
            <a:avLst/>
          </a:prstGeom>
          <a:solidFill>
            <a:srgbClr val="F3F6FB"/>
          </a:solidFill>
          <a:ln w="1905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5948" y="6016752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A366"/>
                </a:solidFill>
              </a:rPr>
              <a:t>沒有 MCP：AI 只活在對話框裡　　有了 MCP：AI 可以操作真實的工具！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8" y="9144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MCP 的架構長什麼樣？（簡單版）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3188" y="1170432"/>
            <a:ext cx="9418320" cy="1115568"/>
          </a:xfrm>
          <a:prstGeom prst="rect">
            <a:avLst/>
          </a:prstGeom>
          <a:solidFill>
            <a:srgbClr val="F3F6FB"/>
          </a:solidFill>
          <a:ln w="2540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56068" y="1261872"/>
            <a:ext cx="9144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0A366"/>
                </a:solidFill>
              </a:rPr>
              <a:t>🤖  AI 應用程式（例如 Claude Code）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6068" y="1764793"/>
            <a:ext cx="9144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4A5A78"/>
                </a:solidFill>
              </a:rPr>
              <a:t>你說話的對象，負責理解你的需求、決定要用哪個工具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6388" y="2322577"/>
            <a:ext cx="39319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4A5A78"/>
                </a:solidFill>
              </a:rPr>
              <a:t>↕  透過 MCP 協議溝通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3188" y="2788920"/>
            <a:ext cx="9418320" cy="1115568"/>
          </a:xfrm>
          <a:prstGeom prst="rect">
            <a:avLst/>
          </a:prstGeom>
          <a:solidFill>
            <a:srgbClr val="F3F6FB"/>
          </a:solidFill>
          <a:ln w="25400">
            <a:solidFill>
              <a:srgbClr val="1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56068" y="2880360"/>
            <a:ext cx="9144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77EC1"/>
                </a:solidFill>
              </a:rPr>
              <a:t>🔌  MCP Server（中間橋樑）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6068" y="3383280"/>
            <a:ext cx="9144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4A5A78"/>
                </a:solidFill>
              </a:rPr>
              <a:t>把 AI 的請求「翻譯」成外部工具能懂的語言，反之亦然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6388" y="3941064"/>
            <a:ext cx="39319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4A5A78"/>
                </a:solidFill>
              </a:rPr>
              <a:t>↕  讀取 / 執行 / 回傳結果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3188" y="4407407"/>
            <a:ext cx="9418320" cy="1115568"/>
          </a:xfrm>
          <a:prstGeom prst="rect">
            <a:avLst/>
          </a:prstGeom>
          <a:solidFill>
            <a:srgbClr val="F3F6FB"/>
          </a:solidFill>
          <a:ln w="2540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56068" y="4498847"/>
            <a:ext cx="9144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E06C10"/>
                </a:solidFill>
              </a:rPr>
              <a:t>🌐  外部工具（Google Drive、Notion、GitHub...）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6068" y="5001769"/>
            <a:ext cx="91440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4A5A78"/>
                </a:solidFill>
              </a:rPr>
              <a:t>真正做事的地方：存資料、搜尋、執行操作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3068" y="5742432"/>
            <a:ext cx="11338560" cy="658368"/>
          </a:xfrm>
          <a:prstGeom prst="rect">
            <a:avLst/>
          </a:prstGeom>
          <a:solidFill>
            <a:srgbClr val="F3F6FB"/>
          </a:solidFill>
          <a:ln w="12700">
            <a:solidFill>
              <a:srgbClr val="1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5948" y="5833873"/>
            <a:ext cx="109728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>
                <a:solidFill>
                  <a:srgbClr val="0F1E3C"/>
                </a:solidFill>
              </a:rPr>
              <a:t>💡  你只要跟 AI 說話，它會自己去找對的工具幫你做事，你不需要知道背後怎麼連線的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4943" y="197703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 err="1">
                <a:solidFill>
                  <a:srgbClr val="FFFFFF"/>
                </a:solidFill>
              </a:rPr>
              <a:t>實際感受一下</a:t>
            </a:r>
            <a:r>
              <a:rPr sz="3000" b="1" dirty="0">
                <a:solidFill>
                  <a:srgbClr val="FFFFFF"/>
                </a:solidFill>
              </a:rPr>
              <a:t> MCP </a:t>
            </a:r>
            <a:r>
              <a:rPr sz="3000" b="1" dirty="0" err="1">
                <a:solidFill>
                  <a:srgbClr val="FFFFFF"/>
                </a:solidFill>
              </a:rPr>
              <a:t>的威力</a:t>
            </a:r>
            <a:endParaRPr sz="3000" b="1" dirty="0">
              <a:solidFill>
                <a:srgbClr val="FFFFFF"/>
              </a:solidFill>
            </a:endParaRP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3F845DC8-BD93-E2E6-6713-8431596DB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418" y="1203543"/>
            <a:ext cx="2169671" cy="563809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8B326161-AC04-B2D9-B4E5-B96739459D51}"/>
              </a:ext>
            </a:extLst>
          </p:cNvPr>
          <p:cNvSpPr/>
          <p:nvPr/>
        </p:nvSpPr>
        <p:spPr>
          <a:xfrm>
            <a:off x="1846253" y="1225704"/>
            <a:ext cx="1272728" cy="6156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21" name="圖形 20" descr="手背向前食指朝右指 外框">
            <a:extLst>
              <a:ext uri="{FF2B5EF4-FFF2-40B4-BE49-F238E27FC236}">
                <a16:creationId xmlns:a16="http://schemas.microsoft.com/office/drawing/2014/main" id="{CFA8C267-D3C5-D5FB-9CE5-28A1AE8989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3118981" y="1194995"/>
            <a:ext cx="730949" cy="646331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C70E6EA2-FBA8-CC5E-331D-AAEA41B09E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8182" y="1841326"/>
            <a:ext cx="7772400" cy="4771424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31D69F3A-6ACF-6C54-0F2A-3B1583200419}"/>
              </a:ext>
            </a:extLst>
          </p:cNvPr>
          <p:cNvSpPr/>
          <p:nvPr/>
        </p:nvSpPr>
        <p:spPr>
          <a:xfrm>
            <a:off x="9664580" y="2204580"/>
            <a:ext cx="1766001" cy="4227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833A472-9217-48F3-2825-CC8FD48230C2}"/>
              </a:ext>
            </a:extLst>
          </p:cNvPr>
          <p:cNvSpPr/>
          <p:nvPr/>
        </p:nvSpPr>
        <p:spPr>
          <a:xfrm>
            <a:off x="4656258" y="2204579"/>
            <a:ext cx="404258" cy="4227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25" name="圖形 24" descr="手背向前食指朝右指 外框">
            <a:extLst>
              <a:ext uri="{FF2B5EF4-FFF2-40B4-BE49-F238E27FC236}">
                <a16:creationId xmlns:a16="http://schemas.microsoft.com/office/drawing/2014/main" id="{BE58CD26-F3A5-DB0F-6D2E-AD45079BA5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 flipH="1">
            <a:off x="4534714" y="1457122"/>
            <a:ext cx="730949" cy="646331"/>
          </a:xfrm>
          <a:prstGeom prst="rect">
            <a:avLst/>
          </a:prstGeom>
        </p:spPr>
      </p:pic>
      <p:pic>
        <p:nvPicPr>
          <p:cNvPr id="26" name="圖形 25" descr="手背向前食指朝右指 外框">
            <a:extLst>
              <a:ext uri="{FF2B5EF4-FFF2-40B4-BE49-F238E27FC236}">
                <a16:creationId xmlns:a16="http://schemas.microsoft.com/office/drawing/2014/main" id="{B50B7F4D-62E9-9309-6844-1C1E3A800F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 flipH="1">
            <a:off x="9883993" y="1486532"/>
            <a:ext cx="730949" cy="646331"/>
          </a:xfrm>
          <a:prstGeom prst="rect">
            <a:avLst/>
          </a:prstGeom>
        </p:spPr>
      </p:pic>
      <p:sp>
        <p:nvSpPr>
          <p:cNvPr id="27" name="文字方塊 26">
            <a:extLst>
              <a:ext uri="{FF2B5EF4-FFF2-40B4-BE49-F238E27FC236}">
                <a16:creationId xmlns:a16="http://schemas.microsoft.com/office/drawing/2014/main" id="{33E4DDC6-DA73-7154-59A5-BFCAC7A37C9E}"/>
              </a:ext>
            </a:extLst>
          </p:cNvPr>
          <p:cNvSpPr txBox="1"/>
          <p:nvPr/>
        </p:nvSpPr>
        <p:spPr>
          <a:xfrm>
            <a:off x="3429050" y="1369093"/>
            <a:ext cx="1235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1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03058CBD-F723-ADD3-D4B2-9594A1D1C619}"/>
              </a:ext>
            </a:extLst>
          </p:cNvPr>
          <p:cNvSpPr txBox="1"/>
          <p:nvPr/>
        </p:nvSpPr>
        <p:spPr>
          <a:xfrm>
            <a:off x="10127661" y="1493110"/>
            <a:ext cx="1235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2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FC5525AF-8FFC-D052-1175-2713F6F1A7CB}"/>
              </a:ext>
            </a:extLst>
          </p:cNvPr>
          <p:cNvSpPr txBox="1"/>
          <p:nvPr/>
        </p:nvSpPr>
        <p:spPr>
          <a:xfrm>
            <a:off x="4768771" y="1483097"/>
            <a:ext cx="1235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3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5F0C2-840D-2D7B-2FA7-FA558449D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013EAC-5698-3990-7960-43CA66F2F09C}"/>
              </a:ext>
            </a:extLst>
          </p:cNvPr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D6AE7F-521B-7251-39A0-024BBA90AED5}"/>
              </a:ext>
            </a:extLst>
          </p:cNvPr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211132-0D24-A872-973F-5C30F0B7177D}"/>
              </a:ext>
            </a:extLst>
          </p:cNvPr>
          <p:cNvSpPr txBox="1"/>
          <p:nvPr/>
        </p:nvSpPr>
        <p:spPr>
          <a:xfrm>
            <a:off x="174943" y="197703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 err="1">
                <a:solidFill>
                  <a:srgbClr val="FFFFFF"/>
                </a:solidFill>
              </a:rPr>
              <a:t>實際感受一下</a:t>
            </a:r>
            <a:r>
              <a:rPr sz="3000" b="1" dirty="0">
                <a:solidFill>
                  <a:srgbClr val="FFFFFF"/>
                </a:solidFill>
              </a:rPr>
              <a:t> MCP </a:t>
            </a:r>
            <a:r>
              <a:rPr sz="3000" b="1" dirty="0" err="1">
                <a:solidFill>
                  <a:srgbClr val="FFFFFF"/>
                </a:solidFill>
              </a:rPr>
              <a:t>的威力</a:t>
            </a:r>
            <a:endParaRPr sz="3000" b="1" dirty="0">
              <a:solidFill>
                <a:srgbClr val="FFFFFF"/>
              </a:solidFill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7C416DE-E738-0439-9AA5-F54EEB866D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91"/>
          <a:stretch>
            <a:fillRect/>
          </a:stretch>
        </p:blipFill>
        <p:spPr>
          <a:xfrm>
            <a:off x="978907" y="1203543"/>
            <a:ext cx="10081575" cy="553495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292E773-1722-3CF0-29DA-3B91915860BD}"/>
              </a:ext>
            </a:extLst>
          </p:cNvPr>
          <p:cNvSpPr/>
          <p:nvPr/>
        </p:nvSpPr>
        <p:spPr>
          <a:xfrm>
            <a:off x="846256" y="2267210"/>
            <a:ext cx="1766001" cy="4227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0" name="圖形 9" descr="手背向前食指朝右指 外框">
            <a:extLst>
              <a:ext uri="{FF2B5EF4-FFF2-40B4-BE49-F238E27FC236}">
                <a16:creationId xmlns:a16="http://schemas.microsoft.com/office/drawing/2014/main" id="{259868D9-384E-F602-F671-30804DE6F1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 flipH="1">
            <a:off x="9883993" y="1486532"/>
            <a:ext cx="730949" cy="646331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6F2ACE95-267C-42F1-D503-4D615EFE2E5F}"/>
              </a:ext>
            </a:extLst>
          </p:cNvPr>
          <p:cNvSpPr txBox="1"/>
          <p:nvPr/>
        </p:nvSpPr>
        <p:spPr>
          <a:xfrm>
            <a:off x="10127661" y="1493110"/>
            <a:ext cx="1235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2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pic>
        <p:nvPicPr>
          <p:cNvPr id="12" name="圖形 11" descr="手背向前食指朝右指 外框">
            <a:extLst>
              <a:ext uri="{FF2B5EF4-FFF2-40B4-BE49-F238E27FC236}">
                <a16:creationId xmlns:a16="http://schemas.microsoft.com/office/drawing/2014/main" id="{EE155141-663C-7C08-DAF2-B54862B822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 flipH="1">
            <a:off x="1577058" y="1624124"/>
            <a:ext cx="730949" cy="646331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95A9F47D-29F7-ECD6-9B66-FD32463C9F03}"/>
              </a:ext>
            </a:extLst>
          </p:cNvPr>
          <p:cNvSpPr txBox="1"/>
          <p:nvPr/>
        </p:nvSpPr>
        <p:spPr>
          <a:xfrm>
            <a:off x="1820726" y="1630702"/>
            <a:ext cx="1235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1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FBAF4EE-A45C-79AF-5406-14CAF1BD04D7}"/>
              </a:ext>
            </a:extLst>
          </p:cNvPr>
          <p:cNvSpPr/>
          <p:nvPr/>
        </p:nvSpPr>
        <p:spPr>
          <a:xfrm>
            <a:off x="8562908" y="2464739"/>
            <a:ext cx="1766001" cy="4227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50637D0-4E5E-5CC3-406C-9B0FDDDB7F65}"/>
              </a:ext>
            </a:extLst>
          </p:cNvPr>
          <p:cNvSpPr/>
          <p:nvPr/>
        </p:nvSpPr>
        <p:spPr>
          <a:xfrm>
            <a:off x="1942532" y="1089389"/>
            <a:ext cx="1766001" cy="4227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744062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023BB-FFCD-1305-E65F-FF004E068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E6A035-F02A-4845-9B60-E20EB2E12779}"/>
              </a:ext>
            </a:extLst>
          </p:cNvPr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8AB4AB-E4FA-D7C6-C9A9-14A645FF3C7A}"/>
              </a:ext>
            </a:extLst>
          </p:cNvPr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499F36-B5EF-4D5E-08AA-2F38C2381F34}"/>
              </a:ext>
            </a:extLst>
          </p:cNvPr>
          <p:cNvSpPr txBox="1"/>
          <p:nvPr/>
        </p:nvSpPr>
        <p:spPr>
          <a:xfrm>
            <a:off x="174943" y="197703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 err="1">
                <a:solidFill>
                  <a:srgbClr val="FFFFFF"/>
                </a:solidFill>
              </a:rPr>
              <a:t>實際感受一下</a:t>
            </a:r>
            <a:r>
              <a:rPr sz="3000" b="1" dirty="0">
                <a:solidFill>
                  <a:srgbClr val="FFFFFF"/>
                </a:solidFill>
              </a:rPr>
              <a:t> MCP </a:t>
            </a:r>
            <a:r>
              <a:rPr sz="3000" b="1" dirty="0" err="1">
                <a:solidFill>
                  <a:srgbClr val="FFFFFF"/>
                </a:solidFill>
              </a:rPr>
              <a:t>的威力</a:t>
            </a:r>
            <a:endParaRPr sz="3000" b="1" dirty="0">
              <a:solidFill>
                <a:srgbClr val="FFFFFF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FBE05F1-38B3-B40D-5A9F-EB48C699E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712" y="1259978"/>
            <a:ext cx="9820666" cy="531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7051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5269D-3BFD-2B98-C240-4874792BA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AB2787-0056-F1E0-8BBF-89431B8CBB2A}"/>
              </a:ext>
            </a:extLst>
          </p:cNvPr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B408C2-DF6A-D70D-4F13-BD1D8E6C8B64}"/>
              </a:ext>
            </a:extLst>
          </p:cNvPr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FD2BE0-4251-FA28-33BF-983398D85FA5}"/>
              </a:ext>
            </a:extLst>
          </p:cNvPr>
          <p:cNvSpPr txBox="1"/>
          <p:nvPr/>
        </p:nvSpPr>
        <p:spPr>
          <a:xfrm>
            <a:off x="174943" y="197703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 err="1">
                <a:solidFill>
                  <a:srgbClr val="FFFFFF"/>
                </a:solidFill>
              </a:rPr>
              <a:t>實際感受一下</a:t>
            </a:r>
            <a:r>
              <a:rPr sz="3000" b="1" dirty="0">
                <a:solidFill>
                  <a:srgbClr val="FFFFFF"/>
                </a:solidFill>
              </a:rPr>
              <a:t> MCP </a:t>
            </a:r>
            <a:r>
              <a:rPr sz="3000" b="1" dirty="0" err="1">
                <a:solidFill>
                  <a:srgbClr val="FFFFFF"/>
                </a:solidFill>
              </a:rPr>
              <a:t>的威力</a:t>
            </a:r>
            <a:endParaRPr sz="3000" b="1" dirty="0">
              <a:solidFill>
                <a:srgbClr val="FFFFFF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4923DA0-7050-2E16-6191-9581D4208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822" y="1385897"/>
            <a:ext cx="9795158" cy="514016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E7F2E1E-E007-878A-958C-006ED6737188}"/>
              </a:ext>
            </a:extLst>
          </p:cNvPr>
          <p:cNvSpPr/>
          <p:nvPr/>
        </p:nvSpPr>
        <p:spPr>
          <a:xfrm>
            <a:off x="6847230" y="2832384"/>
            <a:ext cx="3296011" cy="6649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7" name="圖形 6" descr="手背向前食指朝右指 外框">
            <a:extLst>
              <a:ext uri="{FF2B5EF4-FFF2-40B4-BE49-F238E27FC236}">
                <a16:creationId xmlns:a16="http://schemas.microsoft.com/office/drawing/2014/main" id="{C443027C-4EB8-991B-BF96-5316DDBF1E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 flipH="1">
            <a:off x="9667176" y="2342050"/>
            <a:ext cx="730949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15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CA41D-6AB7-1A34-73CE-3E9F7E096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E1E702-F14C-7C09-85BD-9F8CF7A6BF09}"/>
              </a:ext>
            </a:extLst>
          </p:cNvPr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106BAA-7210-E5B0-26F4-A053853ACF2A}"/>
              </a:ext>
            </a:extLst>
          </p:cNvPr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B1B63F-E868-16DC-C66B-59DDA61ABB36}"/>
              </a:ext>
            </a:extLst>
          </p:cNvPr>
          <p:cNvSpPr txBox="1"/>
          <p:nvPr/>
        </p:nvSpPr>
        <p:spPr>
          <a:xfrm>
            <a:off x="174943" y="197703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 err="1">
                <a:solidFill>
                  <a:srgbClr val="FFFFFF"/>
                </a:solidFill>
              </a:rPr>
              <a:t>實際感受一下</a:t>
            </a:r>
            <a:r>
              <a:rPr sz="3000" b="1" dirty="0">
                <a:solidFill>
                  <a:srgbClr val="FFFFFF"/>
                </a:solidFill>
              </a:rPr>
              <a:t> MCP </a:t>
            </a:r>
            <a:r>
              <a:rPr sz="3000" b="1" dirty="0" err="1">
                <a:solidFill>
                  <a:srgbClr val="FFFFFF"/>
                </a:solidFill>
              </a:rPr>
              <a:t>的威力</a:t>
            </a:r>
            <a:endParaRPr sz="3000" b="1" dirty="0">
              <a:solidFill>
                <a:srgbClr val="FFFFFF"/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B695645-B127-552E-95BE-5EA802C19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10" y="1168538"/>
            <a:ext cx="7828767" cy="5446099"/>
          </a:xfrm>
          <a:prstGeom prst="rect">
            <a:avLst/>
          </a:prstGeom>
        </p:spPr>
      </p:pic>
      <p:pic>
        <p:nvPicPr>
          <p:cNvPr id="8" name="圖形 7" descr="手背向前食指朝右指 外框">
            <a:extLst>
              <a:ext uri="{FF2B5EF4-FFF2-40B4-BE49-F238E27FC236}">
                <a16:creationId xmlns:a16="http://schemas.microsoft.com/office/drawing/2014/main" id="{A0E3F151-5BA4-30A2-B4E6-529A88914A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2153255" y="4693001"/>
            <a:ext cx="730949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0193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3AC11-F8D4-3054-7693-3A78388D6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B88174-8F79-14CF-0654-29BB565A7313}"/>
              </a:ext>
            </a:extLst>
          </p:cNvPr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B985DA-815E-8FF2-3B05-B9220A35FDD0}"/>
              </a:ext>
            </a:extLst>
          </p:cNvPr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47571F-C781-7D22-616E-FF2ED8800CAE}"/>
              </a:ext>
            </a:extLst>
          </p:cNvPr>
          <p:cNvSpPr txBox="1"/>
          <p:nvPr/>
        </p:nvSpPr>
        <p:spPr>
          <a:xfrm>
            <a:off x="174943" y="197703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 err="1">
                <a:solidFill>
                  <a:srgbClr val="FFFFFF"/>
                </a:solidFill>
              </a:rPr>
              <a:t>實際感受一下</a:t>
            </a:r>
            <a:r>
              <a:rPr sz="3000" b="1" dirty="0">
                <a:solidFill>
                  <a:srgbClr val="FFFFFF"/>
                </a:solidFill>
              </a:rPr>
              <a:t> MCP </a:t>
            </a:r>
            <a:r>
              <a:rPr sz="3000" b="1" dirty="0" err="1">
                <a:solidFill>
                  <a:srgbClr val="FFFFFF"/>
                </a:solidFill>
              </a:rPr>
              <a:t>的威力</a:t>
            </a:r>
            <a:endParaRPr sz="3000" b="1" dirty="0">
              <a:solidFill>
                <a:srgbClr val="FFFFFF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5437AB2-47B6-3528-5555-2462D5692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275" y="1051560"/>
            <a:ext cx="8592333" cy="5810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0585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2DA3F-01E8-0B69-1E2D-ADE140745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AB15B1-1A7B-F52C-87B0-4F7D2F94AD2D}"/>
              </a:ext>
            </a:extLst>
          </p:cNvPr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043901-A424-D82E-BB60-7F6EBA3C9218}"/>
              </a:ext>
            </a:extLst>
          </p:cNvPr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DDB096-37F5-5683-337E-F9EFAC1B3EB2}"/>
              </a:ext>
            </a:extLst>
          </p:cNvPr>
          <p:cNvSpPr txBox="1"/>
          <p:nvPr/>
        </p:nvSpPr>
        <p:spPr>
          <a:xfrm>
            <a:off x="174943" y="197703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 err="1">
                <a:solidFill>
                  <a:srgbClr val="FFFFFF"/>
                </a:solidFill>
              </a:rPr>
              <a:t>實際感受一下</a:t>
            </a:r>
            <a:r>
              <a:rPr sz="3000" b="1" dirty="0">
                <a:solidFill>
                  <a:srgbClr val="FFFFFF"/>
                </a:solidFill>
              </a:rPr>
              <a:t> MCP </a:t>
            </a:r>
            <a:r>
              <a:rPr sz="3000" b="1" dirty="0" err="1">
                <a:solidFill>
                  <a:srgbClr val="FFFFFF"/>
                </a:solidFill>
              </a:rPr>
              <a:t>的威力</a:t>
            </a:r>
            <a:endParaRPr sz="3000" b="1" dirty="0">
              <a:solidFill>
                <a:srgbClr val="FFFFFF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39AED3B-75B9-0EE9-6CA9-0E406C05D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318" y="1112103"/>
            <a:ext cx="7512311" cy="558057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98DFD82-EE20-4ED8-1BC8-5F590E63C78B}"/>
              </a:ext>
            </a:extLst>
          </p:cNvPr>
          <p:cNvSpPr/>
          <p:nvPr/>
        </p:nvSpPr>
        <p:spPr>
          <a:xfrm>
            <a:off x="1954060" y="2642992"/>
            <a:ext cx="6876789" cy="165343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900104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1EC58-5F07-957E-9C30-AF85FC9CA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F23A34-ACA8-D90F-A995-3EA3943E501A}"/>
              </a:ext>
            </a:extLst>
          </p:cNvPr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8C860A-A22D-FC41-A83D-7DDD334B6B2C}"/>
              </a:ext>
            </a:extLst>
          </p:cNvPr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00C2C5-C01E-3325-300C-9C280F91B61B}"/>
              </a:ext>
            </a:extLst>
          </p:cNvPr>
          <p:cNvSpPr txBox="1"/>
          <p:nvPr/>
        </p:nvSpPr>
        <p:spPr>
          <a:xfrm>
            <a:off x="174943" y="197703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 err="1">
                <a:solidFill>
                  <a:srgbClr val="FFFFFF"/>
                </a:solidFill>
              </a:rPr>
              <a:t>實際感受一下</a:t>
            </a:r>
            <a:r>
              <a:rPr sz="3000" b="1" dirty="0">
                <a:solidFill>
                  <a:srgbClr val="FFFFFF"/>
                </a:solidFill>
              </a:rPr>
              <a:t> MCP </a:t>
            </a:r>
            <a:r>
              <a:rPr sz="3000" b="1" dirty="0" err="1">
                <a:solidFill>
                  <a:srgbClr val="FFFFFF"/>
                </a:solidFill>
              </a:rPr>
              <a:t>的威力</a:t>
            </a:r>
            <a:endParaRPr sz="3000" b="1" dirty="0">
              <a:solidFill>
                <a:srgbClr val="FFFFFF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4ABF8B5-030D-AA9E-32B8-C66D42103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83" y="1526974"/>
            <a:ext cx="10158869" cy="5331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5296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FB39E-07EE-96D2-1C57-EDE42D2EE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905B43-EB98-C143-FDA2-AA4A6C7E19D3}"/>
              </a:ext>
            </a:extLst>
          </p:cNvPr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EE0CAC-7A3F-36F5-0033-F3BEC2D2A7D3}"/>
              </a:ext>
            </a:extLst>
          </p:cNvPr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E9768B-8293-EC0F-9D87-2C9E2415C27D}"/>
              </a:ext>
            </a:extLst>
          </p:cNvPr>
          <p:cNvSpPr txBox="1"/>
          <p:nvPr/>
        </p:nvSpPr>
        <p:spPr>
          <a:xfrm>
            <a:off x="174943" y="197703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 err="1">
                <a:solidFill>
                  <a:srgbClr val="FFFFFF"/>
                </a:solidFill>
              </a:rPr>
              <a:t>實際感受一下</a:t>
            </a:r>
            <a:r>
              <a:rPr sz="3000" b="1" dirty="0">
                <a:solidFill>
                  <a:srgbClr val="FFFFFF"/>
                </a:solidFill>
              </a:rPr>
              <a:t> MCP </a:t>
            </a:r>
            <a:r>
              <a:rPr sz="3000" b="1" dirty="0" err="1">
                <a:solidFill>
                  <a:srgbClr val="FFFFFF"/>
                </a:solidFill>
              </a:rPr>
              <a:t>的威力</a:t>
            </a:r>
            <a:endParaRPr sz="3000" b="1" dirty="0">
              <a:solidFill>
                <a:srgbClr val="FFFFFF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BC836D6-B71F-C07A-81F6-DFC5906FE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34" y="1354941"/>
            <a:ext cx="11810823" cy="4319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6675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A5F4E-E5D9-61EA-37E1-FDF189748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4F8DE6-260F-9AA5-AB27-66843BB02014}"/>
              </a:ext>
            </a:extLst>
          </p:cNvPr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6A41AC-906C-5209-C1CF-93D10761B618}"/>
              </a:ext>
            </a:extLst>
          </p:cNvPr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EAD89-7558-9336-6BCF-B8C972CC61C3}"/>
              </a:ext>
            </a:extLst>
          </p:cNvPr>
          <p:cNvSpPr txBox="1"/>
          <p:nvPr/>
        </p:nvSpPr>
        <p:spPr>
          <a:xfrm>
            <a:off x="174943" y="197703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 err="1">
                <a:solidFill>
                  <a:srgbClr val="FFFFFF"/>
                </a:solidFill>
              </a:rPr>
              <a:t>實際感受一下</a:t>
            </a:r>
            <a:r>
              <a:rPr sz="3000" b="1" dirty="0">
                <a:solidFill>
                  <a:srgbClr val="FFFFFF"/>
                </a:solidFill>
              </a:rPr>
              <a:t> MCP </a:t>
            </a:r>
            <a:r>
              <a:rPr sz="3000" b="1" dirty="0" err="1">
                <a:solidFill>
                  <a:srgbClr val="FFFFFF"/>
                </a:solidFill>
              </a:rPr>
              <a:t>的威力</a:t>
            </a:r>
            <a:endParaRPr sz="3000" b="1" dirty="0">
              <a:solidFill>
                <a:srgbClr val="FFFFFF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E578DB4-813F-CBD2-1BC4-05C657528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76" y="1051560"/>
            <a:ext cx="10713016" cy="568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5734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9C5394E-A285-C46A-D0B8-3B1B4F5629B9}"/>
              </a:ext>
            </a:extLst>
          </p:cNvPr>
          <p:cNvSpPr txBox="1"/>
          <p:nvPr/>
        </p:nvSpPr>
        <p:spPr>
          <a:xfrm>
            <a:off x="165969" y="366479"/>
            <a:ext cx="609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>
                <a:hlinkClick r:id="rId2"/>
              </a:rPr>
              <a:t>🚀 Antigravity 2.0 使用手冊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AD2905B-53BA-5448-0F21-BA779426D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873" y="233716"/>
            <a:ext cx="7870869" cy="639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3132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201168" cy="6858000"/>
          </a:xfrm>
          <a:prstGeom prst="rect">
            <a:avLst/>
          </a:prstGeom>
          <a:solidFill>
            <a:srgbClr val="C2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3068" y="1188721"/>
            <a:ext cx="112471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3068" y="2514601"/>
            <a:ext cx="112471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Plugin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7668" y="4160520"/>
            <a:ext cx="6309360" cy="64008"/>
          </a:xfrm>
          <a:prstGeom prst="rect">
            <a:avLst/>
          </a:prstGeom>
          <a:solidFill>
            <a:srgbClr val="C2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3068" y="4315969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BBCCDD"/>
                </a:solidFill>
              </a:rPr>
              <a:t>把工具和技能打包在一起、分享給大家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C2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8" y="9144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什麼是 Plugin？（插件）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13068" y="1170432"/>
            <a:ext cx="11338560" cy="1280160"/>
          </a:xfrm>
          <a:prstGeom prst="rect">
            <a:avLst/>
          </a:prstGeom>
          <a:solidFill>
            <a:srgbClr val="F3F6FB"/>
          </a:solidFill>
          <a:ln w="25400">
            <a:solidFill>
              <a:srgbClr val="C2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5948" y="1243584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C28800"/>
                </a:solidFill>
              </a:rPr>
              <a:t>Plugin = SKILL + MCP 工具 + 其他設定，打包在一起，讓別人一鍵安裝就能用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5948" y="1719072"/>
            <a:ext cx="109728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>
                <a:solidFill>
                  <a:srgbClr val="0F1E3C"/>
                </a:solidFill>
              </a:rPr>
              <a:t>就像 Chrome 的「擴充功能」或手機的「App」，安裝了就多一種能力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413068" y="2606040"/>
            <a:ext cx="11338560" cy="1417320"/>
          </a:xfrm>
          <a:prstGeom prst="rect">
            <a:avLst/>
          </a:prstGeom>
          <a:solidFill>
            <a:srgbClr val="F3F6FB"/>
          </a:solidFill>
          <a:ln w="12700">
            <a:solidFill>
              <a:srgbClr val="C2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5948" y="2697480"/>
            <a:ext cx="109728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C28800"/>
                </a:solidFill>
              </a:rPr>
              <a:t>📦  一個 Plugin 裡面包含：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5988" y="3218688"/>
            <a:ext cx="237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E06C10"/>
                </a:solidFill>
              </a:rPr>
              <a:t>🎯 SKILL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5988" y="3639313"/>
            <a:ext cx="23774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4A5A78"/>
                </a:solidFill>
              </a:rPr>
              <a:t>做事的方法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2028" y="3218688"/>
            <a:ext cx="237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177EC1"/>
                </a:solidFill>
              </a:rPr>
              <a:t>🔌 MCP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2028" y="3639313"/>
            <a:ext cx="23774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4A5A78"/>
                </a:solidFill>
              </a:rPr>
              <a:t>連接的工具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8068" y="3218688"/>
            <a:ext cx="237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C02A78"/>
                </a:solidFill>
              </a:rPr>
              <a:t>⚙️ Hooks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8068" y="3639313"/>
            <a:ext cx="23774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4A5A78"/>
                </a:solidFill>
              </a:rPr>
              <a:t>自動觸發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4108" y="3218688"/>
            <a:ext cx="2377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4A5A78"/>
                </a:solidFill>
              </a:rPr>
              <a:t>📋 設定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4108" y="3639313"/>
            <a:ext cx="23774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4A5A78"/>
                </a:solidFill>
              </a:rPr>
              <a:t>環境與權限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3068" y="4251960"/>
            <a:ext cx="3703320" cy="1965960"/>
          </a:xfrm>
          <a:prstGeom prst="rect">
            <a:avLst/>
          </a:prstGeom>
          <a:solidFill>
            <a:srgbClr val="F3F6FB"/>
          </a:solidFill>
          <a:ln w="1905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7660" y="4343400"/>
            <a:ext cx="3383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A366"/>
                </a:solidFill>
              </a:rPr>
              <a:t>Telegram Plugin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7660" y="4828033"/>
            <a:ext cx="33832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4A5A78"/>
                </a:solidFill>
              </a:rPr>
              <a:t>讓 AI 能收你的 Telegram 訊息並自動回覆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4988" y="4251960"/>
            <a:ext cx="3703320" cy="1965960"/>
          </a:xfrm>
          <a:prstGeom prst="rect">
            <a:avLst/>
          </a:prstGeom>
          <a:solidFill>
            <a:srgbClr val="F3F6FB"/>
          </a:solidFill>
          <a:ln w="19050">
            <a:solidFill>
              <a:srgbClr val="1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09580" y="4343400"/>
            <a:ext cx="3383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77EC1"/>
                </a:solidFill>
              </a:rPr>
              <a:t>Vercel Plugin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9580" y="4828033"/>
            <a:ext cx="33832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4A5A78"/>
                </a:solidFill>
              </a:rPr>
              <a:t>讓 AI 能幫你把網站部署到 Vercel 雲端平台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6907" y="4251960"/>
            <a:ext cx="3703320" cy="1965960"/>
          </a:xfrm>
          <a:prstGeom prst="rect">
            <a:avLst/>
          </a:prstGeom>
          <a:solidFill>
            <a:srgbClr val="F3F6FB"/>
          </a:solidFill>
          <a:ln w="1905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41499" y="4343400"/>
            <a:ext cx="3383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06C10"/>
                </a:solidFill>
              </a:rPr>
              <a:t>Notion Plugin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1499" y="4828033"/>
            <a:ext cx="33832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4A5A78"/>
                </a:solidFill>
              </a:rPr>
              <a:t>讓 AI 能直接讀寫你的 Notion 頁面和資料庫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C2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8" y="9144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SKILL、MCP、Plugin 的關係怎麼分？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67348" y="1170432"/>
            <a:ext cx="3730752" cy="5440680"/>
          </a:xfrm>
          <a:prstGeom prst="rect">
            <a:avLst/>
          </a:prstGeom>
          <a:solidFill>
            <a:srgbClr val="F3F6FB"/>
          </a:solidFill>
          <a:ln w="2540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7348" y="1261872"/>
            <a:ext cx="3730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F1E3C"/>
                </a:solidFill>
              </a:rP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4508" y="1993393"/>
            <a:ext cx="3456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06C10"/>
                </a:solidFill>
              </a:rPr>
              <a:t>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508" y="2560320"/>
            <a:ext cx="3456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0F1E3C"/>
                </a:solidFill>
              </a:rPr>
              <a:t>決定「做事的方法」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641668" y="3090672"/>
            <a:ext cx="3200400" cy="347472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668" y="3108960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E06C10"/>
                </a:solidFill>
              </a:rPr>
              <a:t>類比：像食譜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228" y="3566160"/>
            <a:ext cx="33649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• 告訴 AI 碰到某狀況要怎麼處理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228" y="4224528"/>
            <a:ext cx="33649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• 用 Markdown 文件寫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228" y="4882896"/>
            <a:ext cx="33649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• 你或 AI 都可以觸發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7556" y="1170432"/>
            <a:ext cx="3730752" cy="5440680"/>
          </a:xfrm>
          <a:prstGeom prst="rect">
            <a:avLst/>
          </a:prstGeom>
          <a:solidFill>
            <a:srgbClr val="F3F6FB"/>
          </a:solidFill>
          <a:ln w="25400">
            <a:solidFill>
              <a:srgbClr val="1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17556" y="1261872"/>
            <a:ext cx="3730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F1E3C"/>
                </a:solidFill>
              </a:rPr>
              <a:t>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4716" y="1993393"/>
            <a:ext cx="3456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77EC1"/>
                </a:solidFill>
              </a:rPr>
              <a:t>MCP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4716" y="2560320"/>
            <a:ext cx="3456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0F1E3C"/>
                </a:solidFill>
              </a:rPr>
              <a:t>負責「連到外部工具」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1876" y="3090672"/>
            <a:ext cx="3200400" cy="347472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1876" y="3108960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177EC1"/>
                </a:solidFill>
              </a:rPr>
              <a:t>類比：像工具箱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0436" y="3566160"/>
            <a:ext cx="33649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• 讓 AI 能操作外部系統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0436" y="4224528"/>
            <a:ext cx="33649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• Google Drive、Notion 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0436" y="4882896"/>
            <a:ext cx="33649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• 統一標準，接一次接全部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67764" y="1170432"/>
            <a:ext cx="3730752" cy="5440680"/>
          </a:xfrm>
          <a:prstGeom prst="rect">
            <a:avLst/>
          </a:prstGeom>
          <a:solidFill>
            <a:srgbClr val="F3F6FB"/>
          </a:solidFill>
          <a:ln w="25400">
            <a:solidFill>
              <a:srgbClr val="C2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67764" y="1261872"/>
            <a:ext cx="3730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F1E3C"/>
                </a:solidFill>
              </a:rPr>
              <a:t>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4924" y="1993393"/>
            <a:ext cx="3456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C28800"/>
                </a:solidFill>
              </a:rPr>
              <a:t>Plugin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4924" y="2560320"/>
            <a:ext cx="3456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>
                <a:solidFill>
                  <a:srgbClr val="0F1E3C"/>
                </a:solidFill>
              </a:rPr>
              <a:t>把前兩個「打包分享」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42084" y="3090672"/>
            <a:ext cx="3200400" cy="347472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42084" y="3108960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C28800"/>
                </a:solidFill>
              </a:rPr>
              <a:t>類比：像 App 安裝包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0644" y="3566160"/>
            <a:ext cx="33649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• SKILL + MCP 打包在一起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0644" y="4224528"/>
            <a:ext cx="33649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• 別人安裝就直接能用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0644" y="4882896"/>
            <a:ext cx="33649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• 不用自己一個一個設定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3068" y="6510528"/>
            <a:ext cx="11338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00A366"/>
                </a:solidFill>
              </a:rPr>
              <a:t>安裝一個 Plugin → Skill 立刻可用 + MCP 工具自動開啟，一鍵搞定！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201168" cy="6858000"/>
          </a:xfrm>
          <a:prstGeom prst="rect">
            <a:avLst/>
          </a:prstGeom>
          <a:solidFill>
            <a:srgbClr val="C02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3068" y="1188721"/>
            <a:ext cx="112471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3068" y="2514601"/>
            <a:ext cx="112471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Harness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7668" y="4160520"/>
            <a:ext cx="6309360" cy="64008"/>
          </a:xfrm>
          <a:prstGeom prst="rect">
            <a:avLst/>
          </a:prstGeom>
          <a:solidFill>
            <a:srgbClr val="C02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3068" y="4315969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BBCCDD"/>
                </a:solidFill>
              </a:rPr>
              <a:t>AI 行動背後的「安全管理員」</a:t>
            </a:r>
          </a:p>
        </p:txBody>
      </p:sp>
      <p:pic>
        <p:nvPicPr>
          <p:cNvPr id="7" name="圖片 6" descr="Harness：決定 AI Agent 成敗的不是模型，是這個東西">
            <a:extLst>
              <a:ext uri="{FF2B5EF4-FFF2-40B4-BE49-F238E27FC236}">
                <a16:creationId xmlns:a16="http://schemas.microsoft.com/office/drawing/2014/main" id="{1755D0C2-E9F0-196B-97BD-3A441144C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943" y="134050"/>
            <a:ext cx="4136200" cy="2757466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C02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8" y="9144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什麼是 Harness？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13068" y="1170432"/>
            <a:ext cx="11338560" cy="1325880"/>
          </a:xfrm>
          <a:prstGeom prst="rect">
            <a:avLst/>
          </a:prstGeom>
          <a:solidFill>
            <a:srgbClr val="F3F6FB"/>
          </a:solidFill>
          <a:ln w="25400">
            <a:solidFill>
              <a:srgbClr val="C02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5948" y="1243584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02A78"/>
                </a:solidFill>
              </a:rPr>
              <a:t>Harness = AI 的「作業系統」＋「安全管理員」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5948" y="1719072"/>
            <a:ext cx="109728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>
                <a:solidFill>
                  <a:srgbClr val="0F1E3C"/>
                </a:solidFill>
              </a:rPr>
              <a:t>AI 想做任何事（讀檔、寫檔、上網、執行程式），都要先過 Harness 這一關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348" y="2743200"/>
            <a:ext cx="2743200" cy="3611880"/>
          </a:xfrm>
          <a:prstGeom prst="rect">
            <a:avLst/>
          </a:prstGeom>
          <a:solidFill>
            <a:srgbClr val="F3F6FB"/>
          </a:solidFill>
          <a:ln w="19050">
            <a:solidFill>
              <a:srgbClr val="C02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7348" y="2834641"/>
            <a:ext cx="27432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0F1E3C"/>
                </a:solidFill>
              </a:rP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076" y="3566160"/>
            <a:ext cx="2542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02A78"/>
                </a:solidFill>
              </a:rPr>
              <a:t>管理工具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076" y="4096513"/>
            <a:ext cx="254203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4A5A78"/>
                </a:solidFill>
              </a:rPr>
              <a:t>控制 AI 能用哪些工具
不能用哪些工具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0004" y="2743200"/>
            <a:ext cx="2743200" cy="3611880"/>
          </a:xfrm>
          <a:prstGeom prst="rect">
            <a:avLst/>
          </a:prstGeom>
          <a:solidFill>
            <a:srgbClr val="F3F6FB"/>
          </a:solidFill>
          <a:ln w="1905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30004" y="2834641"/>
            <a:ext cx="27432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0F1E3C"/>
                </a:solidFill>
              </a:rPr>
              <a:t>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9732" y="3566160"/>
            <a:ext cx="2542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06C10"/>
                </a:solidFill>
              </a:rPr>
              <a:t>把關安全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9732" y="4096513"/>
            <a:ext cx="254203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4A5A78"/>
                </a:solidFill>
              </a:rPr>
              <a:t>每個動作都要審核
確保 AI 不會做危險的事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92660" y="2743200"/>
            <a:ext cx="2743200" cy="3611880"/>
          </a:xfrm>
          <a:prstGeom prst="rect">
            <a:avLst/>
          </a:prstGeom>
          <a:solidFill>
            <a:srgbClr val="F3F6FB"/>
          </a:solidFill>
          <a:ln w="19050">
            <a:solidFill>
              <a:srgbClr val="1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92660" y="2834641"/>
            <a:ext cx="27432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0F1E3C"/>
                </a:solidFill>
              </a:rPr>
              <a:t>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2388" y="3566160"/>
            <a:ext cx="2542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77EC1"/>
                </a:solidFill>
              </a:rPr>
              <a:t>記錄所有動作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2388" y="4096513"/>
            <a:ext cx="254203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4A5A78"/>
                </a:solidFill>
              </a:rPr>
              <a:t>AI 做了什麼都有紀錄
方便你之後檢查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55316" y="2743200"/>
            <a:ext cx="2743200" cy="3611880"/>
          </a:xfrm>
          <a:prstGeom prst="rect">
            <a:avLst/>
          </a:prstGeom>
          <a:solidFill>
            <a:srgbClr val="F3F6FB"/>
          </a:solidFill>
          <a:ln w="1905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55316" y="2834641"/>
            <a:ext cx="27432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>
                <a:solidFill>
                  <a:srgbClr val="0F1E3C"/>
                </a:solidFill>
              </a:rPr>
              <a:t>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5044" y="3566160"/>
            <a:ext cx="25420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A366"/>
                </a:solidFill>
              </a:rPr>
              <a:t>協調多個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5044" y="4096513"/>
            <a:ext cx="254203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4A5A78"/>
                </a:solidFill>
              </a:rPr>
              <a:t>可以同時管理好幾個
AI 同時工作的場景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3068" y="6446520"/>
            <a:ext cx="11338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02A78"/>
                </a:solidFill>
              </a:rPr>
              <a:t>「AI 負責想，Harness 負責管」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C02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8" y="9144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Harness 怎麼決定 AI 能不能做某件事？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3068" y="1207008"/>
            <a:ext cx="113385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>
                <a:solidFill>
                  <a:srgbClr val="4A5A78"/>
                </a:solidFill>
              </a:rPr>
              <a:t>每次 AI 想執行一個動作，都要過三關審查 👇</a:t>
            </a:r>
          </a:p>
        </p:txBody>
      </p:sp>
      <p:sp>
        <p:nvSpPr>
          <p:cNvPr id="6" name="Rectangle 5"/>
          <p:cNvSpPr/>
          <p:nvPr/>
        </p:nvSpPr>
        <p:spPr>
          <a:xfrm>
            <a:off x="413068" y="1828800"/>
            <a:ext cx="11338560" cy="1389888"/>
          </a:xfrm>
          <a:prstGeom prst="rect">
            <a:avLst/>
          </a:prstGeom>
          <a:solidFill>
            <a:srgbClr val="F3F6FB"/>
          </a:solidFill>
          <a:ln w="25400">
            <a:solidFill>
              <a:srgbClr val="C0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3068" y="1828800"/>
            <a:ext cx="3108960" cy="1389888"/>
          </a:xfrm>
          <a:prstGeom prst="rect">
            <a:avLst/>
          </a:prstGeom>
          <a:solidFill>
            <a:srgbClr val="E8EFF8"/>
          </a:solidFill>
          <a:ln w="25400">
            <a:solidFill>
              <a:srgbClr val="C0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8516" y="1938529"/>
            <a:ext cx="283464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C02525"/>
                </a:solidFill>
              </a:rPr>
              <a:t>第一關：拒絕名單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8516" y="2487169"/>
            <a:ext cx="28346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4A5A78"/>
                </a:solidFill>
              </a:rPr>
              <a:t>裡面的事絕對不能做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4908" y="2011681"/>
            <a:ext cx="78638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0F1E3C"/>
                </a:solidFill>
              </a:rPr>
              <a:t>例如：「不能修改 .env 設定檔」
→ 就算 AI 想做，Harness 直接擋下來，AI 說什麼都沒用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068" y="3364991"/>
            <a:ext cx="11338560" cy="1389888"/>
          </a:xfrm>
          <a:prstGeom prst="rect">
            <a:avLst/>
          </a:prstGeom>
          <a:solidFill>
            <a:srgbClr val="F3F6FB"/>
          </a:solidFill>
          <a:ln w="25400">
            <a:solidFill>
              <a:srgbClr val="C2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3068" y="3364991"/>
            <a:ext cx="3108960" cy="1389888"/>
          </a:xfrm>
          <a:prstGeom prst="rect">
            <a:avLst/>
          </a:prstGeom>
          <a:solidFill>
            <a:srgbClr val="E8EFF8"/>
          </a:solidFill>
          <a:ln w="25400">
            <a:solidFill>
              <a:srgbClr val="C2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8516" y="3474721"/>
            <a:ext cx="283464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C28800"/>
                </a:solidFill>
              </a:rPr>
              <a:t>第二關：詢問名單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516" y="4023360"/>
            <a:ext cx="28346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4A5A78"/>
                </a:solidFill>
              </a:rPr>
              <a:t>要先問過你才能做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4908" y="3547873"/>
            <a:ext cx="78638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0F1E3C"/>
                </a:solidFill>
              </a:rPr>
              <a:t>例如：「刪除檔案」
→ Harness 會跳視窗問你「確定要刪嗎？」你說 OK 才執行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3068" y="4901183"/>
            <a:ext cx="11338560" cy="1389888"/>
          </a:xfrm>
          <a:prstGeom prst="rect">
            <a:avLst/>
          </a:prstGeom>
          <a:solidFill>
            <a:srgbClr val="F3F6FB"/>
          </a:solidFill>
          <a:ln w="2540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3068" y="4901183"/>
            <a:ext cx="3108960" cy="1389888"/>
          </a:xfrm>
          <a:prstGeom prst="rect">
            <a:avLst/>
          </a:prstGeom>
          <a:solidFill>
            <a:srgbClr val="E8EFF8"/>
          </a:solidFill>
          <a:ln w="2540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8516" y="5010913"/>
            <a:ext cx="283464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A366"/>
                </a:solidFill>
              </a:rPr>
              <a:t>第三關：允許名單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516" y="5559552"/>
            <a:ext cx="28346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4A5A78"/>
                </a:solidFill>
              </a:rPr>
              <a:t>直接放行不用問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4908" y="5084065"/>
            <a:ext cx="78638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0F1E3C"/>
                </a:solidFill>
              </a:rPr>
              <a:t>例如：「讀取程式碼」
→ AI 直接去讀，不用每次都跳確認視窗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3068" y="6473952"/>
            <a:ext cx="11338560" cy="384048"/>
          </a:xfrm>
          <a:prstGeom prst="rect">
            <a:avLst/>
          </a:prstGeom>
          <a:solidFill>
            <a:srgbClr val="E8EFF8"/>
          </a:solidFill>
          <a:ln w="19050">
            <a:solidFill>
              <a:srgbClr val="C0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5948" y="6510529"/>
            <a:ext cx="109728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2525"/>
                </a:solidFill>
              </a:rPr>
              <a:t>🔑  重要原則：第一關（拒絕）永遠贏。AI 說什麼都沒用，設定說不能做就是不能做。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C02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8" y="9144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Harness 還有個神奇功能：Hooks（事件鉤子）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13068" y="1170432"/>
            <a:ext cx="11338560" cy="1097280"/>
          </a:xfrm>
          <a:prstGeom prst="rect">
            <a:avLst/>
          </a:prstGeom>
          <a:solidFill>
            <a:srgbClr val="F3F6FB"/>
          </a:solidFill>
          <a:ln w="19050">
            <a:solidFill>
              <a:srgbClr val="C02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5948" y="1243585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C02A78"/>
                </a:solidFill>
              </a:rPr>
              <a:t>Hook 就是「當 XX 發生時，自動做 YY」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5948" y="1691641"/>
            <a:ext cx="109728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>
                <a:solidFill>
                  <a:srgbClr val="4A5A78"/>
                </a:solidFill>
              </a:rPr>
              <a:t>你設定好規則，Harness 會在對的時間點自動觸發，完全不需要你手動操作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348" y="2468880"/>
            <a:ext cx="5559552" cy="1828800"/>
          </a:xfrm>
          <a:prstGeom prst="rect">
            <a:avLst/>
          </a:prstGeom>
          <a:solidFill>
            <a:srgbClr val="F3F6FB"/>
          </a:solidFill>
          <a:ln w="19050">
            <a:solidFill>
              <a:srgbClr val="C02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1940" y="2560320"/>
            <a:ext cx="5166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C02A78"/>
                </a:solidFill>
              </a:rPr>
              <a:t>🔴  動作前  PreToolUse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940" y="301752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AI 要用工具之前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940" y="3383281"/>
            <a:ext cx="5166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0F1E3C"/>
                </a:solidFill>
              </a:rPr>
              <a:t>→ 阻止危險動作
→ 保護重要檔案不被亂改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9236" y="2468880"/>
            <a:ext cx="5559552" cy="1828800"/>
          </a:xfrm>
          <a:prstGeom prst="rect">
            <a:avLst/>
          </a:prstGeom>
          <a:solidFill>
            <a:srgbClr val="F3F6FB"/>
          </a:solidFill>
          <a:ln w="1905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3828" y="2560320"/>
            <a:ext cx="5166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E06C10"/>
                </a:solidFill>
              </a:rPr>
              <a:t>🟡  動作後  PostToolUse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3828" y="301752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AI 用完工具之後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3828" y="3383281"/>
            <a:ext cx="5166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0F1E3C"/>
                </a:solidFill>
              </a:rPr>
              <a:t>→ 記錄動作
→ 傳結果到 Slack 通知你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348" y="4498848"/>
            <a:ext cx="5559552" cy="1828800"/>
          </a:xfrm>
          <a:prstGeom prst="rect">
            <a:avLst/>
          </a:prstGeom>
          <a:solidFill>
            <a:srgbClr val="F3F6FB"/>
          </a:solidFill>
          <a:ln w="1905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1940" y="4590288"/>
            <a:ext cx="5166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0A366"/>
                </a:solidFill>
              </a:rPr>
              <a:t>🟢  開始時  SessionStart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940" y="504748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每次開始對話時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940" y="5413249"/>
            <a:ext cx="5166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0F1E3C"/>
                </a:solidFill>
              </a:rPr>
              <a:t>→ 自動載入環境設定
→ 初始化需要的資源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29236" y="4498848"/>
            <a:ext cx="5559552" cy="1828800"/>
          </a:xfrm>
          <a:prstGeom prst="rect">
            <a:avLst/>
          </a:prstGeom>
          <a:solidFill>
            <a:srgbClr val="F3F6FB"/>
          </a:solidFill>
          <a:ln w="19050">
            <a:solidFill>
              <a:srgbClr val="1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3828" y="4590288"/>
            <a:ext cx="5166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77EC1"/>
                </a:solidFill>
              </a:rPr>
              <a:t>🔵  結束時  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3828" y="504748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A5A78"/>
                </a:solidFill>
              </a:rPr>
              <a:t>對話結束時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3828" y="5413249"/>
            <a:ext cx="5166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0F1E3C"/>
                </a:solidFill>
              </a:rPr>
              <a:t>→ 自動存檔
→ 清理暫存資料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3068" y="6510529"/>
            <a:ext cx="113385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C28800"/>
                </a:solidFill>
              </a:rPr>
              <a:t>實際例子：設定「AI 每次要修改 .env 之前，先問我確認」→ 這就是一個 Hook 的設定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201168" cy="6858000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3068" y="1188721"/>
            <a:ext cx="112471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3068" y="2514601"/>
            <a:ext cx="112471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dirty="0" err="1">
                <a:solidFill>
                  <a:srgbClr val="FFFFFF"/>
                </a:solidFill>
              </a:rPr>
              <a:t>把它們串起來</a:t>
            </a:r>
            <a:r>
              <a:rPr sz="7200" b="1" dirty="0">
                <a:solidFill>
                  <a:srgbClr val="FFFFFF"/>
                </a:solidFill>
              </a:rPr>
              <a:t>！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7668" y="4160520"/>
            <a:ext cx="6309360" cy="64008"/>
          </a:xfrm>
          <a:prstGeom prst="rect">
            <a:avLst/>
          </a:prstGeom>
          <a:solidFill>
            <a:srgbClr val="177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3068" y="4315969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BBCCDD"/>
                </a:solidFill>
              </a:rPr>
              <a:t>一個完整的 Vibe Coding 工作流程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960120"/>
            <a:ext cx="12188952" cy="91440"/>
          </a:xfrm>
          <a:prstGeom prst="rect">
            <a:avLst/>
          </a:prstGeom>
          <a:solidFill>
            <a:srgbClr val="00A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8" y="9144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用「蓋房子」來記住這五個概念</a:t>
            </a:r>
          </a:p>
        </p:txBody>
      </p:sp>
      <p:sp>
        <p:nvSpPr>
          <p:cNvPr id="5" name="Rectangle 4"/>
          <p:cNvSpPr/>
          <p:nvPr/>
        </p:nvSpPr>
        <p:spPr>
          <a:xfrm>
            <a:off x="413068" y="1170432"/>
            <a:ext cx="11338560" cy="566928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5948" y="1216152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0F1E3C"/>
                </a:solidFill>
              </a:rPr>
              <a:t>想像你是一個建設公司的老闆，你說：「幫我在這塊地上蓋一棟三房兩廳的房子」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413068" y="1874519"/>
            <a:ext cx="11338560" cy="777240"/>
          </a:xfrm>
          <a:prstGeom prst="rect">
            <a:avLst/>
          </a:prstGeom>
          <a:solidFill>
            <a:srgbClr val="F3F6FB"/>
          </a:solidFill>
          <a:ln w="1905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3068" y="1874519"/>
            <a:ext cx="27432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0228" y="2039113"/>
            <a:ext cx="25603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A366"/>
                </a:solidFill>
              </a:rPr>
              <a:t>🌊  Vibe 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9148" y="2057401"/>
            <a:ext cx="82296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0F1E3C"/>
                </a:solidFill>
              </a:rPr>
              <a:t>老闆（你）用說的方式表達需求，不用自己拿鐵鎚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068" y="2770632"/>
            <a:ext cx="11338560" cy="777240"/>
          </a:xfrm>
          <a:prstGeom prst="rect">
            <a:avLst/>
          </a:prstGeom>
          <a:solidFill>
            <a:srgbClr val="E8EFF8"/>
          </a:solidFill>
          <a:ln w="1905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3068" y="2770632"/>
            <a:ext cx="27432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6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0228" y="2935225"/>
            <a:ext cx="25603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06C10"/>
                </a:solidFill>
              </a:rPr>
              <a:t>🎯 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9148" y="2953513"/>
            <a:ext cx="82296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0F1E3C"/>
                </a:solidFill>
              </a:rPr>
              <a:t>建築師的「施工手冊」— 碰到地基問題要按什麼步驟處理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3068" y="3666744"/>
            <a:ext cx="11338560" cy="777240"/>
          </a:xfrm>
          <a:prstGeom prst="rect">
            <a:avLst/>
          </a:prstGeom>
          <a:solidFill>
            <a:srgbClr val="F3F6FB"/>
          </a:solidFill>
          <a:ln w="19050">
            <a:solidFill>
              <a:srgbClr val="1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3068" y="3666744"/>
            <a:ext cx="27432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77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0228" y="3831336"/>
            <a:ext cx="25603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7EC1"/>
                </a:solidFill>
              </a:rPr>
              <a:t>🔌  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9148" y="3849625"/>
            <a:ext cx="82296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0F1E3C"/>
                </a:solidFill>
              </a:rPr>
              <a:t>工地的「工具設備」— 挖土機、起重機、電鑽（外部系統）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3068" y="4562856"/>
            <a:ext cx="11338560" cy="777240"/>
          </a:xfrm>
          <a:prstGeom prst="rect">
            <a:avLst/>
          </a:prstGeom>
          <a:solidFill>
            <a:srgbClr val="E8EFF8"/>
          </a:solidFill>
          <a:ln w="19050">
            <a:solidFill>
              <a:srgbClr val="C2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3068" y="4562856"/>
            <a:ext cx="27432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2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0228" y="4727449"/>
            <a:ext cx="25603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28800"/>
                </a:solidFill>
              </a:rPr>
              <a:t>📦  Plugin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9148" y="4745737"/>
            <a:ext cx="82296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0F1E3C"/>
                </a:solidFill>
              </a:rPr>
              <a:t>完整的「施工工具包」— 手冊 + 工具 + SOP 打包在一起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3068" y="5458968"/>
            <a:ext cx="11338560" cy="777240"/>
          </a:xfrm>
          <a:prstGeom prst="rect">
            <a:avLst/>
          </a:prstGeom>
          <a:solidFill>
            <a:srgbClr val="F3F6FB"/>
          </a:solidFill>
          <a:ln w="19050">
            <a:solidFill>
              <a:srgbClr val="C02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3068" y="5458968"/>
            <a:ext cx="27432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2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0228" y="5623560"/>
            <a:ext cx="25603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2A78"/>
                </a:solidFill>
              </a:rPr>
              <a:t>⚙️  Harness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9148" y="5641849"/>
            <a:ext cx="82296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0F1E3C"/>
                </a:solidFill>
              </a:rPr>
              <a:t>工地的「安全管理員」— 控管哪些機具能用、記錄所有操作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8F49C51-17F1-3738-7EC5-340F696F4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696"/>
            <a:ext cx="11910874" cy="669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445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2176</TotalTime>
  <Words>2239</Words>
  <Application>Microsoft Macintosh PowerPoint</Application>
  <PresentationFormat>寬螢幕</PresentationFormat>
  <Paragraphs>361</Paragraphs>
  <Slides>58</Slides>
  <Notes>2</Notes>
  <HiddenSlides>0</HiddenSlides>
  <MMClips>1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58</vt:i4>
      </vt:variant>
    </vt:vector>
  </HeadingPairs>
  <TitlesOfParts>
    <vt:vector size="63" baseType="lpstr">
      <vt:lpstr>Aptos</vt:lpstr>
      <vt:lpstr>Aptos Display</vt:lpstr>
      <vt:lpstr>Arial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Rules</vt:lpstr>
      <vt:lpstr>Rules</vt:lpstr>
      <vt:lpstr>Rules</vt:lpstr>
      <vt:lpstr>PowerPoint 簡報</vt:lpstr>
      <vt:lpstr>Workflows: 定義自動化工作流程</vt:lpstr>
      <vt:lpstr>Workflows: 定義自動化工作流程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Charlie Chen</dc:creator>
  <cp:lastModifiedBy>Charlie Chen</cp:lastModifiedBy>
  <cp:revision>16</cp:revision>
  <dcterms:created xsi:type="dcterms:W3CDTF">2026-05-26T02:04:37Z</dcterms:created>
  <dcterms:modified xsi:type="dcterms:W3CDTF">2026-05-28T07:59:55Z</dcterms:modified>
</cp:coreProperties>
</file>