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5"/>
  </p:notesMasterIdLst>
  <p:sldIdLst>
    <p:sldId id="332" r:id="rId2"/>
    <p:sldId id="327" r:id="rId3"/>
    <p:sldId id="259" r:id="rId4"/>
    <p:sldId id="261" r:id="rId5"/>
    <p:sldId id="263" r:id="rId6"/>
    <p:sldId id="295" r:id="rId7"/>
    <p:sldId id="316" r:id="rId8"/>
    <p:sldId id="257" r:id="rId9"/>
    <p:sldId id="258" r:id="rId10"/>
    <p:sldId id="286" r:id="rId11"/>
    <p:sldId id="287" r:id="rId12"/>
    <p:sldId id="289" r:id="rId13"/>
    <p:sldId id="290" r:id="rId14"/>
    <p:sldId id="312" r:id="rId15"/>
    <p:sldId id="325" r:id="rId16"/>
    <p:sldId id="317" r:id="rId17"/>
    <p:sldId id="319" r:id="rId18"/>
    <p:sldId id="313" r:id="rId19"/>
    <p:sldId id="320" r:id="rId20"/>
    <p:sldId id="314" r:id="rId21"/>
    <p:sldId id="321" r:id="rId22"/>
    <p:sldId id="315" r:id="rId23"/>
    <p:sldId id="322" r:id="rId24"/>
    <p:sldId id="318" r:id="rId25"/>
    <p:sldId id="324" r:id="rId26"/>
    <p:sldId id="323" r:id="rId27"/>
    <p:sldId id="269" r:id="rId28"/>
    <p:sldId id="270" r:id="rId29"/>
    <p:sldId id="271" r:id="rId30"/>
    <p:sldId id="272" r:id="rId31"/>
    <p:sldId id="328" r:id="rId32"/>
    <p:sldId id="329" r:id="rId33"/>
    <p:sldId id="330" r:id="rId34"/>
    <p:sldId id="331" r:id="rId35"/>
    <p:sldId id="296" r:id="rId36"/>
    <p:sldId id="265" r:id="rId37"/>
    <p:sldId id="266" r:id="rId38"/>
    <p:sldId id="267" r:id="rId39"/>
    <p:sldId id="268" r:id="rId40"/>
    <p:sldId id="298" r:id="rId41"/>
    <p:sldId id="299" r:id="rId42"/>
    <p:sldId id="300" r:id="rId43"/>
    <p:sldId id="301" r:id="rId44"/>
    <p:sldId id="302" r:id="rId45"/>
    <p:sldId id="304" r:id="rId46"/>
    <p:sldId id="303" r:id="rId47"/>
    <p:sldId id="310" r:id="rId48"/>
    <p:sldId id="311" r:id="rId49"/>
    <p:sldId id="309" r:id="rId50"/>
    <p:sldId id="333" r:id="rId51"/>
    <p:sldId id="273" r:id="rId52"/>
    <p:sldId id="274" r:id="rId53"/>
    <p:sldId id="275" r:id="rId54"/>
    <p:sldId id="276" r:id="rId55"/>
    <p:sldId id="291" r:id="rId56"/>
    <p:sldId id="292" r:id="rId57"/>
    <p:sldId id="277" r:id="rId58"/>
    <p:sldId id="294" r:id="rId59"/>
    <p:sldId id="278" r:id="rId60"/>
    <p:sldId id="279" r:id="rId61"/>
    <p:sldId id="280" r:id="rId62"/>
    <p:sldId id="281" r:id="rId63"/>
    <p:sldId id="326" r:id="rId6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125"/>
    <p:restoredTop sz="94693"/>
  </p:normalViewPr>
  <p:slideViewPr>
    <p:cSldViewPr snapToGrid="0" showGuides="1">
      <p:cViewPr varScale="1">
        <p:scale>
          <a:sx n="118" d="100"/>
          <a:sy n="118" d="100"/>
        </p:scale>
        <p:origin x="264" y="192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E40163-9CFB-B541-AB5D-3A8958096BC4}" type="datetimeFigureOut">
              <a:rPr kumimoji="1" lang="zh-TW" altLang="en-US" smtClean="0"/>
              <a:t>2026/5/31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72DCE0-DECF-2845-AC32-B9D2A05CBB5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9492409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7EC673-06E1-AB45-B9EC-5DB4DDB0978B}" type="slidenum">
              <a:rPr kumimoji="1" lang="zh-TW" altLang="en-US" smtClean="0"/>
              <a:t>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6812387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TW" dirty="0"/>
              <a:t>#</a:t>
            </a:r>
            <a:r>
              <a:rPr kumimoji="1" lang="zh-TW" altLang="en-US" dirty="0"/>
              <a:t> 個人偏好</a:t>
            </a:r>
            <a:endParaRPr kumimoji="1" lang="en-US" altLang="zh-TW" dirty="0"/>
          </a:p>
          <a:p>
            <a:pPr marL="285750" indent="-285750">
              <a:buFontTx/>
              <a:buChar char="-"/>
            </a:pPr>
            <a:r>
              <a:rPr kumimoji="1" lang="zh-TW" altLang="en-US" dirty="0"/>
              <a:t>預設語言</a:t>
            </a:r>
            <a:r>
              <a:rPr kumimoji="1" lang="en-US" altLang="zh-TW" dirty="0"/>
              <a:t>:</a:t>
            </a:r>
            <a:r>
              <a:rPr kumimoji="1" lang="zh-TW" altLang="en-US" dirty="0"/>
              <a:t> 臺灣繁體中文</a:t>
            </a:r>
            <a:r>
              <a:rPr kumimoji="1" lang="en-US" altLang="zh-TW" dirty="0"/>
              <a:t>(</a:t>
            </a:r>
            <a:r>
              <a:rPr kumimoji="1" lang="zh-TW" altLang="en-US" dirty="0"/>
              <a:t>請以繁體中文回應自然語言與文件內容</a:t>
            </a:r>
            <a:r>
              <a:rPr kumimoji="1" lang="en-US" altLang="zh-TW" dirty="0"/>
              <a:t>)</a:t>
            </a:r>
            <a:r>
              <a:rPr kumimoji="1" lang="zh-TW" altLang="en-US" dirty="0"/>
              <a:t>，包括你自已的思考流程，都使用繁體中文和我交談</a:t>
            </a:r>
            <a:endParaRPr kumimoji="1" lang="en-US" altLang="zh-TW" dirty="0"/>
          </a:p>
          <a:p>
            <a:pPr marL="285750" indent="-285750">
              <a:buFontTx/>
              <a:buChar char="-"/>
            </a:pPr>
            <a:r>
              <a:rPr kumimoji="1" lang="zh-TW" altLang="en-US" dirty="0"/>
              <a:t>如果使用</a:t>
            </a:r>
            <a:r>
              <a:rPr kumimoji="1" lang="en-US" altLang="zh-TW" dirty="0"/>
              <a:t>python </a:t>
            </a:r>
            <a:r>
              <a:rPr kumimoji="1" lang="zh-TW" altLang="en-US" dirty="0"/>
              <a:t>開發程式，一定要用</a:t>
            </a:r>
            <a:r>
              <a:rPr kumimoji="1" lang="en-US" altLang="zh-TW" dirty="0" err="1"/>
              <a:t>uv</a:t>
            </a:r>
            <a:r>
              <a:rPr kumimoji="1" lang="en-US" altLang="zh-TW" dirty="0"/>
              <a:t> </a:t>
            </a:r>
            <a:r>
              <a:rPr kumimoji="1" lang="zh-TW" altLang="en-US" dirty="0"/>
              <a:t>建立環境，千萬不要用到</a:t>
            </a:r>
            <a:r>
              <a:rPr kumimoji="1" lang="en-US" altLang="zh-TW" dirty="0"/>
              <a:t>base</a:t>
            </a:r>
            <a:r>
              <a:rPr kumimoji="1" lang="zh-TW" altLang="en-US" dirty="0"/>
              <a:t>及單獨使用</a:t>
            </a:r>
            <a:r>
              <a:rPr kumimoji="1" lang="en-US" altLang="zh-TW" dirty="0"/>
              <a:t>pip</a:t>
            </a:r>
          </a:p>
          <a:p>
            <a:pPr marL="285750" indent="-285750">
              <a:buFontTx/>
              <a:buChar char="-"/>
            </a:pPr>
            <a:r>
              <a:rPr kumimoji="1" lang="en-US" altLang="zh-TW" dirty="0"/>
              <a:t>Agent </a:t>
            </a:r>
            <a:r>
              <a:rPr kumimoji="1" lang="zh-TW" altLang="en-US" dirty="0"/>
              <a:t>所產生的</a:t>
            </a:r>
            <a:r>
              <a:rPr kumimoji="1" lang="en-US" altLang="zh-TW" dirty="0"/>
              <a:t>implementation plan*, </a:t>
            </a:r>
            <a:r>
              <a:rPr kumimoji="1" lang="en-US" altLang="zh-TW" dirty="0" err="1"/>
              <a:t>task.md</a:t>
            </a:r>
            <a:r>
              <a:rPr kumimoji="1" lang="en-US" altLang="zh-TW" dirty="0"/>
              <a:t>*, </a:t>
            </a:r>
            <a:r>
              <a:rPr kumimoji="1" lang="en-US" altLang="zh-TW" dirty="0" err="1"/>
              <a:t>walkthrough.md</a:t>
            </a:r>
            <a:r>
              <a:rPr kumimoji="1" lang="en-US" altLang="zh-TW" dirty="0"/>
              <a:t>*</a:t>
            </a:r>
            <a:r>
              <a:rPr kumimoji="1" lang="zh-TW" altLang="en-US" dirty="0"/>
              <a:t>，全用繁體中文台灣用語</a:t>
            </a:r>
            <a:endParaRPr kumimoji="1" lang="en-US" altLang="zh-TW" dirty="0"/>
          </a:p>
          <a:p>
            <a:pPr marL="285750" indent="-285750">
              <a:buFontTx/>
              <a:buChar char="-"/>
            </a:pPr>
            <a:r>
              <a:rPr kumimoji="1" lang="zh-TW" altLang="en-US" dirty="0"/>
              <a:t>如果是</a:t>
            </a:r>
            <a:r>
              <a:rPr kumimoji="1" lang="en-US" altLang="zh-TW" dirty="0" err="1"/>
              <a:t>javascript</a:t>
            </a:r>
            <a:r>
              <a:rPr kumimoji="1" lang="zh-TW" altLang="en-US" dirty="0"/>
              <a:t>或是</a:t>
            </a:r>
            <a:r>
              <a:rPr kumimoji="1" lang="en-US" altLang="zh-TW" dirty="0"/>
              <a:t>typescript</a:t>
            </a:r>
            <a:r>
              <a:rPr kumimoji="1" lang="zh-TW" altLang="en-US" dirty="0"/>
              <a:t>，一律使用</a:t>
            </a:r>
            <a:r>
              <a:rPr kumimoji="1" lang="en-US" altLang="zh-TW" dirty="0" err="1"/>
              <a:t>npm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npx</a:t>
            </a:r>
            <a:r>
              <a:rPr kumimoji="1" lang="zh-TW" altLang="en-US" dirty="0"/>
              <a:t>，不要亂裝動到我的</a:t>
            </a:r>
            <a:r>
              <a:rPr kumimoji="1" lang="en-US" altLang="zh-TW" dirty="0"/>
              <a:t>base</a:t>
            </a:r>
            <a:r>
              <a:rPr kumimoji="1" lang="zh-TW" altLang="en-US" dirty="0"/>
              <a:t>環境</a:t>
            </a:r>
            <a:endParaRPr kumimoji="1" lang="en-US" altLang="zh-TW" dirty="0"/>
          </a:p>
          <a:p>
            <a:r>
              <a:rPr kumimoji="1" lang="en-US" altLang="zh-TW" dirty="0"/>
              <a:t>-</a:t>
            </a:r>
            <a:r>
              <a:rPr kumimoji="1" lang="zh-TW" altLang="en-US" dirty="0"/>
              <a:t>    如果是有其他語言的套件安裝，請用</a:t>
            </a:r>
            <a:r>
              <a:rPr kumimoji="1" lang="en-US" altLang="zh-TW" dirty="0" err="1"/>
              <a:t>conda</a:t>
            </a:r>
            <a:r>
              <a:rPr kumimoji="1" lang="zh-TW" altLang="en-US" dirty="0"/>
              <a:t>管理</a:t>
            </a:r>
          </a:p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72DCE0-DECF-2845-AC32-B9D2A05CBB56}" type="slidenum">
              <a:rPr kumimoji="1" lang="zh-TW" altLang="en-US" smtClean="0"/>
              <a:t>9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917248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9074B-3380-643C-5F8C-26CC4303B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4E54249-D4EB-0BCA-5C54-0EE4F5F02A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B0BD09C-233B-9D6E-6F7F-1A77370F10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TW" dirty="0"/>
              <a:t>#</a:t>
            </a:r>
            <a:r>
              <a:rPr kumimoji="1" lang="zh-TW" altLang="en-US" dirty="0"/>
              <a:t> 個人偏好</a:t>
            </a:r>
            <a:endParaRPr kumimoji="1" lang="en-US" altLang="zh-TW" dirty="0"/>
          </a:p>
          <a:p>
            <a:pPr marL="285750" indent="-285750">
              <a:buFontTx/>
              <a:buChar char="-"/>
            </a:pPr>
            <a:r>
              <a:rPr kumimoji="1" lang="zh-TW" altLang="en-US" dirty="0"/>
              <a:t>預設語言</a:t>
            </a:r>
            <a:r>
              <a:rPr kumimoji="1" lang="en-US" altLang="zh-TW" dirty="0"/>
              <a:t>:</a:t>
            </a:r>
            <a:r>
              <a:rPr kumimoji="1" lang="zh-TW" altLang="en-US" dirty="0"/>
              <a:t> 臺灣繁體中文</a:t>
            </a:r>
            <a:r>
              <a:rPr kumimoji="1" lang="en-US" altLang="zh-TW" dirty="0"/>
              <a:t>(</a:t>
            </a:r>
            <a:r>
              <a:rPr kumimoji="1" lang="zh-TW" altLang="en-US" dirty="0"/>
              <a:t>請以繁體中文回應自然語言與文件內容</a:t>
            </a:r>
            <a:r>
              <a:rPr kumimoji="1" lang="en-US" altLang="zh-TW" dirty="0"/>
              <a:t>)</a:t>
            </a:r>
            <a:r>
              <a:rPr kumimoji="1" lang="zh-TW" altLang="en-US" dirty="0"/>
              <a:t>，包括你自已的思考流程，都使用繁體中文和我交談</a:t>
            </a:r>
            <a:endParaRPr kumimoji="1" lang="en-US" altLang="zh-TW" dirty="0"/>
          </a:p>
          <a:p>
            <a:pPr marL="285750" indent="-285750">
              <a:buFontTx/>
              <a:buChar char="-"/>
            </a:pPr>
            <a:r>
              <a:rPr kumimoji="1" lang="zh-TW" altLang="en-US" dirty="0"/>
              <a:t>如果使用</a:t>
            </a:r>
            <a:r>
              <a:rPr kumimoji="1" lang="en-US" altLang="zh-TW" dirty="0"/>
              <a:t>python </a:t>
            </a:r>
            <a:r>
              <a:rPr kumimoji="1" lang="zh-TW" altLang="en-US" dirty="0"/>
              <a:t>開發程式，一定要用</a:t>
            </a:r>
            <a:r>
              <a:rPr kumimoji="1" lang="en-US" altLang="zh-TW" dirty="0" err="1"/>
              <a:t>uv</a:t>
            </a:r>
            <a:r>
              <a:rPr kumimoji="1" lang="en-US" altLang="zh-TW" dirty="0"/>
              <a:t> </a:t>
            </a:r>
            <a:r>
              <a:rPr kumimoji="1" lang="zh-TW" altLang="en-US" dirty="0"/>
              <a:t>建立環境，千萬不要用到</a:t>
            </a:r>
            <a:r>
              <a:rPr kumimoji="1" lang="en-US" altLang="zh-TW" dirty="0"/>
              <a:t>base</a:t>
            </a:r>
            <a:r>
              <a:rPr kumimoji="1" lang="zh-TW" altLang="en-US" dirty="0"/>
              <a:t>及單獨使用</a:t>
            </a:r>
            <a:r>
              <a:rPr kumimoji="1" lang="en-US" altLang="zh-TW" dirty="0"/>
              <a:t>pip</a:t>
            </a:r>
          </a:p>
          <a:p>
            <a:pPr marL="285750" indent="-285750">
              <a:buFontTx/>
              <a:buChar char="-"/>
            </a:pPr>
            <a:r>
              <a:rPr kumimoji="1" lang="en-US" altLang="zh-TW" dirty="0"/>
              <a:t>Agent </a:t>
            </a:r>
            <a:r>
              <a:rPr kumimoji="1" lang="zh-TW" altLang="en-US" dirty="0"/>
              <a:t>所產生的</a:t>
            </a:r>
            <a:r>
              <a:rPr kumimoji="1" lang="en-US" altLang="zh-TW" dirty="0"/>
              <a:t>implementation plan*, </a:t>
            </a:r>
            <a:r>
              <a:rPr kumimoji="1" lang="en-US" altLang="zh-TW" dirty="0" err="1"/>
              <a:t>task.md</a:t>
            </a:r>
            <a:r>
              <a:rPr kumimoji="1" lang="en-US" altLang="zh-TW" dirty="0"/>
              <a:t>*, </a:t>
            </a:r>
            <a:r>
              <a:rPr kumimoji="1" lang="en-US" altLang="zh-TW" dirty="0" err="1"/>
              <a:t>walkthrough.md</a:t>
            </a:r>
            <a:r>
              <a:rPr kumimoji="1" lang="en-US" altLang="zh-TW" dirty="0"/>
              <a:t>*</a:t>
            </a:r>
            <a:r>
              <a:rPr kumimoji="1" lang="zh-TW" altLang="en-US" dirty="0"/>
              <a:t>，全用繁體中文台灣用語</a:t>
            </a:r>
            <a:endParaRPr kumimoji="1" lang="en-US" altLang="zh-TW" dirty="0"/>
          </a:p>
          <a:p>
            <a:pPr marL="285750" indent="-285750">
              <a:buFontTx/>
              <a:buChar char="-"/>
            </a:pPr>
            <a:r>
              <a:rPr kumimoji="1" lang="zh-TW" altLang="en-US" dirty="0"/>
              <a:t>如果是</a:t>
            </a:r>
            <a:r>
              <a:rPr kumimoji="1" lang="en-US" altLang="zh-TW" dirty="0" err="1"/>
              <a:t>javascript</a:t>
            </a:r>
            <a:r>
              <a:rPr kumimoji="1" lang="zh-TW" altLang="en-US" dirty="0"/>
              <a:t>或是</a:t>
            </a:r>
            <a:r>
              <a:rPr kumimoji="1" lang="en-US" altLang="zh-TW" dirty="0"/>
              <a:t>typescript</a:t>
            </a:r>
            <a:r>
              <a:rPr kumimoji="1" lang="zh-TW" altLang="en-US" dirty="0"/>
              <a:t>，一律使用</a:t>
            </a:r>
            <a:r>
              <a:rPr kumimoji="1" lang="en-US" altLang="zh-TW" dirty="0" err="1"/>
              <a:t>npm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npx</a:t>
            </a:r>
            <a:r>
              <a:rPr kumimoji="1" lang="zh-TW" altLang="en-US" dirty="0"/>
              <a:t>，不要亂裝動到我的</a:t>
            </a:r>
            <a:r>
              <a:rPr kumimoji="1" lang="en-US" altLang="zh-TW" dirty="0"/>
              <a:t>base</a:t>
            </a:r>
            <a:r>
              <a:rPr kumimoji="1" lang="zh-TW" altLang="en-US" dirty="0"/>
              <a:t>環境</a:t>
            </a:r>
            <a:endParaRPr kumimoji="1" lang="en-US" altLang="zh-TW" dirty="0"/>
          </a:p>
          <a:p>
            <a:r>
              <a:rPr kumimoji="1" lang="en-US" altLang="zh-TW" dirty="0"/>
              <a:t>-</a:t>
            </a:r>
            <a:r>
              <a:rPr kumimoji="1" lang="zh-TW" altLang="en-US" dirty="0"/>
              <a:t>    如果是有其他語言的套件安裝，請用</a:t>
            </a:r>
            <a:r>
              <a:rPr kumimoji="1" lang="en-US" altLang="zh-TW" dirty="0" err="1"/>
              <a:t>conda</a:t>
            </a:r>
            <a:r>
              <a:rPr kumimoji="1" lang="zh-TW" altLang="en-US" dirty="0"/>
              <a:t>管理</a:t>
            </a:r>
          </a:p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D4EADB1-1711-6954-710A-67861B6A7B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72DCE0-DECF-2845-AC32-B9D2A05CBB56}" type="slidenum">
              <a:rPr kumimoji="1" lang="zh-TW" altLang="en-US" smtClean="0"/>
              <a:t>10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1598129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BE71C9E-C1D3-59B8-9187-C3161A71E2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5412E0B-39C7-0D5A-8267-215FEEA84F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6FC91C7-485C-D800-CFBD-66170AA04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8D3E0-026B-4147-85BF-025C176DA8C4}" type="datetimeFigureOut">
              <a:rPr kumimoji="1" lang="zh-TW" altLang="en-US" smtClean="0"/>
              <a:t>2026/5/31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B6D2DB1-D260-EDC3-2B3C-EB1935246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BA1986E-16B6-EF1F-BFD5-9D1C6B453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B9D53-DBDD-5F4D-AF40-20CDA77E2B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028069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C6D32F3-ADAA-0CD2-ACE3-9D93ED633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3E13F58-0A3C-3F05-BB1D-F1B6F473F3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905E9B2-5E44-8861-C480-049B688B1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8D3E0-026B-4147-85BF-025C176DA8C4}" type="datetimeFigureOut">
              <a:rPr kumimoji="1" lang="zh-TW" altLang="en-US" smtClean="0"/>
              <a:t>2026/5/31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4B4B558-C257-0E74-99C9-A397147C9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873180A-D817-959C-BE3E-F52022D47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B9D53-DBDD-5F4D-AF40-20CDA77E2B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018619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F7F0E24-BC07-9563-8126-F5A790B04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FD6C8F5-B5C0-E36E-4FA2-2051CB730F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C561D2A-DDA0-5F29-7B78-318C47B7A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8D3E0-026B-4147-85BF-025C176DA8C4}" type="datetimeFigureOut">
              <a:rPr kumimoji="1" lang="zh-TW" altLang="en-US" smtClean="0"/>
              <a:t>2026/5/31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35E59CA-3903-D8A0-48C9-8A794E120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78E56DF-0B85-87AA-9E9D-8AF9843AE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B9D53-DBDD-5F4D-AF40-20CDA77E2B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32039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85EF685-DE54-46DB-02F6-48C14E211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C0A0EC2-4F53-A0BA-D944-77E7497DA3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60D414B-4AFD-6DE2-AEA4-D1D844393A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E9F34B5-CB23-09C5-CDF3-B37160340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8D3E0-026B-4147-85BF-025C176DA8C4}" type="datetimeFigureOut">
              <a:rPr kumimoji="1" lang="zh-TW" altLang="en-US" smtClean="0"/>
              <a:t>2026/5/31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0A13370-7006-3438-8CA6-FBECDA761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03417B5-A96B-C7B7-6D26-75CA5D289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B9D53-DBDD-5F4D-AF40-20CDA77E2B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57119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7604BD5-A93A-7214-C339-0300D1BBA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7BE45A9-48D8-5F95-B029-CB370FB425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8884DBF-B5F9-2760-422F-2206BF921B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EE0DFE75-B0B0-0B6F-FB19-E0EFFFEA34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E0E89605-366B-49B0-B735-65D33635BD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BE2B311D-B6B1-9655-5CF0-DF01A0CBF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8D3E0-026B-4147-85BF-025C176DA8C4}" type="datetimeFigureOut">
              <a:rPr kumimoji="1" lang="zh-TW" altLang="en-US" smtClean="0"/>
              <a:t>2026/5/31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10EC4DD0-56D6-01DE-6B05-CE01D7D38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C4A47DE2-422A-8E24-66B2-4A967776C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B9D53-DBDD-5F4D-AF40-20CDA77E2B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614057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FBAAE43-15B2-3A88-8A7F-E65ACA09A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33DFC5AB-19F9-BB43-378C-0FC88C179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8D3E0-026B-4147-85BF-025C176DA8C4}" type="datetimeFigureOut">
              <a:rPr kumimoji="1" lang="zh-TW" altLang="en-US" smtClean="0"/>
              <a:t>2026/5/31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A8B9E57-B286-899A-F38E-D057B579F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66A079B-2F61-AF04-6692-B3D672280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B9D53-DBDD-5F4D-AF40-20CDA77E2B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527791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F5052668-9414-C33F-4BE5-DD70BABA4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8D3E0-026B-4147-85BF-025C176DA8C4}" type="datetimeFigureOut">
              <a:rPr kumimoji="1" lang="zh-TW" altLang="en-US" smtClean="0"/>
              <a:t>2026/5/31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8645A1B1-E271-EDF9-A32B-E2CE49E1E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80A1062-E040-CFCC-DACB-9D13FAEBC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B9D53-DBDD-5F4D-AF40-20CDA77E2B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665898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B5BE8DC-A39A-3441-C05B-5F157690A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86C01E9-0F9D-F564-9CC9-F885956929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612BDD3-D0B0-3447-0059-C75F5DF605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6A87214-3C19-43EF-C1CA-429123AF0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8D3E0-026B-4147-85BF-025C176DA8C4}" type="datetimeFigureOut">
              <a:rPr kumimoji="1" lang="zh-TW" altLang="en-US" smtClean="0"/>
              <a:t>2026/5/31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10E0B7D-61B9-1530-BA65-123FEFCEB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0DA691C-1E50-22F2-E66F-4D8AAB146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B9D53-DBDD-5F4D-AF40-20CDA77E2B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28622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A2F254F-71AC-8B72-5DAA-01F2D7C89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F75D9227-8091-86D6-D8A7-3A02D03B47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5F81F0F-381C-BC1A-9E2B-1B72B63436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3440A2B-3C4F-7DD3-9E56-6E30A8A81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8D3E0-026B-4147-85BF-025C176DA8C4}" type="datetimeFigureOut">
              <a:rPr kumimoji="1" lang="zh-TW" altLang="en-US" smtClean="0"/>
              <a:t>2026/5/31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DA8D354-2DF5-E9D0-6DB4-030940A8C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92B1514-433C-6532-2EF3-A436C1D90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B9D53-DBDD-5F4D-AF40-20CDA77E2B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921813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9A1CB63-F659-F99D-0958-4364A8499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92E997B-BB9D-713D-3F3B-0B858E540C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96A735C-F2E1-85CA-7844-A1D248891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8D3E0-026B-4147-85BF-025C176DA8C4}" type="datetimeFigureOut">
              <a:rPr kumimoji="1" lang="zh-TW" altLang="en-US" smtClean="0"/>
              <a:t>2026/5/31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961B61D-2DA2-9926-A6AE-7DAE46479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17AFA42-6158-7FD4-D5D1-D608B8017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B9D53-DBDD-5F4D-AF40-20CDA77E2B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040805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E7F7DB33-3676-95F6-4722-5A7740CDE3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D4F1F979-4C8B-5EDF-4186-66504C4CC9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C1FA32B-35CC-4FAC-AD69-3156A9ECA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8D3E0-026B-4147-85BF-025C176DA8C4}" type="datetimeFigureOut">
              <a:rPr kumimoji="1" lang="zh-TW" altLang="en-US" smtClean="0"/>
              <a:t>2026/5/31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19FA2B0-9C74-C1F2-ACC4-F8597E39F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A1E90E7-019C-EA72-794C-C3EF5C1DC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B9D53-DBDD-5F4D-AF40-20CDA77E2B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595361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7E07A669-C92C-563C-A6B1-FCBFAC78B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586BBEB-307C-373D-5C96-9653F1EDD8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9DEA000-D529-C9F1-C2C5-D459136A61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48D3E0-026B-4147-85BF-025C176DA8C4}" type="datetimeFigureOut">
              <a:rPr kumimoji="1" lang="zh-TW" altLang="en-US" smtClean="0"/>
              <a:t>2026/5/31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F354059-476F-F80B-3206-1F6260DAD8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05A70ED-38EB-2749-6326-88E6DB73A3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1B9D53-DBDD-5F4D-AF40-20CDA77E2B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358017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huggingface.co/spaces/chenyc0901/edu-cell-counting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1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3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killhub.club/" TargetMode="Externa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hyperlink" Target="https://www.notion.so/Antigravity-2-0-36df3e2d392280409029e112e318685e?source=copy_link" TargetMode="Externa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2268F-D61E-EF9C-55F9-301EE7A07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E979065A-9B35-9BBD-8D75-57C6E738A997}"/>
              </a:ext>
            </a:extLst>
          </p:cNvPr>
          <p:cNvSpPr txBox="1"/>
          <p:nvPr/>
        </p:nvSpPr>
        <p:spPr>
          <a:xfrm>
            <a:off x="1524000" y="4370227"/>
            <a:ext cx="9144000" cy="119313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kumimoji="1" lang="zh-TW" altLang="en-US" sz="4400" b="1" dirty="0">
                <a:latin typeface="+mj-lt"/>
                <a:ea typeface="+mj-ea"/>
                <a:cs typeface="+mj-cs"/>
              </a:rPr>
              <a:t>程式設計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B89FF89A-8E71-4FCD-1E98-BAC3951787BD}"/>
              </a:ext>
            </a:extLst>
          </p:cNvPr>
          <p:cNvSpPr txBox="1"/>
          <p:nvPr/>
        </p:nvSpPr>
        <p:spPr>
          <a:xfrm>
            <a:off x="1524000" y="5636465"/>
            <a:ext cx="9144000" cy="6467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kumimoji="1" lang="en-US" altLang="zh-TW" sz="2400" b="1" dirty="0"/>
              <a:t>Lecture</a:t>
            </a:r>
            <a:r>
              <a:rPr kumimoji="1" lang="zh-TW" altLang="en-US" sz="2400" b="1" dirty="0"/>
              <a:t> </a:t>
            </a:r>
            <a:r>
              <a:rPr kumimoji="1" lang="en-US" altLang="zh-TW" sz="2400" b="1" dirty="0"/>
              <a:t>13</a:t>
            </a:r>
          </a:p>
          <a:p>
            <a:pPr algn="ctr">
              <a:lnSpc>
                <a:spcPct val="90000"/>
              </a:lnSpc>
              <a:spcBef>
                <a:spcPts val="1000"/>
              </a:spcBef>
            </a:pPr>
            <a:endParaRPr kumimoji="1" lang="en-US" altLang="zh-TW" sz="2400" b="1" dirty="0"/>
          </a:p>
        </p:txBody>
      </p:sp>
      <p:pic>
        <p:nvPicPr>
          <p:cNvPr id="4" name="圖片 3" descr="Programming for beginners | ETH Zurich">
            <a:extLst>
              <a:ext uri="{FF2B5EF4-FFF2-40B4-BE49-F238E27FC236}">
                <a16:creationId xmlns:a16="http://schemas.microsoft.com/office/drawing/2014/main" id="{A93DBAF6-1730-0DB5-E2A1-4723732FAEE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791" r="-2" b="11436"/>
          <a:stretch>
            <a:fillRect/>
          </a:stretch>
        </p:blipFill>
        <p:spPr>
          <a:xfrm>
            <a:off x="1690046" y="386205"/>
            <a:ext cx="8903441" cy="3766876"/>
          </a:xfrm>
          <a:custGeom>
            <a:avLst/>
            <a:gdLst/>
            <a:ahLst/>
            <a:cxnLst/>
            <a:rect l="l" t="t" r="r" b="b"/>
            <a:pathLst>
              <a:path w="8903441" h="3766876">
                <a:moveTo>
                  <a:pt x="8890380" y="1667288"/>
                </a:moveTo>
                <a:lnTo>
                  <a:pt x="8895460" y="1677046"/>
                </a:lnTo>
                <a:cubicBezTo>
                  <a:pt x="8905866" y="1703466"/>
                  <a:pt x="8906717" y="1724063"/>
                  <a:pt x="8894323" y="1729738"/>
                </a:cubicBezTo>
                <a:lnTo>
                  <a:pt x="8891365" y="1729349"/>
                </a:lnTo>
                <a:lnTo>
                  <a:pt x="8891421" y="1712412"/>
                </a:lnTo>
                <a:cubicBezTo>
                  <a:pt x="8891337" y="1700170"/>
                  <a:pt x="8891138" y="1688653"/>
                  <a:pt x="8890856" y="1678595"/>
                </a:cubicBezTo>
                <a:close/>
                <a:moveTo>
                  <a:pt x="8888451" y="1641624"/>
                </a:moveTo>
                <a:cubicBezTo>
                  <a:pt x="8888927" y="1642911"/>
                  <a:pt x="8889388" y="1647125"/>
                  <a:pt x="8889800" y="1653531"/>
                </a:cubicBezTo>
                <a:lnTo>
                  <a:pt x="8890380" y="1667288"/>
                </a:lnTo>
                <a:lnTo>
                  <a:pt x="8884645" y="1656272"/>
                </a:lnTo>
                <a:lnTo>
                  <a:pt x="8886368" y="1643902"/>
                </a:lnTo>
                <a:cubicBezTo>
                  <a:pt x="8887058" y="1640758"/>
                  <a:pt x="8887743" y="1639762"/>
                  <a:pt x="8888451" y="1641624"/>
                </a:cubicBezTo>
                <a:close/>
                <a:moveTo>
                  <a:pt x="999724" y="1241031"/>
                </a:moveTo>
                <a:cubicBezTo>
                  <a:pt x="998379" y="1242269"/>
                  <a:pt x="996554" y="1243547"/>
                  <a:pt x="995210" y="1244785"/>
                </a:cubicBezTo>
                <a:cubicBezTo>
                  <a:pt x="1005261" y="1248940"/>
                  <a:pt x="1015746" y="1252497"/>
                  <a:pt x="1025774" y="1256374"/>
                </a:cubicBezTo>
                <a:cubicBezTo>
                  <a:pt x="1037480" y="1257305"/>
                  <a:pt x="1049668" y="1258195"/>
                  <a:pt x="1060894" y="1259168"/>
                </a:cubicBezTo>
                <a:cubicBezTo>
                  <a:pt x="1040504" y="1253123"/>
                  <a:pt x="1020115" y="1247076"/>
                  <a:pt x="999724" y="1241031"/>
                </a:cubicBezTo>
                <a:close/>
                <a:moveTo>
                  <a:pt x="1319296" y="820371"/>
                </a:moveTo>
                <a:cubicBezTo>
                  <a:pt x="1421680" y="872109"/>
                  <a:pt x="1548101" y="905226"/>
                  <a:pt x="1681342" y="933268"/>
                </a:cubicBezTo>
                <a:cubicBezTo>
                  <a:pt x="1683167" y="931988"/>
                  <a:pt x="1684512" y="930751"/>
                  <a:pt x="1686338" y="929471"/>
                </a:cubicBezTo>
                <a:cubicBezTo>
                  <a:pt x="1563998" y="893197"/>
                  <a:pt x="1441635" y="856646"/>
                  <a:pt x="1319296" y="820371"/>
                </a:cubicBezTo>
                <a:close/>
                <a:moveTo>
                  <a:pt x="7894848" y="858"/>
                </a:moveTo>
                <a:cubicBezTo>
                  <a:pt x="7906700" y="3455"/>
                  <a:pt x="7910528" y="8436"/>
                  <a:pt x="7907341" y="16271"/>
                </a:cubicBezTo>
                <a:cubicBezTo>
                  <a:pt x="7902882" y="26177"/>
                  <a:pt x="7893520" y="35394"/>
                  <a:pt x="7882642" y="43904"/>
                </a:cubicBezTo>
                <a:cubicBezTo>
                  <a:pt x="7831903" y="83897"/>
                  <a:pt x="7856047" y="94090"/>
                  <a:pt x="7927648" y="93123"/>
                </a:cubicBezTo>
                <a:cubicBezTo>
                  <a:pt x="7991511" y="92274"/>
                  <a:pt x="8055318" y="85274"/>
                  <a:pt x="8119655" y="78787"/>
                </a:cubicBezTo>
                <a:cubicBezTo>
                  <a:pt x="8151329" y="75447"/>
                  <a:pt x="8152942" y="77265"/>
                  <a:pt x="8141786" y="93635"/>
                </a:cubicBezTo>
                <a:cubicBezTo>
                  <a:pt x="8123815" y="120677"/>
                  <a:pt x="8122595" y="145410"/>
                  <a:pt x="8151055" y="166138"/>
                </a:cubicBezTo>
                <a:cubicBezTo>
                  <a:pt x="8157767" y="170866"/>
                  <a:pt x="8162605" y="176318"/>
                  <a:pt x="8160811" y="183471"/>
                </a:cubicBezTo>
                <a:cubicBezTo>
                  <a:pt x="8152723" y="212724"/>
                  <a:pt x="8169841" y="236686"/>
                  <a:pt x="8187466" y="260884"/>
                </a:cubicBezTo>
                <a:cubicBezTo>
                  <a:pt x="8217175" y="301371"/>
                  <a:pt x="8254836" y="338641"/>
                  <a:pt x="8295790" y="374783"/>
                </a:cubicBezTo>
                <a:cubicBezTo>
                  <a:pt x="8324664" y="400232"/>
                  <a:pt x="8342922" y="431650"/>
                  <a:pt x="8406170" y="440370"/>
                </a:cubicBezTo>
                <a:cubicBezTo>
                  <a:pt x="8421364" y="442394"/>
                  <a:pt x="8426373" y="449790"/>
                  <a:pt x="8420903" y="459225"/>
                </a:cubicBezTo>
                <a:cubicBezTo>
                  <a:pt x="8402820" y="490474"/>
                  <a:pt x="8417534" y="514648"/>
                  <a:pt x="8450800" y="534955"/>
                </a:cubicBezTo>
                <a:cubicBezTo>
                  <a:pt x="8462563" y="542037"/>
                  <a:pt x="8458146" y="546902"/>
                  <a:pt x="8442097" y="551669"/>
                </a:cubicBezTo>
                <a:cubicBezTo>
                  <a:pt x="8423667" y="556925"/>
                  <a:pt x="8409328" y="564619"/>
                  <a:pt x="8398067" y="574282"/>
                </a:cubicBezTo>
                <a:cubicBezTo>
                  <a:pt x="8379577" y="589897"/>
                  <a:pt x="8370872" y="606612"/>
                  <a:pt x="8363634" y="623477"/>
                </a:cubicBezTo>
                <a:cubicBezTo>
                  <a:pt x="8352394" y="649929"/>
                  <a:pt x="8339133" y="675439"/>
                  <a:pt x="8295388" y="695789"/>
                </a:cubicBezTo>
                <a:cubicBezTo>
                  <a:pt x="8282368" y="701969"/>
                  <a:pt x="8271923" y="709882"/>
                  <a:pt x="8260972" y="717559"/>
                </a:cubicBezTo>
                <a:cubicBezTo>
                  <a:pt x="8264466" y="724248"/>
                  <a:pt x="8273101" y="728807"/>
                  <a:pt x="8289132" y="729358"/>
                </a:cubicBezTo>
                <a:cubicBezTo>
                  <a:pt x="8391169" y="732995"/>
                  <a:pt x="8386647" y="769770"/>
                  <a:pt x="8387346" y="810845"/>
                </a:cubicBezTo>
                <a:cubicBezTo>
                  <a:pt x="8388418" y="861681"/>
                  <a:pt x="8330862" y="890238"/>
                  <a:pt x="8259532" y="916368"/>
                </a:cubicBezTo>
                <a:cubicBezTo>
                  <a:pt x="8235122" y="925226"/>
                  <a:pt x="8199529" y="928071"/>
                  <a:pt x="8191769" y="950020"/>
                </a:cubicBezTo>
                <a:cubicBezTo>
                  <a:pt x="8234379" y="966427"/>
                  <a:pt x="8282955" y="945934"/>
                  <a:pt x="8327664" y="947606"/>
                </a:cubicBezTo>
                <a:cubicBezTo>
                  <a:pt x="8364609" y="949119"/>
                  <a:pt x="8424473" y="941347"/>
                  <a:pt x="8378206" y="982626"/>
                </a:cubicBezTo>
                <a:cubicBezTo>
                  <a:pt x="8364736" y="994722"/>
                  <a:pt x="8382242" y="1001021"/>
                  <a:pt x="8400605" y="1000529"/>
                </a:cubicBezTo>
                <a:cubicBezTo>
                  <a:pt x="8549357" y="995586"/>
                  <a:pt x="8487684" y="1076555"/>
                  <a:pt x="8538706" y="1111533"/>
                </a:cubicBezTo>
                <a:cubicBezTo>
                  <a:pt x="8553092" y="1120905"/>
                  <a:pt x="8540810" y="1141011"/>
                  <a:pt x="8520556" y="1147547"/>
                </a:cubicBezTo>
                <a:cubicBezTo>
                  <a:pt x="8392015" y="1189611"/>
                  <a:pt x="8380569" y="1263373"/>
                  <a:pt x="8322605" y="1331423"/>
                </a:cubicBezTo>
                <a:cubicBezTo>
                  <a:pt x="8393509" y="1350105"/>
                  <a:pt x="8476647" y="1348124"/>
                  <a:pt x="8552563" y="1357692"/>
                </a:cubicBezTo>
                <a:cubicBezTo>
                  <a:pt x="8631413" y="1367560"/>
                  <a:pt x="8632510" y="1380057"/>
                  <a:pt x="8572872" y="1434543"/>
                </a:cubicBezTo>
                <a:cubicBezTo>
                  <a:pt x="8740108" y="1430496"/>
                  <a:pt x="8740108" y="1430496"/>
                  <a:pt x="8695911" y="1511890"/>
                </a:cubicBezTo>
                <a:cubicBezTo>
                  <a:pt x="8766152" y="1509223"/>
                  <a:pt x="8835070" y="1574251"/>
                  <a:pt x="8873147" y="1634187"/>
                </a:cubicBezTo>
                <a:lnTo>
                  <a:pt x="8884645" y="1656272"/>
                </a:lnTo>
                <a:lnTo>
                  <a:pt x="8884254" y="1659075"/>
                </a:lnTo>
                <a:cubicBezTo>
                  <a:pt x="8882795" y="1672543"/>
                  <a:pt x="8881198" y="1691773"/>
                  <a:pt x="8879232" y="1711097"/>
                </a:cubicBezTo>
                <a:lnTo>
                  <a:pt x="8877347" y="1727504"/>
                </a:lnTo>
                <a:lnTo>
                  <a:pt x="8865337" y="1725923"/>
                </a:lnTo>
                <a:cubicBezTo>
                  <a:pt x="8855639" y="1721668"/>
                  <a:pt x="8848716" y="1720054"/>
                  <a:pt x="8843722" y="1720152"/>
                </a:cubicBezTo>
                <a:cubicBezTo>
                  <a:pt x="8828739" y="1720444"/>
                  <a:pt x="8831115" y="1736133"/>
                  <a:pt x="8828004" y="1742073"/>
                </a:cubicBezTo>
                <a:cubicBezTo>
                  <a:pt x="8817547" y="1760900"/>
                  <a:pt x="8843589" y="1770647"/>
                  <a:pt x="8861127" y="1782820"/>
                </a:cubicBezTo>
                <a:cubicBezTo>
                  <a:pt x="8867694" y="1787281"/>
                  <a:pt x="8872382" y="1766445"/>
                  <a:pt x="8875975" y="1739445"/>
                </a:cubicBezTo>
                <a:lnTo>
                  <a:pt x="8877347" y="1727504"/>
                </a:lnTo>
                <a:lnTo>
                  <a:pt x="8891365" y="1729349"/>
                </a:lnTo>
                <a:lnTo>
                  <a:pt x="8891294" y="1750579"/>
                </a:lnTo>
                <a:cubicBezTo>
                  <a:pt x="8890576" y="1802412"/>
                  <a:pt x="8887485" y="1854103"/>
                  <a:pt x="8879895" y="1858687"/>
                </a:cubicBezTo>
                <a:cubicBezTo>
                  <a:pt x="8799411" y="1907447"/>
                  <a:pt x="8858072" y="1996322"/>
                  <a:pt x="8700018" y="2022228"/>
                </a:cubicBezTo>
                <a:cubicBezTo>
                  <a:pt x="8628887" y="2034069"/>
                  <a:pt x="8597252" y="2070985"/>
                  <a:pt x="8546517" y="2094468"/>
                </a:cubicBezTo>
                <a:cubicBezTo>
                  <a:pt x="8369592" y="2175758"/>
                  <a:pt x="8254890" y="2270617"/>
                  <a:pt x="8208310" y="2391116"/>
                </a:cubicBezTo>
                <a:cubicBezTo>
                  <a:pt x="8195251" y="2424444"/>
                  <a:pt x="8137916" y="2455501"/>
                  <a:pt x="8101924" y="2486924"/>
                </a:cubicBezTo>
                <a:cubicBezTo>
                  <a:pt x="8122498" y="2506105"/>
                  <a:pt x="8219539" y="2452814"/>
                  <a:pt x="8188722" y="2510086"/>
                </a:cubicBezTo>
                <a:cubicBezTo>
                  <a:pt x="8165388" y="2553270"/>
                  <a:pt x="8098391" y="2584616"/>
                  <a:pt x="8035596" y="2614194"/>
                </a:cubicBezTo>
                <a:cubicBezTo>
                  <a:pt x="7963481" y="2647947"/>
                  <a:pt x="7883214" y="2677100"/>
                  <a:pt x="7854509" y="2730830"/>
                </a:cubicBezTo>
                <a:cubicBezTo>
                  <a:pt x="7848249" y="2742293"/>
                  <a:pt x="6341566" y="3671513"/>
                  <a:pt x="4141410" y="3763614"/>
                </a:cubicBezTo>
                <a:cubicBezTo>
                  <a:pt x="3781875" y="3778662"/>
                  <a:pt x="2353277" y="3737838"/>
                  <a:pt x="2161737" y="3718831"/>
                </a:cubicBezTo>
                <a:cubicBezTo>
                  <a:pt x="1964811" y="3699179"/>
                  <a:pt x="1793107" y="3646810"/>
                  <a:pt x="1591600" y="3635674"/>
                </a:cubicBezTo>
                <a:cubicBezTo>
                  <a:pt x="1485018" y="3629919"/>
                  <a:pt x="1381185" y="3611329"/>
                  <a:pt x="1390654" y="3531585"/>
                </a:cubicBezTo>
                <a:cubicBezTo>
                  <a:pt x="1393510" y="3508948"/>
                  <a:pt x="1364047" y="3493344"/>
                  <a:pt x="1320867" y="3503571"/>
                </a:cubicBezTo>
                <a:cubicBezTo>
                  <a:pt x="1239265" y="3523046"/>
                  <a:pt x="1198946" y="3494124"/>
                  <a:pt x="1150681" y="3474015"/>
                </a:cubicBezTo>
                <a:cubicBezTo>
                  <a:pt x="1065213" y="3438422"/>
                  <a:pt x="982868" y="3399757"/>
                  <a:pt x="851974" y="3403971"/>
                </a:cubicBezTo>
                <a:cubicBezTo>
                  <a:pt x="873994" y="3367898"/>
                  <a:pt x="917237" y="3369420"/>
                  <a:pt x="956780" y="3372944"/>
                </a:cubicBezTo>
                <a:cubicBezTo>
                  <a:pt x="1061276" y="3382521"/>
                  <a:pt x="1164043" y="3394488"/>
                  <a:pt x="1268515" y="3403788"/>
                </a:cubicBezTo>
                <a:cubicBezTo>
                  <a:pt x="1336376" y="3409863"/>
                  <a:pt x="1404651" y="3420660"/>
                  <a:pt x="1492884" y="3399484"/>
                </a:cubicBezTo>
                <a:cubicBezTo>
                  <a:pt x="1410006" y="3338199"/>
                  <a:pt x="1277736" y="3337777"/>
                  <a:pt x="1169657" y="3325996"/>
                </a:cubicBezTo>
                <a:cubicBezTo>
                  <a:pt x="1034677" y="3311259"/>
                  <a:pt x="951965" y="3268429"/>
                  <a:pt x="853866" y="3221353"/>
                </a:cubicBezTo>
                <a:cubicBezTo>
                  <a:pt x="950752" y="3199416"/>
                  <a:pt x="1014418" y="3234964"/>
                  <a:pt x="1090648" y="3226034"/>
                </a:cubicBezTo>
                <a:cubicBezTo>
                  <a:pt x="1094340" y="3218434"/>
                  <a:pt x="1100169" y="3207568"/>
                  <a:pt x="1099183" y="3207375"/>
                </a:cubicBezTo>
                <a:cubicBezTo>
                  <a:pt x="971072" y="3188118"/>
                  <a:pt x="907890" y="3136018"/>
                  <a:pt x="882137" y="3068880"/>
                </a:cubicBezTo>
                <a:cubicBezTo>
                  <a:pt x="868924" y="3034221"/>
                  <a:pt x="822286" y="3027121"/>
                  <a:pt x="776145" y="3014660"/>
                </a:cubicBezTo>
                <a:cubicBezTo>
                  <a:pt x="613874" y="2970419"/>
                  <a:pt x="443486" y="2933046"/>
                  <a:pt x="307191" y="2864697"/>
                </a:cubicBezTo>
                <a:cubicBezTo>
                  <a:pt x="457123" y="2862170"/>
                  <a:pt x="581367" y="2903594"/>
                  <a:pt x="743379" y="2911759"/>
                </a:cubicBezTo>
                <a:cubicBezTo>
                  <a:pt x="608349" y="2835743"/>
                  <a:pt x="439124" y="2806104"/>
                  <a:pt x="284020" y="2766269"/>
                </a:cubicBezTo>
                <a:cubicBezTo>
                  <a:pt x="213164" y="2748143"/>
                  <a:pt x="147010" y="2722889"/>
                  <a:pt x="63190" y="2717094"/>
                </a:cubicBezTo>
                <a:cubicBezTo>
                  <a:pt x="33455" y="2714947"/>
                  <a:pt x="-16425" y="2709531"/>
                  <a:pt x="5340" y="2681595"/>
                </a:cubicBezTo>
                <a:cubicBezTo>
                  <a:pt x="23652" y="2658441"/>
                  <a:pt x="63627" y="2661368"/>
                  <a:pt x="100237" y="2664591"/>
                </a:cubicBezTo>
                <a:cubicBezTo>
                  <a:pt x="188123" y="2672547"/>
                  <a:pt x="277551" y="2664977"/>
                  <a:pt x="394328" y="2654447"/>
                </a:cubicBezTo>
                <a:cubicBezTo>
                  <a:pt x="290057" y="2592242"/>
                  <a:pt x="112140" y="2629127"/>
                  <a:pt x="21491" y="2562088"/>
                </a:cubicBezTo>
                <a:cubicBezTo>
                  <a:pt x="125636" y="2540073"/>
                  <a:pt x="208727" y="2559644"/>
                  <a:pt x="294268" y="2557453"/>
                </a:cubicBezTo>
                <a:cubicBezTo>
                  <a:pt x="371589" y="2555423"/>
                  <a:pt x="389695" y="2540961"/>
                  <a:pt x="367847" y="2501743"/>
                </a:cubicBezTo>
                <a:cubicBezTo>
                  <a:pt x="333905" y="2440640"/>
                  <a:pt x="373328" y="2404160"/>
                  <a:pt x="486858" y="2411824"/>
                </a:cubicBezTo>
                <a:cubicBezTo>
                  <a:pt x="592120" y="2419095"/>
                  <a:pt x="600599" y="2394285"/>
                  <a:pt x="570008" y="2360312"/>
                </a:cubicBezTo>
                <a:cubicBezTo>
                  <a:pt x="525457" y="2310774"/>
                  <a:pt x="567057" y="2265987"/>
                  <a:pt x="594400" y="2218813"/>
                </a:cubicBezTo>
                <a:cubicBezTo>
                  <a:pt x="635581" y="2147198"/>
                  <a:pt x="612469" y="2115647"/>
                  <a:pt x="505675" y="2074370"/>
                </a:cubicBezTo>
                <a:cubicBezTo>
                  <a:pt x="445534" y="2051386"/>
                  <a:pt x="381431" y="2032947"/>
                  <a:pt x="295650" y="2015851"/>
                </a:cubicBezTo>
                <a:cubicBezTo>
                  <a:pt x="487251" y="1985881"/>
                  <a:pt x="281423" y="1958614"/>
                  <a:pt x="346760" y="1924896"/>
                </a:cubicBezTo>
                <a:cubicBezTo>
                  <a:pt x="481788" y="1901571"/>
                  <a:pt x="600623" y="1980687"/>
                  <a:pt x="783461" y="1939173"/>
                </a:cubicBezTo>
                <a:cubicBezTo>
                  <a:pt x="547912" y="1882335"/>
                  <a:pt x="287006" y="1807013"/>
                  <a:pt x="112183" y="1719100"/>
                </a:cubicBezTo>
                <a:cubicBezTo>
                  <a:pt x="148588" y="1692398"/>
                  <a:pt x="188462" y="1710725"/>
                  <a:pt x="219936" y="1699568"/>
                </a:cubicBezTo>
                <a:cubicBezTo>
                  <a:pt x="218006" y="1694140"/>
                  <a:pt x="220184" y="1685834"/>
                  <a:pt x="214196" y="1683841"/>
                </a:cubicBezTo>
                <a:cubicBezTo>
                  <a:pt x="85284" y="1638910"/>
                  <a:pt x="83720" y="1637648"/>
                  <a:pt x="212296" y="1584947"/>
                </a:cubicBezTo>
                <a:cubicBezTo>
                  <a:pt x="257172" y="1566456"/>
                  <a:pt x="252206" y="1554019"/>
                  <a:pt x="226108" y="1538121"/>
                </a:cubicBezTo>
                <a:cubicBezTo>
                  <a:pt x="207682" y="1526866"/>
                  <a:pt x="185078" y="1517656"/>
                  <a:pt x="192710" y="1488723"/>
                </a:cubicBezTo>
                <a:cubicBezTo>
                  <a:pt x="268435" y="1518175"/>
                  <a:pt x="624154" y="1547955"/>
                  <a:pt x="685843" y="1538903"/>
                </a:cubicBezTo>
                <a:cubicBezTo>
                  <a:pt x="755173" y="1528619"/>
                  <a:pt x="994201" y="1520231"/>
                  <a:pt x="1067153" y="1523622"/>
                </a:cubicBezTo>
                <a:cubicBezTo>
                  <a:pt x="1063138" y="1522015"/>
                  <a:pt x="1059122" y="1520410"/>
                  <a:pt x="1055106" y="1518803"/>
                </a:cubicBezTo>
                <a:cubicBezTo>
                  <a:pt x="983007" y="1486514"/>
                  <a:pt x="909946" y="1454310"/>
                  <a:pt x="864245" y="1408231"/>
                </a:cubicBezTo>
                <a:cubicBezTo>
                  <a:pt x="862153" y="1406456"/>
                  <a:pt x="861045" y="1404874"/>
                  <a:pt x="856768" y="1405809"/>
                </a:cubicBezTo>
                <a:cubicBezTo>
                  <a:pt x="819307" y="1414974"/>
                  <a:pt x="822846" y="1400112"/>
                  <a:pt x="821342" y="1388491"/>
                </a:cubicBezTo>
                <a:cubicBezTo>
                  <a:pt x="819813" y="1376592"/>
                  <a:pt x="812736" y="1367699"/>
                  <a:pt x="784954" y="1371257"/>
                </a:cubicBezTo>
                <a:cubicBezTo>
                  <a:pt x="783512" y="1371384"/>
                  <a:pt x="781566" y="1371274"/>
                  <a:pt x="779619" y="1371165"/>
                </a:cubicBezTo>
                <a:cubicBezTo>
                  <a:pt x="766469" y="1370361"/>
                  <a:pt x="722835" y="1342290"/>
                  <a:pt x="728571" y="1335910"/>
                </a:cubicBezTo>
                <a:cubicBezTo>
                  <a:pt x="741389" y="1321912"/>
                  <a:pt x="726409" y="1316791"/>
                  <a:pt x="713734" y="1310348"/>
                </a:cubicBezTo>
                <a:cubicBezTo>
                  <a:pt x="696009" y="1301550"/>
                  <a:pt x="678333" y="1293308"/>
                  <a:pt x="659695" y="1285149"/>
                </a:cubicBezTo>
                <a:cubicBezTo>
                  <a:pt x="641562" y="1277227"/>
                  <a:pt x="622997" y="1269901"/>
                  <a:pt x="604409" y="1262299"/>
                </a:cubicBezTo>
                <a:cubicBezTo>
                  <a:pt x="561305" y="1256847"/>
                  <a:pt x="517819" y="1252549"/>
                  <a:pt x="472556" y="1250086"/>
                </a:cubicBezTo>
                <a:cubicBezTo>
                  <a:pt x="438951" y="1247999"/>
                  <a:pt x="401379" y="1244860"/>
                  <a:pt x="382690" y="1214040"/>
                </a:cubicBezTo>
                <a:cubicBezTo>
                  <a:pt x="418096" y="1214570"/>
                  <a:pt x="453575" y="1215933"/>
                  <a:pt x="489053" y="1217296"/>
                </a:cubicBezTo>
                <a:cubicBezTo>
                  <a:pt x="454954" y="1204059"/>
                  <a:pt x="421816" y="1190737"/>
                  <a:pt x="390047" y="1176456"/>
                </a:cubicBezTo>
                <a:cubicBezTo>
                  <a:pt x="363810" y="1164487"/>
                  <a:pt x="342232" y="1150431"/>
                  <a:pt x="333292" y="1131347"/>
                </a:cubicBezTo>
                <a:cubicBezTo>
                  <a:pt x="330930" y="1126518"/>
                  <a:pt x="329025" y="1121368"/>
                  <a:pt x="337841" y="1116956"/>
                </a:cubicBezTo>
                <a:cubicBezTo>
                  <a:pt x="347569" y="1111905"/>
                  <a:pt x="355552" y="1114562"/>
                  <a:pt x="363031" y="1116984"/>
                </a:cubicBezTo>
                <a:cubicBezTo>
                  <a:pt x="393929" y="1126864"/>
                  <a:pt x="425283" y="1136425"/>
                  <a:pt x="455724" y="1146625"/>
                </a:cubicBezTo>
                <a:cubicBezTo>
                  <a:pt x="496146" y="1160147"/>
                  <a:pt x="536111" y="1173989"/>
                  <a:pt x="576050" y="1187553"/>
                </a:cubicBezTo>
                <a:cubicBezTo>
                  <a:pt x="519650" y="1157524"/>
                  <a:pt x="457798" y="1131612"/>
                  <a:pt x="391358" y="1108621"/>
                </a:cubicBezTo>
                <a:cubicBezTo>
                  <a:pt x="343386" y="1091844"/>
                  <a:pt x="295414" y="1075067"/>
                  <a:pt x="258466" y="1051446"/>
                </a:cubicBezTo>
                <a:cubicBezTo>
                  <a:pt x="239512" y="1039678"/>
                  <a:pt x="230024" y="1025400"/>
                  <a:pt x="227119" y="1008864"/>
                </a:cubicBezTo>
                <a:cubicBezTo>
                  <a:pt x="226729" y="1004421"/>
                  <a:pt x="227253" y="999338"/>
                  <a:pt x="237176" y="996508"/>
                </a:cubicBezTo>
                <a:cubicBezTo>
                  <a:pt x="247123" y="993956"/>
                  <a:pt x="253208" y="997060"/>
                  <a:pt x="257395" y="1000610"/>
                </a:cubicBezTo>
                <a:cubicBezTo>
                  <a:pt x="262111" y="1004674"/>
                  <a:pt x="267716" y="1007820"/>
                  <a:pt x="275649" y="1009921"/>
                </a:cubicBezTo>
                <a:cubicBezTo>
                  <a:pt x="345186" y="1029563"/>
                  <a:pt x="406508" y="1054962"/>
                  <a:pt x="469199" y="1079402"/>
                </a:cubicBezTo>
                <a:cubicBezTo>
                  <a:pt x="558968" y="1114336"/>
                  <a:pt x="647368" y="1150231"/>
                  <a:pt x="753033" y="1173138"/>
                </a:cubicBezTo>
                <a:cubicBezTo>
                  <a:pt x="793015" y="1181661"/>
                  <a:pt x="834292" y="1188391"/>
                  <a:pt x="865682" y="1187316"/>
                </a:cubicBezTo>
                <a:cubicBezTo>
                  <a:pt x="750261" y="1147076"/>
                  <a:pt x="641375" y="1104025"/>
                  <a:pt x="543487" y="1053852"/>
                </a:cubicBezTo>
                <a:cubicBezTo>
                  <a:pt x="444589" y="1003208"/>
                  <a:pt x="357848" y="947579"/>
                  <a:pt x="295297" y="880592"/>
                </a:cubicBezTo>
                <a:cubicBezTo>
                  <a:pt x="288871" y="873601"/>
                  <a:pt x="284873" y="866676"/>
                  <a:pt x="264758" y="869281"/>
                </a:cubicBezTo>
                <a:cubicBezTo>
                  <a:pt x="255650" y="870360"/>
                  <a:pt x="252375" y="866170"/>
                  <a:pt x="254388" y="861516"/>
                </a:cubicBezTo>
                <a:cubicBezTo>
                  <a:pt x="266992" y="828509"/>
                  <a:pt x="236853" y="810726"/>
                  <a:pt x="190786" y="799099"/>
                </a:cubicBezTo>
                <a:cubicBezTo>
                  <a:pt x="176408" y="795324"/>
                  <a:pt x="175031" y="790688"/>
                  <a:pt x="184973" y="782539"/>
                </a:cubicBezTo>
                <a:cubicBezTo>
                  <a:pt x="198516" y="771277"/>
                  <a:pt x="196123" y="760574"/>
                  <a:pt x="187530" y="750974"/>
                </a:cubicBezTo>
                <a:cubicBezTo>
                  <a:pt x="182644" y="744967"/>
                  <a:pt x="176339" y="739364"/>
                  <a:pt x="170996" y="733676"/>
                </a:cubicBezTo>
                <a:cubicBezTo>
                  <a:pt x="167290" y="730083"/>
                  <a:pt x="161157" y="726424"/>
                  <a:pt x="169444" y="721499"/>
                </a:cubicBezTo>
                <a:cubicBezTo>
                  <a:pt x="177298" y="717172"/>
                  <a:pt x="185665" y="718676"/>
                  <a:pt x="193501" y="719668"/>
                </a:cubicBezTo>
                <a:cubicBezTo>
                  <a:pt x="231170" y="723917"/>
                  <a:pt x="254043" y="736181"/>
                  <a:pt x="265436" y="755609"/>
                </a:cubicBezTo>
                <a:cubicBezTo>
                  <a:pt x="273963" y="769971"/>
                  <a:pt x="281726" y="770130"/>
                  <a:pt x="302333" y="756567"/>
                </a:cubicBezTo>
                <a:cubicBezTo>
                  <a:pt x="317894" y="746247"/>
                  <a:pt x="332387" y="745814"/>
                  <a:pt x="346481" y="751853"/>
                </a:cubicBezTo>
                <a:cubicBezTo>
                  <a:pt x="354007" y="754830"/>
                  <a:pt x="358771" y="759448"/>
                  <a:pt x="364449" y="763428"/>
                </a:cubicBezTo>
                <a:cubicBezTo>
                  <a:pt x="392910" y="784156"/>
                  <a:pt x="422762" y="804202"/>
                  <a:pt x="467363" y="815678"/>
                </a:cubicBezTo>
                <a:cubicBezTo>
                  <a:pt x="487199" y="820933"/>
                  <a:pt x="508355" y="824672"/>
                  <a:pt x="537693" y="816781"/>
                </a:cubicBezTo>
                <a:cubicBezTo>
                  <a:pt x="518386" y="812039"/>
                  <a:pt x="499567" y="812852"/>
                  <a:pt x="482019" y="811593"/>
                </a:cubicBezTo>
                <a:cubicBezTo>
                  <a:pt x="464472" y="810335"/>
                  <a:pt x="454949" y="806693"/>
                  <a:pt x="467050" y="795557"/>
                </a:cubicBezTo>
                <a:cubicBezTo>
                  <a:pt x="473772" y="789371"/>
                  <a:pt x="472878" y="784693"/>
                  <a:pt x="465734" y="780562"/>
                </a:cubicBezTo>
                <a:cubicBezTo>
                  <a:pt x="442763" y="767188"/>
                  <a:pt x="430336" y="747011"/>
                  <a:pt x="384526" y="749353"/>
                </a:cubicBezTo>
                <a:cubicBezTo>
                  <a:pt x="382123" y="749564"/>
                  <a:pt x="379622" y="748664"/>
                  <a:pt x="377146" y="748041"/>
                </a:cubicBezTo>
                <a:cubicBezTo>
                  <a:pt x="367744" y="745789"/>
                  <a:pt x="357358" y="743342"/>
                  <a:pt x="360089" y="735827"/>
                </a:cubicBezTo>
                <a:cubicBezTo>
                  <a:pt x="363301" y="728269"/>
                  <a:pt x="375652" y="725506"/>
                  <a:pt x="386634" y="723703"/>
                </a:cubicBezTo>
                <a:cubicBezTo>
                  <a:pt x="414823" y="719269"/>
                  <a:pt x="437543" y="724271"/>
                  <a:pt x="459375" y="730191"/>
                </a:cubicBezTo>
                <a:cubicBezTo>
                  <a:pt x="512487" y="744837"/>
                  <a:pt x="556932" y="765561"/>
                  <a:pt x="603200" y="785006"/>
                </a:cubicBezTo>
                <a:cubicBezTo>
                  <a:pt x="672604" y="814173"/>
                  <a:pt x="734250" y="848778"/>
                  <a:pt x="810521" y="873425"/>
                </a:cubicBezTo>
                <a:cubicBezTo>
                  <a:pt x="1037317" y="946423"/>
                  <a:pt x="1260943" y="1021938"/>
                  <a:pt x="1494102" y="1090180"/>
                </a:cubicBezTo>
                <a:cubicBezTo>
                  <a:pt x="1580109" y="1115371"/>
                  <a:pt x="1667892" y="1138728"/>
                  <a:pt x="1756565" y="1161167"/>
                </a:cubicBezTo>
                <a:cubicBezTo>
                  <a:pt x="1756899" y="1159458"/>
                  <a:pt x="1757282" y="1158305"/>
                  <a:pt x="1757592" y="1156319"/>
                </a:cubicBezTo>
                <a:cubicBezTo>
                  <a:pt x="1757470" y="1154931"/>
                  <a:pt x="1757324" y="1153264"/>
                  <a:pt x="1757202" y="1151876"/>
                </a:cubicBezTo>
                <a:cubicBezTo>
                  <a:pt x="1694452" y="1137796"/>
                  <a:pt x="1632540" y="1122242"/>
                  <a:pt x="1572453" y="1105409"/>
                </a:cubicBezTo>
                <a:cubicBezTo>
                  <a:pt x="1424942" y="1063789"/>
                  <a:pt x="1288864" y="1014450"/>
                  <a:pt x="1171972" y="951953"/>
                </a:cubicBezTo>
                <a:cubicBezTo>
                  <a:pt x="1162328" y="946924"/>
                  <a:pt x="1152112" y="946421"/>
                  <a:pt x="1137334" y="949118"/>
                </a:cubicBezTo>
                <a:cubicBezTo>
                  <a:pt x="1089682" y="958058"/>
                  <a:pt x="1074050" y="951035"/>
                  <a:pt x="1081493" y="925476"/>
                </a:cubicBezTo>
                <a:cubicBezTo>
                  <a:pt x="1083360" y="919155"/>
                  <a:pt x="1083403" y="914115"/>
                  <a:pt x="1074768" y="909555"/>
                </a:cubicBezTo>
                <a:cubicBezTo>
                  <a:pt x="1036165" y="889158"/>
                  <a:pt x="995714" y="869763"/>
                  <a:pt x="952019" y="852050"/>
                </a:cubicBezTo>
                <a:cubicBezTo>
                  <a:pt x="871170" y="819410"/>
                  <a:pt x="784821" y="790332"/>
                  <a:pt x="709017" y="754450"/>
                </a:cubicBezTo>
                <a:cubicBezTo>
                  <a:pt x="686747" y="743533"/>
                  <a:pt x="669617" y="730485"/>
                  <a:pt x="659046" y="714902"/>
                </a:cubicBezTo>
                <a:cubicBezTo>
                  <a:pt x="655674" y="709602"/>
                  <a:pt x="653624" y="702786"/>
                  <a:pt x="664793" y="697608"/>
                </a:cubicBezTo>
                <a:cubicBezTo>
                  <a:pt x="675483" y="692472"/>
                  <a:pt x="684069" y="696476"/>
                  <a:pt x="692052" y="699133"/>
                </a:cubicBezTo>
                <a:cubicBezTo>
                  <a:pt x="725451" y="709913"/>
                  <a:pt x="759355" y="720929"/>
                  <a:pt x="792779" y="731987"/>
                </a:cubicBezTo>
                <a:cubicBezTo>
                  <a:pt x="826682" y="743003"/>
                  <a:pt x="860155" y="754616"/>
                  <a:pt x="895574" y="766338"/>
                </a:cubicBezTo>
                <a:cubicBezTo>
                  <a:pt x="897416" y="759741"/>
                  <a:pt x="890085" y="758985"/>
                  <a:pt x="886044" y="757101"/>
                </a:cubicBezTo>
                <a:cubicBezTo>
                  <a:pt x="828975" y="730489"/>
                  <a:pt x="766861" y="707118"/>
                  <a:pt x="702924" y="685027"/>
                </a:cubicBezTo>
                <a:cubicBezTo>
                  <a:pt x="653460" y="667821"/>
                  <a:pt x="605342" y="649378"/>
                  <a:pt x="571540" y="622962"/>
                </a:cubicBezTo>
                <a:cubicBezTo>
                  <a:pt x="558524" y="612632"/>
                  <a:pt x="551227" y="601239"/>
                  <a:pt x="552940" y="587657"/>
                </a:cubicBezTo>
                <a:cubicBezTo>
                  <a:pt x="553537" y="583407"/>
                  <a:pt x="554132" y="579157"/>
                  <a:pt x="563623" y="576925"/>
                </a:cubicBezTo>
                <a:cubicBezTo>
                  <a:pt x="571217" y="575139"/>
                  <a:pt x="576243" y="577216"/>
                  <a:pt x="580332" y="579656"/>
                </a:cubicBezTo>
                <a:cubicBezTo>
                  <a:pt x="587500" y="584063"/>
                  <a:pt x="594668" y="588471"/>
                  <a:pt x="604623" y="591516"/>
                </a:cubicBezTo>
                <a:cubicBezTo>
                  <a:pt x="664350" y="609779"/>
                  <a:pt x="720426" y="630601"/>
                  <a:pt x="775136" y="652383"/>
                </a:cubicBezTo>
                <a:cubicBezTo>
                  <a:pt x="864952" y="687874"/>
                  <a:pt x="953882" y="724283"/>
                  <a:pt x="1057795" y="749301"/>
                </a:cubicBezTo>
                <a:cubicBezTo>
                  <a:pt x="1096889" y="758742"/>
                  <a:pt x="1137304" y="766668"/>
                  <a:pt x="1183454" y="768213"/>
                </a:cubicBezTo>
                <a:cubicBezTo>
                  <a:pt x="1181768" y="765563"/>
                  <a:pt x="1178737" y="764150"/>
                  <a:pt x="1175732" y="763015"/>
                </a:cubicBezTo>
                <a:cubicBezTo>
                  <a:pt x="1075170" y="726508"/>
                  <a:pt x="977850" y="688319"/>
                  <a:pt x="888743" y="644370"/>
                </a:cubicBezTo>
                <a:cubicBezTo>
                  <a:pt x="778881" y="590211"/>
                  <a:pt x="683912" y="529148"/>
                  <a:pt x="615490" y="455960"/>
                </a:cubicBezTo>
                <a:cubicBezTo>
                  <a:pt x="612312" y="452882"/>
                  <a:pt x="610122" y="449996"/>
                  <a:pt x="602432" y="450671"/>
                </a:cubicBezTo>
                <a:cubicBezTo>
                  <a:pt x="582748" y="452678"/>
                  <a:pt x="580338" y="447293"/>
                  <a:pt x="582418" y="437876"/>
                </a:cubicBezTo>
                <a:cubicBezTo>
                  <a:pt x="588134" y="414707"/>
                  <a:pt x="573498" y="396964"/>
                  <a:pt x="539211" y="387101"/>
                </a:cubicBezTo>
                <a:cubicBezTo>
                  <a:pt x="514350" y="379769"/>
                  <a:pt x="493430" y="373210"/>
                  <a:pt x="519748" y="352990"/>
                </a:cubicBezTo>
                <a:cubicBezTo>
                  <a:pt x="526113" y="348234"/>
                  <a:pt x="523173" y="342336"/>
                  <a:pt x="520282" y="336993"/>
                </a:cubicBezTo>
                <a:cubicBezTo>
                  <a:pt x="516186" y="328957"/>
                  <a:pt x="507910" y="322968"/>
                  <a:pt x="498650" y="316785"/>
                </a:cubicBezTo>
                <a:cubicBezTo>
                  <a:pt x="493501" y="313319"/>
                  <a:pt x="487271" y="308549"/>
                  <a:pt x="493610" y="303515"/>
                </a:cubicBezTo>
                <a:cubicBezTo>
                  <a:pt x="500838" y="297564"/>
                  <a:pt x="511247" y="300288"/>
                  <a:pt x="519565" y="301237"/>
                </a:cubicBezTo>
                <a:cubicBezTo>
                  <a:pt x="557715" y="305444"/>
                  <a:pt x="581118" y="318221"/>
                  <a:pt x="592560" y="338204"/>
                </a:cubicBezTo>
                <a:cubicBezTo>
                  <a:pt x="599979" y="350985"/>
                  <a:pt x="609184" y="351016"/>
                  <a:pt x="627076" y="339652"/>
                </a:cubicBezTo>
                <a:cubicBezTo>
                  <a:pt x="647275" y="326965"/>
                  <a:pt x="664147" y="326044"/>
                  <a:pt x="679640" y="336997"/>
                </a:cubicBezTo>
                <a:cubicBezTo>
                  <a:pt x="692054" y="345981"/>
                  <a:pt x="702112" y="355732"/>
                  <a:pt x="716352" y="363437"/>
                </a:cubicBezTo>
                <a:cubicBezTo>
                  <a:pt x="754546" y="384710"/>
                  <a:pt x="790508" y="408138"/>
                  <a:pt x="869745" y="400343"/>
                </a:cubicBezTo>
                <a:cubicBezTo>
                  <a:pt x="847718" y="392203"/>
                  <a:pt x="825656" y="394699"/>
                  <a:pt x="806641" y="393290"/>
                </a:cubicBezTo>
                <a:cubicBezTo>
                  <a:pt x="792988" y="392249"/>
                  <a:pt x="779165" y="389265"/>
                  <a:pt x="791435" y="380072"/>
                </a:cubicBezTo>
                <a:cubicBezTo>
                  <a:pt x="805532" y="369601"/>
                  <a:pt x="796441" y="365362"/>
                  <a:pt x="787709" y="359692"/>
                </a:cubicBezTo>
                <a:cubicBezTo>
                  <a:pt x="767647" y="346342"/>
                  <a:pt x="751260" y="330710"/>
                  <a:pt x="711071" y="330880"/>
                </a:cubicBezTo>
                <a:cubicBezTo>
                  <a:pt x="704773" y="330873"/>
                  <a:pt x="699699" y="328240"/>
                  <a:pt x="694722" y="326718"/>
                </a:cubicBezTo>
                <a:cubicBezTo>
                  <a:pt x="687749" y="324532"/>
                  <a:pt x="681713" y="321984"/>
                  <a:pt x="684613" y="316412"/>
                </a:cubicBezTo>
                <a:cubicBezTo>
                  <a:pt x="687565" y="311396"/>
                  <a:pt x="694531" y="307986"/>
                  <a:pt x="703615" y="306629"/>
                </a:cubicBezTo>
                <a:cubicBezTo>
                  <a:pt x="711738" y="305356"/>
                  <a:pt x="720365" y="304319"/>
                  <a:pt x="728585" y="304157"/>
                </a:cubicBezTo>
                <a:cubicBezTo>
                  <a:pt x="765287" y="302895"/>
                  <a:pt x="791378" y="313197"/>
                  <a:pt x="817397" y="322666"/>
                </a:cubicBezTo>
                <a:cubicBezTo>
                  <a:pt x="908436" y="355531"/>
                  <a:pt x="989341" y="394323"/>
                  <a:pt x="1073943" y="431110"/>
                </a:cubicBezTo>
                <a:cubicBezTo>
                  <a:pt x="1158521" y="467620"/>
                  <a:pt x="1256741" y="493978"/>
                  <a:pt x="1349484" y="524175"/>
                </a:cubicBezTo>
                <a:cubicBezTo>
                  <a:pt x="1563417" y="594105"/>
                  <a:pt x="1778287" y="663672"/>
                  <a:pt x="2004921" y="723811"/>
                </a:cubicBezTo>
                <a:cubicBezTo>
                  <a:pt x="2226580" y="782429"/>
                  <a:pt x="2967159" y="809769"/>
                  <a:pt x="3111348" y="808027"/>
                </a:cubicBezTo>
                <a:cubicBezTo>
                  <a:pt x="3295676" y="805559"/>
                  <a:pt x="3730204" y="773014"/>
                  <a:pt x="4173417" y="745585"/>
                </a:cubicBezTo>
                <a:cubicBezTo>
                  <a:pt x="4223504" y="742307"/>
                  <a:pt x="4272653" y="739393"/>
                  <a:pt x="4324760" y="737057"/>
                </a:cubicBezTo>
                <a:cubicBezTo>
                  <a:pt x="5801059" y="670156"/>
                  <a:pt x="6841344" y="326433"/>
                  <a:pt x="6893789" y="305879"/>
                </a:cubicBezTo>
                <a:cubicBezTo>
                  <a:pt x="6978091" y="273014"/>
                  <a:pt x="7258655" y="208091"/>
                  <a:pt x="7259184" y="208604"/>
                </a:cubicBezTo>
                <a:cubicBezTo>
                  <a:pt x="7265440" y="213652"/>
                  <a:pt x="7297274" y="217644"/>
                  <a:pt x="7323059" y="220312"/>
                </a:cubicBezTo>
                <a:lnTo>
                  <a:pt x="7347572" y="222730"/>
                </a:lnTo>
                <a:lnTo>
                  <a:pt x="7350636" y="224083"/>
                </a:lnTo>
                <a:cubicBezTo>
                  <a:pt x="7359607" y="224205"/>
                  <a:pt x="7359159" y="223929"/>
                  <a:pt x="7353245" y="223290"/>
                </a:cubicBezTo>
                <a:lnTo>
                  <a:pt x="7347572" y="222730"/>
                </a:lnTo>
                <a:lnTo>
                  <a:pt x="7342573" y="220523"/>
                </a:lnTo>
                <a:cubicBezTo>
                  <a:pt x="7341302" y="218466"/>
                  <a:pt x="7341191" y="215818"/>
                  <a:pt x="7341465" y="213415"/>
                </a:cubicBezTo>
                <a:cubicBezTo>
                  <a:pt x="7342771" y="200707"/>
                  <a:pt x="7352468" y="189782"/>
                  <a:pt x="7375606" y="182994"/>
                </a:cubicBezTo>
                <a:cubicBezTo>
                  <a:pt x="7397808" y="176568"/>
                  <a:pt x="7420538" y="170655"/>
                  <a:pt x="7443270" y="164742"/>
                </a:cubicBezTo>
                <a:cubicBezTo>
                  <a:pt x="7462204" y="159722"/>
                  <a:pt x="7475181" y="158583"/>
                  <a:pt x="7478299" y="172021"/>
                </a:cubicBezTo>
                <a:cubicBezTo>
                  <a:pt x="7481416" y="185460"/>
                  <a:pt x="7508389" y="189249"/>
                  <a:pt x="7524024" y="179761"/>
                </a:cubicBezTo>
                <a:cubicBezTo>
                  <a:pt x="7585174" y="142492"/>
                  <a:pt x="7658615" y="112820"/>
                  <a:pt x="7727944" y="80430"/>
                </a:cubicBezTo>
                <a:cubicBezTo>
                  <a:pt x="7776349" y="57992"/>
                  <a:pt x="7827303" y="37009"/>
                  <a:pt x="7867024" y="9456"/>
                </a:cubicBezTo>
                <a:cubicBezTo>
                  <a:pt x="7874326" y="4338"/>
                  <a:pt x="7880999" y="-2404"/>
                  <a:pt x="7894848" y="858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0757377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30781C5-406F-72E7-FDFB-882EFE8A0AD2}"/>
              </a:ext>
            </a:extLst>
          </p:cNvPr>
          <p:cNvSpPr txBox="1"/>
          <p:nvPr/>
        </p:nvSpPr>
        <p:spPr>
          <a:xfrm>
            <a:off x="381000" y="223415"/>
            <a:ext cx="11430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b="1" dirty="0"/>
              <a:t>Final project</a:t>
            </a:r>
            <a:endParaRPr sz="3000" b="1" dirty="0"/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F217D5EC-766F-5E3E-3CF0-CC835026A297}"/>
              </a:ext>
            </a:extLst>
          </p:cNvPr>
          <p:cNvSpPr txBox="1"/>
          <p:nvPr/>
        </p:nvSpPr>
        <p:spPr>
          <a:xfrm>
            <a:off x="381000" y="1305498"/>
            <a:ext cx="1143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dirty="0" err="1"/>
              <a:t>請做一個自已有興趣的app</a:t>
            </a:r>
            <a:endParaRPr sz="2400" b="1" dirty="0"/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2F56AEA6-CD64-2A6D-769C-57918BBBEE1C}"/>
              </a:ext>
            </a:extLst>
          </p:cNvPr>
          <p:cNvSpPr txBox="1"/>
          <p:nvPr/>
        </p:nvSpPr>
        <p:spPr>
          <a:xfrm>
            <a:off x="381000" y="2230900"/>
            <a:ext cx="11430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dirty="0" err="1"/>
              <a:t>裡面要有plan.md檔</a:t>
            </a:r>
            <a:r>
              <a:rPr lang="zh-TW" altLang="en-US" sz="2400" b="1" dirty="0"/>
              <a:t>，寫下為什麼要做這個</a:t>
            </a:r>
            <a:r>
              <a:rPr lang="en-US" altLang="zh-TW" sz="2400" b="1" dirty="0"/>
              <a:t>app</a:t>
            </a:r>
            <a:r>
              <a:rPr lang="zh-TW" altLang="en-US" sz="2400" b="1" dirty="0"/>
              <a:t>，以及怎麼設計這個</a:t>
            </a:r>
            <a:r>
              <a:rPr lang="en-US" altLang="zh-TW" sz="2400" b="1" dirty="0"/>
              <a:t>app;</a:t>
            </a:r>
            <a:r>
              <a:rPr lang="zh-TW" altLang="en-US" sz="2400" b="1" dirty="0"/>
              <a:t> 另外要使用</a:t>
            </a:r>
            <a:r>
              <a:rPr lang="en-US" altLang="zh-TW" sz="2400" b="1" dirty="0"/>
              <a:t>git</a:t>
            </a:r>
            <a:r>
              <a:rPr lang="zh-TW" altLang="en-US" sz="2400" b="1" dirty="0"/>
              <a:t> 進行檔案追縱</a:t>
            </a:r>
            <a:r>
              <a:rPr lang="en-US" altLang="zh-TW" sz="2400" b="1" dirty="0"/>
              <a:t>; </a:t>
            </a:r>
            <a:r>
              <a:rPr lang="zh-TW" altLang="en-US" sz="2400" b="1" dirty="0"/>
              <a:t>需部署在免費網站上</a:t>
            </a:r>
            <a:r>
              <a:rPr lang="en-US" altLang="zh-TW" sz="2400" b="1" dirty="0"/>
              <a:t>; </a:t>
            </a:r>
            <a:r>
              <a:rPr lang="zh-TW" altLang="en-US" sz="2400" b="1" dirty="0"/>
              <a:t>最後加上</a:t>
            </a:r>
            <a:r>
              <a:rPr lang="en-US" altLang="zh-TW" sz="2400" b="1" dirty="0"/>
              <a:t>Demo</a:t>
            </a:r>
            <a:r>
              <a:rPr lang="zh-TW" altLang="en-US" sz="2400" b="1" dirty="0"/>
              <a:t>影片上傳到</a:t>
            </a:r>
            <a:r>
              <a:rPr lang="en-US" altLang="zh-TW" sz="2400" b="1" dirty="0" err="1"/>
              <a:t>youtube</a:t>
            </a:r>
            <a:r>
              <a:rPr lang="zh-TW" altLang="en-US" sz="2400" b="1" dirty="0"/>
              <a:t>網站</a:t>
            </a:r>
            <a:endParaRPr lang="en-US" altLang="zh-TW" sz="2400" b="1" dirty="0"/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34EC6A44-B975-292E-6C82-40F5FC1F60EB}"/>
              </a:ext>
            </a:extLst>
          </p:cNvPr>
          <p:cNvSpPr txBox="1"/>
          <p:nvPr/>
        </p:nvSpPr>
        <p:spPr>
          <a:xfrm>
            <a:off x="381000" y="5761160"/>
            <a:ext cx="1143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dirty="0" err="1"/>
              <a:t>評分</a:t>
            </a:r>
            <a:r>
              <a:rPr lang="en-US" sz="2400" b="1" dirty="0"/>
              <a:t>:</a:t>
            </a:r>
            <a:r>
              <a:rPr lang="zh-TW" altLang="en-US" sz="2400" b="1" dirty="0"/>
              <a:t> 創意</a:t>
            </a:r>
            <a:r>
              <a:rPr lang="en-US" altLang="zh-TW" sz="2400" b="1" dirty="0"/>
              <a:t>(5%)</a:t>
            </a:r>
            <a:r>
              <a:rPr lang="zh-TW" altLang="en-US" sz="2400" b="1" dirty="0"/>
              <a:t>，實用度</a:t>
            </a:r>
            <a:r>
              <a:rPr lang="en-US" altLang="zh-TW" sz="2400" b="1" dirty="0"/>
              <a:t>(5</a:t>
            </a:r>
            <a:r>
              <a:rPr lang="zh-TW" altLang="en-US" sz="2400" b="1" dirty="0"/>
              <a:t> </a:t>
            </a:r>
            <a:r>
              <a:rPr lang="en-US" altLang="zh-TW" sz="2400" b="1" dirty="0"/>
              <a:t>%)</a:t>
            </a:r>
            <a:r>
              <a:rPr lang="zh-TW" altLang="en-US" sz="2400" b="1" dirty="0"/>
              <a:t>，美觀</a:t>
            </a:r>
            <a:r>
              <a:rPr lang="en-US" altLang="zh-TW" sz="2400" b="1" dirty="0"/>
              <a:t>(5%)</a:t>
            </a:r>
            <a:r>
              <a:rPr lang="zh-TW" altLang="en-US" sz="2400" b="1" dirty="0"/>
              <a:t>，完成度</a:t>
            </a:r>
            <a:r>
              <a:rPr lang="en-US" altLang="zh-TW" sz="2400" b="1" dirty="0"/>
              <a:t>(80%)</a:t>
            </a:r>
            <a:r>
              <a:rPr lang="zh-TW" altLang="en-US" sz="2400" b="1" dirty="0"/>
              <a:t>，完成難度</a:t>
            </a:r>
            <a:r>
              <a:rPr lang="en-US" altLang="zh-TW" sz="2400" b="1" dirty="0"/>
              <a:t>(5%)</a:t>
            </a:r>
            <a:endParaRPr sz="2400" b="1" dirty="0"/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5326049B-3A46-1263-00C6-1C5B3958C3FB}"/>
              </a:ext>
            </a:extLst>
          </p:cNvPr>
          <p:cNvSpPr txBox="1"/>
          <p:nvPr/>
        </p:nvSpPr>
        <p:spPr>
          <a:xfrm>
            <a:off x="381000" y="3525634"/>
            <a:ext cx="11430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TW" altLang="en-US" sz="2400" b="1" dirty="0"/>
              <a:t>最後將整個傳到</a:t>
            </a:r>
            <a:r>
              <a:rPr lang="en-US" altLang="zh-TW" sz="2400" b="1" dirty="0" err="1"/>
              <a:t>github</a:t>
            </a:r>
            <a:r>
              <a:rPr lang="en-US" altLang="zh-TW" sz="2400" b="1" dirty="0"/>
              <a:t> ; </a:t>
            </a:r>
            <a:r>
              <a:rPr lang="zh-TW" altLang="en-US" sz="2400" b="1" dirty="0"/>
              <a:t>把</a:t>
            </a:r>
            <a:r>
              <a:rPr lang="en-US" altLang="zh-TW" sz="2400" b="1" dirty="0" err="1"/>
              <a:t>github</a:t>
            </a:r>
            <a:r>
              <a:rPr lang="zh-TW" altLang="en-US" sz="2400" b="1" dirty="0"/>
              <a:t>網址貼到</a:t>
            </a:r>
            <a:r>
              <a:rPr lang="en-US" altLang="zh-TW" sz="2400" b="1" dirty="0"/>
              <a:t>excel</a:t>
            </a:r>
            <a:r>
              <a:rPr lang="zh-TW" altLang="en-US" sz="2400" b="1" dirty="0"/>
              <a:t>，網站也貼到</a:t>
            </a:r>
            <a:r>
              <a:rPr lang="en-US" altLang="zh-TW" sz="2400" b="1" dirty="0"/>
              <a:t>excel;</a:t>
            </a:r>
            <a:r>
              <a:rPr lang="zh-TW" altLang="en-US" sz="2400" b="1" dirty="0"/>
              <a:t> </a:t>
            </a:r>
            <a:r>
              <a:rPr lang="en-US" altLang="zh-TW" sz="2400" b="1" dirty="0" err="1"/>
              <a:t>youtube</a:t>
            </a:r>
            <a:r>
              <a:rPr lang="en-US" altLang="zh-TW" sz="2400" b="1" dirty="0"/>
              <a:t> Demo</a:t>
            </a:r>
            <a:r>
              <a:rPr lang="zh-TW" altLang="en-US" sz="2400" b="1" dirty="0"/>
              <a:t>也貼到</a:t>
            </a:r>
            <a:r>
              <a:rPr lang="en-US" altLang="zh-TW" sz="2400" b="1" dirty="0"/>
              <a:t>excel</a:t>
            </a:r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DF96B72A-C577-FC37-8454-B5657D8669FA}"/>
              </a:ext>
            </a:extLst>
          </p:cNvPr>
          <p:cNvSpPr txBox="1"/>
          <p:nvPr/>
        </p:nvSpPr>
        <p:spPr>
          <a:xfrm>
            <a:off x="381000" y="4597230"/>
            <a:ext cx="1143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TW" sz="2400" b="1" dirty="0">
                <a:solidFill>
                  <a:srgbClr val="FF0000"/>
                </a:solidFill>
              </a:rPr>
              <a:t>6/15</a:t>
            </a:r>
            <a:r>
              <a:rPr lang="zh-TW" altLang="en-US" sz="2400" b="1" dirty="0">
                <a:solidFill>
                  <a:srgbClr val="FF0000"/>
                </a:solidFill>
              </a:rPr>
              <a:t> </a:t>
            </a:r>
            <a:r>
              <a:rPr lang="en-US" altLang="zh-TW" sz="2400" b="1" dirty="0">
                <a:solidFill>
                  <a:srgbClr val="FF0000"/>
                </a:solidFill>
              </a:rPr>
              <a:t>0:00</a:t>
            </a:r>
            <a:r>
              <a:rPr lang="zh-TW" altLang="en-US" sz="2400" b="1" dirty="0">
                <a:solidFill>
                  <a:srgbClr val="FF0000"/>
                </a:solidFill>
              </a:rPr>
              <a:t> 前繳交，逾時不候</a:t>
            </a:r>
            <a:endParaRPr lang="en-US" altLang="zh-TW" sz="2400" b="1" dirty="0">
              <a:solidFill>
                <a:srgbClr val="FF0000"/>
              </a:solidFill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229364CF-E9A6-6DDE-49D4-6A5C411EAD54}"/>
              </a:ext>
            </a:extLst>
          </p:cNvPr>
          <p:cNvSpPr txBox="1"/>
          <p:nvPr/>
        </p:nvSpPr>
        <p:spPr>
          <a:xfrm>
            <a:off x="4441369" y="1333483"/>
            <a:ext cx="7467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例子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zh-TW" altLang="en-US" dirty="0">
                <a:hlinkClick r:id="rId2"/>
              </a:rPr>
              <a:t>https://huggingface.co/spaces/chenyc0901/edu-cell-counting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66175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201168" cy="6858000"/>
          </a:xfrm>
          <a:prstGeom prst="rect">
            <a:avLst/>
          </a:prstGeom>
          <a:solidFill>
            <a:srgbClr val="00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3068" y="1188721"/>
            <a:ext cx="1124712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>
                <a:solidFill>
                  <a:srgbClr val="FFFFFF"/>
                </a:solidFill>
              </a:rPr>
              <a:t>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3068" y="2514601"/>
            <a:ext cx="112471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</a:rPr>
              <a:t>Vibe Coding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2927668" y="4160520"/>
            <a:ext cx="6309360" cy="64008"/>
          </a:xfrm>
          <a:prstGeom prst="rect">
            <a:avLst/>
          </a:prstGeom>
          <a:solidFill>
            <a:srgbClr val="00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3068" y="4315969"/>
            <a:ext cx="112471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>
                <a:solidFill>
                  <a:srgbClr val="BBCCDD"/>
                </a:solidFill>
              </a:rPr>
              <a:t>用說話的方式寫程式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1005840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960120"/>
            <a:ext cx="12188952" cy="91440"/>
          </a:xfrm>
          <a:prstGeom prst="rect">
            <a:avLst/>
          </a:prstGeom>
          <a:solidFill>
            <a:srgbClr val="00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3068" y="91440"/>
            <a:ext cx="11430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誰發明的？一句話改變了大家對寫程式的想像</a:t>
            </a:r>
          </a:p>
        </p:txBody>
      </p:sp>
      <p:sp>
        <p:nvSpPr>
          <p:cNvPr id="5" name="Rectangle 4"/>
          <p:cNvSpPr/>
          <p:nvPr/>
        </p:nvSpPr>
        <p:spPr>
          <a:xfrm>
            <a:off x="413068" y="1170432"/>
            <a:ext cx="11338560" cy="1920240"/>
          </a:xfrm>
          <a:prstGeom prst="rect">
            <a:avLst/>
          </a:prstGeom>
          <a:solidFill>
            <a:srgbClr val="F3F6FB"/>
          </a:solidFill>
          <a:ln w="25400">
            <a:solidFill>
              <a:srgbClr val="177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1668" y="1243584"/>
            <a:ext cx="10972800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i="1">
                <a:solidFill>
                  <a:srgbClr val="0F1E3C"/>
                </a:solidFill>
              </a:rPr>
              <a:t>"Fully give in to the vibes,
embrace exponentials,
and forget that the code even exists."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6708" y="3145536"/>
            <a:ext cx="4846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>
                <a:solidFill>
                  <a:srgbClr val="4A5A78"/>
                </a:solidFill>
              </a:rPr>
              <a:t>── Andrej Karpathy，2025 年 2 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3068" y="3730752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E3C"/>
                </a:solidFill>
              </a:rPr>
              <a:t>Andrej Karpathy 是誰？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413068" y="4187952"/>
            <a:ext cx="5074920" cy="2423160"/>
          </a:xfrm>
          <a:prstGeom prst="rect">
            <a:avLst/>
          </a:prstGeom>
          <a:solidFill>
            <a:srgbClr val="F3F6FB"/>
          </a:solidFill>
          <a:ln w="22860">
            <a:solidFill>
              <a:srgbClr val="00A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1460" y="4200144"/>
            <a:ext cx="4800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00A366"/>
                </a:solidFill>
              </a:rPr>
              <a:t>他的背景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1460" y="4657344"/>
            <a:ext cx="4800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4A5A78"/>
                </a:solidFill>
              </a:rPr>
              <a:t>• OpenAI 共同創辦人之一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1460" y="5205984"/>
            <a:ext cx="4800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dirty="0">
                <a:solidFill>
                  <a:srgbClr val="4A5A78"/>
                </a:solidFill>
              </a:rPr>
              <a:t>• Tesla </a:t>
            </a:r>
            <a:r>
              <a:rPr sz="1600" dirty="0" err="1">
                <a:solidFill>
                  <a:srgbClr val="4A5A78"/>
                </a:solidFill>
              </a:rPr>
              <a:t>前</a:t>
            </a:r>
            <a:r>
              <a:rPr sz="1600" dirty="0">
                <a:solidFill>
                  <a:srgbClr val="4A5A78"/>
                </a:solidFill>
              </a:rPr>
              <a:t> AI </a:t>
            </a:r>
            <a:r>
              <a:rPr sz="1600" dirty="0" err="1">
                <a:solidFill>
                  <a:srgbClr val="4A5A78"/>
                </a:solidFill>
              </a:rPr>
              <a:t>主管</a:t>
            </a:r>
            <a:endParaRPr sz="1600" dirty="0">
              <a:solidFill>
                <a:srgbClr val="4A5A78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01460" y="5754624"/>
            <a:ext cx="4800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4A5A78"/>
                </a:solidFill>
              </a:rPr>
              <a:t>• Stanford AI 博士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1460" y="6303264"/>
            <a:ext cx="4800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4A5A78"/>
                </a:solidFill>
              </a:rPr>
              <a:t>• AI 圈非常有影響力 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70868" y="4187952"/>
            <a:ext cx="6126480" cy="2423160"/>
          </a:xfrm>
          <a:prstGeom prst="rect">
            <a:avLst/>
          </a:prstGeom>
          <a:solidFill>
            <a:srgbClr val="F3F6FB"/>
          </a:solidFill>
          <a:ln w="19050">
            <a:solidFill>
              <a:srgbClr val="00A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853748" y="4279392"/>
            <a:ext cx="5760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00A366"/>
                </a:solidFill>
              </a:rPr>
              <a:t>這句話是什麼意思？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3748" y="4754880"/>
            <a:ext cx="57607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>
                <a:solidFill>
                  <a:srgbClr val="4A5A78"/>
                </a:solidFill>
              </a:rPr>
              <a:t>「順著感覺走，別執著在程式碼本身，
專注在你想要的結果就好。
讓 AI 去煩惱細節吧！」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1005840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960120"/>
            <a:ext cx="12188952" cy="91440"/>
          </a:xfrm>
          <a:prstGeom prst="rect">
            <a:avLst/>
          </a:prstGeom>
          <a:solidFill>
            <a:srgbClr val="00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3068" y="91440"/>
            <a:ext cx="11430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Vibe Coding 實際上怎麼運作？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321628" y="1170432"/>
            <a:ext cx="2743200" cy="5349240"/>
          </a:xfrm>
          <a:prstGeom prst="rect">
            <a:avLst/>
          </a:prstGeom>
          <a:solidFill>
            <a:srgbClr val="F3F6FB"/>
          </a:solidFill>
          <a:ln w="25400">
            <a:solidFill>
              <a:srgbClr val="00A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281748" y="1353312"/>
            <a:ext cx="822960" cy="822960"/>
          </a:xfrm>
          <a:prstGeom prst="rect">
            <a:avLst/>
          </a:prstGeom>
          <a:solidFill>
            <a:srgbClr val="00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81748" y="1353313"/>
            <a:ext cx="82296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1356" y="2304289"/>
            <a:ext cx="2523744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dirty="0" err="1">
                <a:solidFill>
                  <a:srgbClr val="00A366"/>
                </a:solidFill>
              </a:rPr>
              <a:t>你說你要什麼</a:t>
            </a:r>
            <a:endParaRPr sz="1900" b="1" dirty="0">
              <a:solidFill>
                <a:srgbClr val="00A366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31356" y="2834641"/>
            <a:ext cx="252374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4A5A78"/>
                </a:solidFill>
              </a:rPr>
              <a:t>「幫我做一個可以記帳的網頁，
要能分類支出、看圖表」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4828" y="3474721"/>
            <a:ext cx="2560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>
                <a:solidFill>
                  <a:srgbClr val="D0D8EA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84284" y="1170432"/>
            <a:ext cx="2743200" cy="5349240"/>
          </a:xfrm>
          <a:prstGeom prst="rect">
            <a:avLst/>
          </a:prstGeom>
          <a:solidFill>
            <a:srgbClr val="F3F6FB"/>
          </a:solidFill>
          <a:ln w="25400">
            <a:solidFill>
              <a:srgbClr val="177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44404" y="1353312"/>
            <a:ext cx="822960" cy="822960"/>
          </a:xfrm>
          <a:prstGeom prst="rect">
            <a:avLst/>
          </a:prstGeom>
          <a:solidFill>
            <a:srgbClr val="177E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44404" y="1353313"/>
            <a:ext cx="82296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94012" y="2304289"/>
            <a:ext cx="2523744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177EC1"/>
                </a:solidFill>
              </a:rPr>
              <a:t>AI 生成程式碼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94012" y="2834641"/>
            <a:ext cx="252374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4A5A78"/>
                </a:solidFill>
              </a:rPr>
              <a:t>AI 直接寫出完整程式碼
（HTML + JavaScript + 樣式）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27484" y="3474721"/>
            <a:ext cx="2560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>
                <a:solidFill>
                  <a:srgbClr val="D0D8EA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46940" y="1170432"/>
            <a:ext cx="2743200" cy="5349240"/>
          </a:xfrm>
          <a:prstGeom prst="rect">
            <a:avLst/>
          </a:prstGeom>
          <a:solidFill>
            <a:srgbClr val="F3F6FB"/>
          </a:solidFill>
          <a:ln w="25400">
            <a:solidFill>
              <a:srgbClr val="E06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207060" y="1353312"/>
            <a:ext cx="822960" cy="822960"/>
          </a:xfrm>
          <a:prstGeom prst="rect">
            <a:avLst/>
          </a:prstGeom>
          <a:solidFill>
            <a:srgbClr val="E06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207060" y="1353313"/>
            <a:ext cx="82296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6668" y="2304289"/>
            <a:ext cx="2523744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E06C10"/>
                </a:solidFill>
              </a:rPr>
              <a:t>你看結果對不對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6668" y="2834641"/>
            <a:ext cx="252374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4A5A78"/>
                </a:solidFill>
              </a:rPr>
              <a:t>打開網頁看看，哪裡不對勁
哪裡跟你想的不一樣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90140" y="3474721"/>
            <a:ext cx="2560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>
                <a:solidFill>
                  <a:srgbClr val="D0D8EA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09596" y="1170432"/>
            <a:ext cx="2743200" cy="5349240"/>
          </a:xfrm>
          <a:prstGeom prst="rect">
            <a:avLst/>
          </a:prstGeom>
          <a:solidFill>
            <a:srgbClr val="F3F6FB"/>
          </a:solidFill>
          <a:ln w="25400">
            <a:solidFill>
              <a:srgbClr val="C02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0169716" y="1353312"/>
            <a:ext cx="822960" cy="822960"/>
          </a:xfrm>
          <a:prstGeom prst="rect">
            <a:avLst/>
          </a:prstGeom>
          <a:solidFill>
            <a:srgbClr val="C02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169716" y="1353313"/>
            <a:ext cx="82296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19324" y="2304289"/>
            <a:ext cx="2523744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C02A78"/>
                </a:solidFill>
              </a:rPr>
              <a:t>再說一次調整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19324" y="2834641"/>
            <a:ext cx="252374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4A5A78"/>
                </a:solidFill>
              </a:rPr>
              <a:t>「把按鈕改成圓角」
「加一個刪除功能」
反覆直到滿意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3068" y="6510528"/>
            <a:ext cx="11338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>
                <a:solidFill>
                  <a:srgbClr val="00A366"/>
                </a:solidFill>
              </a:rPr>
              <a:t>核心觀念：你是「導演」，AI 是「演員」，說清楚你要什麼場景就好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>
            <a:extLst>
              <a:ext uri="{FF2B5EF4-FFF2-40B4-BE49-F238E27FC236}">
                <a16:creationId xmlns:a16="http://schemas.microsoft.com/office/drawing/2014/main" id="{732C2357-58AE-0CD2-0B88-D9826D9882F6}"/>
              </a:ext>
            </a:extLst>
          </p:cNvPr>
          <p:cNvSpPr/>
          <p:nvPr/>
        </p:nvSpPr>
        <p:spPr>
          <a:xfrm>
            <a:off x="840931" y="858269"/>
            <a:ext cx="1102169" cy="384721"/>
          </a:xfrm>
          <a:prstGeom prst="rect">
            <a:avLst/>
          </a:prstGeom>
          <a:solidFill>
            <a:srgbClr val="F3F6FB"/>
          </a:solidFill>
          <a:ln w="25400">
            <a:solidFill>
              <a:srgbClr val="00A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1513086E-1732-D062-6DAF-07EA6F8D733D}"/>
              </a:ext>
            </a:extLst>
          </p:cNvPr>
          <p:cNvSpPr txBox="1"/>
          <p:nvPr/>
        </p:nvSpPr>
        <p:spPr>
          <a:xfrm>
            <a:off x="602801" y="858269"/>
            <a:ext cx="160020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900" b="1" dirty="0">
                <a:solidFill>
                  <a:srgbClr val="00A366"/>
                </a:solidFill>
              </a:rPr>
              <a:t>Desktop</a:t>
            </a:r>
            <a:endParaRPr sz="1900" b="1" dirty="0">
              <a:solidFill>
                <a:srgbClr val="00A366"/>
              </a:solidFill>
            </a:endParaRPr>
          </a:p>
        </p:txBody>
      </p:sp>
      <p:pic>
        <p:nvPicPr>
          <p:cNvPr id="5" name="圖片 4" descr="Codex - Windows官方下载| 微软应用商店| Microsoft Store">
            <a:extLst>
              <a:ext uri="{FF2B5EF4-FFF2-40B4-BE49-F238E27FC236}">
                <a16:creationId xmlns:a16="http://schemas.microsoft.com/office/drawing/2014/main" id="{33C897C7-7D53-3E4E-8D61-8E2DC62BF1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491" t="7061" r="7857" b="8654"/>
          <a:stretch>
            <a:fillRect/>
          </a:stretch>
        </p:blipFill>
        <p:spPr>
          <a:xfrm>
            <a:off x="2896875" y="384887"/>
            <a:ext cx="1102169" cy="1123950"/>
          </a:xfrm>
          <a:prstGeom prst="rect">
            <a:avLst/>
          </a:prstGeom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id="{65187B78-B575-066B-4182-A86786B1223F}"/>
              </a:ext>
            </a:extLst>
          </p:cNvPr>
          <p:cNvSpPr txBox="1"/>
          <p:nvPr/>
        </p:nvSpPr>
        <p:spPr>
          <a:xfrm>
            <a:off x="2911311" y="1331650"/>
            <a:ext cx="1102169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900" b="1" dirty="0"/>
              <a:t>Codex</a:t>
            </a:r>
            <a:endParaRPr sz="1900" b="1" dirty="0"/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DCF50B11-5CFF-30CD-D3CE-A9C22CBD72F6}"/>
              </a:ext>
            </a:extLst>
          </p:cNvPr>
          <p:cNvSpPr/>
          <p:nvPr/>
        </p:nvSpPr>
        <p:spPr>
          <a:xfrm>
            <a:off x="887441" y="2953972"/>
            <a:ext cx="1102169" cy="384721"/>
          </a:xfrm>
          <a:prstGeom prst="rect">
            <a:avLst/>
          </a:prstGeom>
          <a:solidFill>
            <a:srgbClr val="F3F6FB"/>
          </a:solidFill>
          <a:ln w="254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9B44E59A-4A8C-7F6C-BFD6-EB13FA758A3C}"/>
              </a:ext>
            </a:extLst>
          </p:cNvPr>
          <p:cNvSpPr txBox="1"/>
          <p:nvPr/>
        </p:nvSpPr>
        <p:spPr>
          <a:xfrm>
            <a:off x="887441" y="2953972"/>
            <a:ext cx="1102169" cy="384721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900" b="1" dirty="0">
                <a:solidFill>
                  <a:schemeClr val="accent1">
                    <a:lumMod val="75000"/>
                  </a:schemeClr>
                </a:solidFill>
              </a:rPr>
              <a:t>IDE</a:t>
            </a:r>
            <a:endParaRPr sz="19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12" name="圖片 11" descr="Why Everyone is Talking about Google Antigravity: The Era of Agentic AI  Coding | Towards AI">
            <a:extLst>
              <a:ext uri="{FF2B5EF4-FFF2-40B4-BE49-F238E27FC236}">
                <a16:creationId xmlns:a16="http://schemas.microsoft.com/office/drawing/2014/main" id="{6D9637DA-D90F-B784-6D70-C58567AD03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3186" y="384887"/>
            <a:ext cx="1236589" cy="946763"/>
          </a:xfrm>
          <a:prstGeom prst="rect">
            <a:avLst/>
          </a:prstGeom>
        </p:spPr>
      </p:pic>
      <p:sp>
        <p:nvSpPr>
          <p:cNvPr id="13" name="TextBox 7">
            <a:extLst>
              <a:ext uri="{FF2B5EF4-FFF2-40B4-BE49-F238E27FC236}">
                <a16:creationId xmlns:a16="http://schemas.microsoft.com/office/drawing/2014/main" id="{912F8689-CFFB-D09A-FFE1-4794D31B6BAE}"/>
              </a:ext>
            </a:extLst>
          </p:cNvPr>
          <p:cNvSpPr txBox="1"/>
          <p:nvPr/>
        </p:nvSpPr>
        <p:spPr>
          <a:xfrm>
            <a:off x="4318332" y="1153544"/>
            <a:ext cx="1846295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900" b="1" dirty="0"/>
              <a:t>Google antigravity 2.0</a:t>
            </a:r>
            <a:endParaRPr sz="1900" b="1" dirty="0"/>
          </a:p>
        </p:txBody>
      </p:sp>
      <p:pic>
        <p:nvPicPr>
          <p:cNvPr id="14" name="圖片 13" descr="使用Lantern 存取Claude AI | 從任何地方開啟Anthropic">
            <a:extLst>
              <a:ext uri="{FF2B5EF4-FFF2-40B4-BE49-F238E27FC236}">
                <a16:creationId xmlns:a16="http://schemas.microsoft.com/office/drawing/2014/main" id="{51FC3B48-BA90-5987-449E-C0B5FF5BD9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6386" y="385985"/>
            <a:ext cx="1025525" cy="1025525"/>
          </a:xfrm>
          <a:prstGeom prst="rect">
            <a:avLst/>
          </a:prstGeom>
        </p:spPr>
      </p:pic>
      <p:sp>
        <p:nvSpPr>
          <p:cNvPr id="15" name="TextBox 7">
            <a:extLst>
              <a:ext uri="{FF2B5EF4-FFF2-40B4-BE49-F238E27FC236}">
                <a16:creationId xmlns:a16="http://schemas.microsoft.com/office/drawing/2014/main" id="{F7B21C9F-CCE7-8574-0941-60B0B46EB19B}"/>
              </a:ext>
            </a:extLst>
          </p:cNvPr>
          <p:cNvSpPr txBox="1"/>
          <p:nvPr/>
        </p:nvSpPr>
        <p:spPr>
          <a:xfrm>
            <a:off x="6096000" y="1411510"/>
            <a:ext cx="1846295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900" b="1" dirty="0"/>
              <a:t>Claude</a:t>
            </a:r>
            <a:endParaRPr sz="1900" b="1" dirty="0"/>
          </a:p>
        </p:txBody>
      </p:sp>
      <p:pic>
        <p:nvPicPr>
          <p:cNvPr id="16" name="圖片 15" descr="The Pulse: Antigravity 2.0 takes 'IDE' out of its new IDE">
            <a:extLst>
              <a:ext uri="{FF2B5EF4-FFF2-40B4-BE49-F238E27FC236}">
                <a16:creationId xmlns:a16="http://schemas.microsoft.com/office/drawing/2014/main" id="{4BF2BB44-37CC-04C2-697B-3F615D29A17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801" t="4676" r="52666" b="34135"/>
          <a:stretch>
            <a:fillRect/>
          </a:stretch>
        </p:blipFill>
        <p:spPr>
          <a:xfrm>
            <a:off x="2943385" y="2785865"/>
            <a:ext cx="903601" cy="837174"/>
          </a:xfrm>
          <a:prstGeom prst="rect">
            <a:avLst/>
          </a:prstGeom>
        </p:spPr>
      </p:pic>
      <p:sp>
        <p:nvSpPr>
          <p:cNvPr id="17" name="TextBox 7">
            <a:extLst>
              <a:ext uri="{FF2B5EF4-FFF2-40B4-BE49-F238E27FC236}">
                <a16:creationId xmlns:a16="http://schemas.microsoft.com/office/drawing/2014/main" id="{9E8AFCB5-51CA-3AED-5061-26F812A80D2E}"/>
              </a:ext>
            </a:extLst>
          </p:cNvPr>
          <p:cNvSpPr txBox="1"/>
          <p:nvPr/>
        </p:nvSpPr>
        <p:spPr>
          <a:xfrm>
            <a:off x="2472037" y="3775998"/>
            <a:ext cx="1846295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900" b="1" dirty="0"/>
              <a:t>Google  antigravity IDE</a:t>
            </a:r>
            <a:endParaRPr sz="1900" b="1" dirty="0"/>
          </a:p>
        </p:txBody>
      </p:sp>
      <p:sp>
        <p:nvSpPr>
          <p:cNvPr id="19" name="Rectangle 4">
            <a:extLst>
              <a:ext uri="{FF2B5EF4-FFF2-40B4-BE49-F238E27FC236}">
                <a16:creationId xmlns:a16="http://schemas.microsoft.com/office/drawing/2014/main" id="{EC67B204-D128-E4E2-F573-ECB522A2ADC6}"/>
              </a:ext>
            </a:extLst>
          </p:cNvPr>
          <p:cNvSpPr/>
          <p:nvPr/>
        </p:nvSpPr>
        <p:spPr>
          <a:xfrm>
            <a:off x="840931" y="5713139"/>
            <a:ext cx="1102169" cy="384721"/>
          </a:xfrm>
          <a:prstGeom prst="rect">
            <a:avLst/>
          </a:prstGeom>
          <a:solidFill>
            <a:srgbClr val="F3F6FB"/>
          </a:solidFill>
          <a:ln w="254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7">
            <a:extLst>
              <a:ext uri="{FF2B5EF4-FFF2-40B4-BE49-F238E27FC236}">
                <a16:creationId xmlns:a16="http://schemas.microsoft.com/office/drawing/2014/main" id="{37894210-952E-A7D1-4CF5-D3D99415E216}"/>
              </a:ext>
            </a:extLst>
          </p:cNvPr>
          <p:cNvSpPr txBox="1"/>
          <p:nvPr/>
        </p:nvSpPr>
        <p:spPr>
          <a:xfrm>
            <a:off x="840931" y="5713139"/>
            <a:ext cx="1102169" cy="384721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1900" b="1" dirty="0">
                <a:solidFill>
                  <a:schemeClr val="accent2">
                    <a:lumMod val="75000"/>
                  </a:schemeClr>
                </a:solidFill>
              </a:rPr>
              <a:t>CLI</a:t>
            </a:r>
            <a:endParaRPr sz="19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21" name="圖片 20" descr="Antigravity 2.0 登場Google 將Gemini CLI 轉型至Antigravity CLI - 流動日報">
            <a:extLst>
              <a:ext uri="{FF2B5EF4-FFF2-40B4-BE49-F238E27FC236}">
                <a16:creationId xmlns:a16="http://schemas.microsoft.com/office/drawing/2014/main" id="{3CB2CB28-4BF5-0D7A-6A7F-C656B8DCD55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9895" t="32787" b="32789"/>
          <a:stretch>
            <a:fillRect/>
          </a:stretch>
        </p:blipFill>
        <p:spPr>
          <a:xfrm>
            <a:off x="2425527" y="5294038"/>
            <a:ext cx="2197659" cy="935687"/>
          </a:xfrm>
          <a:prstGeom prst="rect">
            <a:avLst/>
          </a:prstGeom>
        </p:spPr>
      </p:pic>
      <p:sp>
        <p:nvSpPr>
          <p:cNvPr id="22" name="TextBox 7">
            <a:extLst>
              <a:ext uri="{FF2B5EF4-FFF2-40B4-BE49-F238E27FC236}">
                <a16:creationId xmlns:a16="http://schemas.microsoft.com/office/drawing/2014/main" id="{7A116A08-9294-3AE0-FB09-281545A4D6A3}"/>
              </a:ext>
            </a:extLst>
          </p:cNvPr>
          <p:cNvSpPr txBox="1"/>
          <p:nvPr/>
        </p:nvSpPr>
        <p:spPr>
          <a:xfrm>
            <a:off x="2543861" y="6215401"/>
            <a:ext cx="1846295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900" b="1" dirty="0"/>
              <a:t>Antigravity CLI</a:t>
            </a:r>
            <a:endParaRPr sz="1900" b="1" dirty="0"/>
          </a:p>
        </p:txBody>
      </p:sp>
      <p:pic>
        <p:nvPicPr>
          <p:cNvPr id="23" name="圖片 22" descr="Claude Code 101">
            <a:extLst>
              <a:ext uri="{FF2B5EF4-FFF2-40B4-BE49-F238E27FC236}">
                <a16:creationId xmlns:a16="http://schemas.microsoft.com/office/drawing/2014/main" id="{B6776716-5D7A-3F84-F7F4-CB26DD27D50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49879" t="25631" r="23244" b="36367"/>
          <a:stretch>
            <a:fillRect/>
          </a:stretch>
        </p:blipFill>
        <p:spPr>
          <a:xfrm>
            <a:off x="5527352" y="5141953"/>
            <a:ext cx="1420780" cy="1125006"/>
          </a:xfrm>
          <a:prstGeom prst="rect">
            <a:avLst/>
          </a:prstGeom>
        </p:spPr>
      </p:pic>
      <p:sp>
        <p:nvSpPr>
          <p:cNvPr id="24" name="TextBox 7">
            <a:extLst>
              <a:ext uri="{FF2B5EF4-FFF2-40B4-BE49-F238E27FC236}">
                <a16:creationId xmlns:a16="http://schemas.microsoft.com/office/drawing/2014/main" id="{9AA7F6BF-1C35-56A1-318E-5F8F7F1CC678}"/>
              </a:ext>
            </a:extLst>
          </p:cNvPr>
          <p:cNvSpPr txBox="1"/>
          <p:nvPr/>
        </p:nvSpPr>
        <p:spPr>
          <a:xfrm>
            <a:off x="5298629" y="6266959"/>
            <a:ext cx="1846295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900" b="1" dirty="0"/>
              <a:t>Claude code</a:t>
            </a:r>
            <a:endParaRPr sz="1900" b="1" dirty="0"/>
          </a:p>
        </p:txBody>
      </p:sp>
      <p:pic>
        <p:nvPicPr>
          <p:cNvPr id="25" name="圖片 24" descr="如何在Windows安裝OpenClaw 龍蝦AI代理人（Gemini + Telegram + WSL） · Ivon的部落格">
            <a:extLst>
              <a:ext uri="{FF2B5EF4-FFF2-40B4-BE49-F238E27FC236}">
                <a16:creationId xmlns:a16="http://schemas.microsoft.com/office/drawing/2014/main" id="{51633551-9505-5F96-A06B-DC07F4F3D13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59430" y="2480755"/>
            <a:ext cx="3412709" cy="698755"/>
          </a:xfrm>
          <a:prstGeom prst="rect">
            <a:avLst/>
          </a:prstGeom>
        </p:spPr>
      </p:pic>
      <p:sp>
        <p:nvSpPr>
          <p:cNvPr id="26" name="Rectangle 4">
            <a:extLst>
              <a:ext uri="{FF2B5EF4-FFF2-40B4-BE49-F238E27FC236}">
                <a16:creationId xmlns:a16="http://schemas.microsoft.com/office/drawing/2014/main" id="{B302FEA4-A285-3787-A8D8-12FCE06E7BE5}"/>
              </a:ext>
            </a:extLst>
          </p:cNvPr>
          <p:cNvSpPr/>
          <p:nvPr/>
        </p:nvSpPr>
        <p:spPr>
          <a:xfrm>
            <a:off x="5955301" y="3069792"/>
            <a:ext cx="1102169" cy="384721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7">
            <a:extLst>
              <a:ext uri="{FF2B5EF4-FFF2-40B4-BE49-F238E27FC236}">
                <a16:creationId xmlns:a16="http://schemas.microsoft.com/office/drawing/2014/main" id="{12A1351C-320D-9AAB-93DC-58561DE13C80}"/>
              </a:ext>
            </a:extLst>
          </p:cNvPr>
          <p:cNvSpPr txBox="1"/>
          <p:nvPr/>
        </p:nvSpPr>
        <p:spPr>
          <a:xfrm>
            <a:off x="5955301" y="3069792"/>
            <a:ext cx="1102169" cy="384721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900" b="1" dirty="0">
                <a:solidFill>
                  <a:schemeClr val="accent5">
                    <a:lumMod val="75000"/>
                  </a:schemeClr>
                </a:solidFill>
              </a:rPr>
              <a:t>Remote</a:t>
            </a:r>
            <a:endParaRPr sz="19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28" name="圖片 27" descr="使用Lantern 存取Claude AI | 從任何地方開啟Anthropic">
            <a:extLst>
              <a:ext uri="{FF2B5EF4-FFF2-40B4-BE49-F238E27FC236}">
                <a16:creationId xmlns:a16="http://schemas.microsoft.com/office/drawing/2014/main" id="{7EEFA5E0-00CE-1183-42F3-9501D3257A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7642" y="3288006"/>
            <a:ext cx="689305" cy="689305"/>
          </a:xfrm>
          <a:prstGeom prst="rect">
            <a:avLst/>
          </a:prstGeom>
        </p:spPr>
      </p:pic>
      <p:pic>
        <p:nvPicPr>
          <p:cNvPr id="29" name="圖片 28" descr="Codex - Windows官方下载| 微软应用商店| Microsoft Store">
            <a:extLst>
              <a:ext uri="{FF2B5EF4-FFF2-40B4-BE49-F238E27FC236}">
                <a16:creationId xmlns:a16="http://schemas.microsoft.com/office/drawing/2014/main" id="{586A6829-4ACF-F3B1-CBE6-CAB280A796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491" t="7061" r="7857" b="8654"/>
          <a:stretch>
            <a:fillRect/>
          </a:stretch>
        </p:blipFill>
        <p:spPr>
          <a:xfrm>
            <a:off x="8554725" y="3179510"/>
            <a:ext cx="827400" cy="843751"/>
          </a:xfrm>
          <a:prstGeom prst="rect">
            <a:avLst/>
          </a:prstGeom>
        </p:spPr>
      </p:pic>
      <p:pic>
        <p:nvPicPr>
          <p:cNvPr id="31" name="圖片 30" descr="Codex - Windows官方下载| 微软应用商店| Microsoft Store">
            <a:extLst>
              <a:ext uri="{FF2B5EF4-FFF2-40B4-BE49-F238E27FC236}">
                <a16:creationId xmlns:a16="http://schemas.microsoft.com/office/drawing/2014/main" id="{F0F84949-BBC6-DF34-6621-EC1E64FA71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491" t="7061" r="7857" b="8654"/>
          <a:stretch>
            <a:fillRect/>
          </a:stretch>
        </p:blipFill>
        <p:spPr>
          <a:xfrm>
            <a:off x="7852298" y="5151164"/>
            <a:ext cx="1102169" cy="1123950"/>
          </a:xfrm>
          <a:prstGeom prst="rect">
            <a:avLst/>
          </a:prstGeom>
        </p:spPr>
      </p:pic>
      <p:sp>
        <p:nvSpPr>
          <p:cNvPr id="32" name="TextBox 7">
            <a:extLst>
              <a:ext uri="{FF2B5EF4-FFF2-40B4-BE49-F238E27FC236}">
                <a16:creationId xmlns:a16="http://schemas.microsoft.com/office/drawing/2014/main" id="{AB010AFD-CE76-2BF1-E5F9-6278DD758F02}"/>
              </a:ext>
            </a:extLst>
          </p:cNvPr>
          <p:cNvSpPr txBox="1"/>
          <p:nvPr/>
        </p:nvSpPr>
        <p:spPr>
          <a:xfrm>
            <a:off x="7459430" y="6128295"/>
            <a:ext cx="1991899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900" b="1" dirty="0"/>
              <a:t>Codex CLI</a:t>
            </a:r>
            <a:endParaRPr sz="1900" b="1" dirty="0"/>
          </a:p>
        </p:txBody>
      </p:sp>
    </p:spTree>
    <p:extLst>
      <p:ext uri="{BB962C8B-B14F-4D97-AF65-F5344CB8AC3E}">
        <p14:creationId xmlns:p14="http://schemas.microsoft.com/office/powerpoint/2010/main" val="11931040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The Pulse: Antigravity 2.0 takes 'IDE' out of its new IDE">
            <a:extLst>
              <a:ext uri="{FF2B5EF4-FFF2-40B4-BE49-F238E27FC236}">
                <a16:creationId xmlns:a16="http://schemas.microsoft.com/office/drawing/2014/main" id="{75208B94-A281-0FD5-FEF6-E016D1E8DA2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801" t="4676" r="52666" b="34135"/>
          <a:stretch>
            <a:fillRect/>
          </a:stretch>
        </p:blipFill>
        <p:spPr>
          <a:xfrm>
            <a:off x="87063" y="118080"/>
            <a:ext cx="903601" cy="837174"/>
          </a:xfrm>
          <a:prstGeom prst="rect">
            <a:avLst/>
          </a:prstGeom>
        </p:spPr>
      </p:pic>
      <p:sp>
        <p:nvSpPr>
          <p:cNvPr id="3" name="TextBox 7">
            <a:extLst>
              <a:ext uri="{FF2B5EF4-FFF2-40B4-BE49-F238E27FC236}">
                <a16:creationId xmlns:a16="http://schemas.microsoft.com/office/drawing/2014/main" id="{73AB6367-4CA5-173E-8F62-676EC17B44DE}"/>
              </a:ext>
            </a:extLst>
          </p:cNvPr>
          <p:cNvSpPr txBox="1"/>
          <p:nvPr/>
        </p:nvSpPr>
        <p:spPr>
          <a:xfrm>
            <a:off x="660727" y="344306"/>
            <a:ext cx="3251398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900" b="1" dirty="0"/>
              <a:t>Google  antigravity IDE</a:t>
            </a:r>
            <a:endParaRPr sz="1900" b="1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5A336A1A-3F40-3821-FA10-5627EA1E3D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6545" y="1011609"/>
            <a:ext cx="9836131" cy="5502085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2F0A784A-E8C4-91FB-593B-8CA99ABA0FD7}"/>
              </a:ext>
            </a:extLst>
          </p:cNvPr>
          <p:cNvSpPr/>
          <p:nvPr/>
        </p:nvSpPr>
        <p:spPr>
          <a:xfrm>
            <a:off x="1225484" y="989586"/>
            <a:ext cx="2318993" cy="55146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BA2051C-B922-CEB8-1EE9-25A109D79EA2}"/>
              </a:ext>
            </a:extLst>
          </p:cNvPr>
          <p:cNvSpPr txBox="1"/>
          <p:nvPr/>
        </p:nvSpPr>
        <p:spPr>
          <a:xfrm>
            <a:off x="1809945" y="3562260"/>
            <a:ext cx="11500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>
                <a:solidFill>
                  <a:srgbClr val="FF0000"/>
                </a:solidFill>
              </a:rPr>
              <a:t>檔案區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8B8D6FB-F6BF-7B57-8CD7-226C5253031F}"/>
              </a:ext>
            </a:extLst>
          </p:cNvPr>
          <p:cNvSpPr/>
          <p:nvPr/>
        </p:nvSpPr>
        <p:spPr>
          <a:xfrm>
            <a:off x="3544477" y="989586"/>
            <a:ext cx="6099143" cy="55146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1DE56282-2BD4-F7A4-BEF3-0D83F272A2D2}"/>
              </a:ext>
            </a:extLst>
          </p:cNvPr>
          <p:cNvSpPr txBox="1"/>
          <p:nvPr/>
        </p:nvSpPr>
        <p:spPr>
          <a:xfrm>
            <a:off x="6194610" y="4195427"/>
            <a:ext cx="11500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>
                <a:solidFill>
                  <a:srgbClr val="FF0000"/>
                </a:solidFill>
              </a:rPr>
              <a:t>程式區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6D20275-3A27-7ECA-400E-3A27B276CD9F}"/>
              </a:ext>
            </a:extLst>
          </p:cNvPr>
          <p:cNvSpPr/>
          <p:nvPr/>
        </p:nvSpPr>
        <p:spPr>
          <a:xfrm>
            <a:off x="9643620" y="1011609"/>
            <a:ext cx="1469056" cy="55146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76F34B6C-5A19-A541-2F19-2CB255BC4E53}"/>
              </a:ext>
            </a:extLst>
          </p:cNvPr>
          <p:cNvSpPr txBox="1"/>
          <p:nvPr/>
        </p:nvSpPr>
        <p:spPr>
          <a:xfrm>
            <a:off x="9891489" y="5303049"/>
            <a:ext cx="11500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solidFill>
                  <a:srgbClr val="FF0000"/>
                </a:solidFill>
              </a:rPr>
              <a:t>AI </a:t>
            </a:r>
            <a:r>
              <a:rPr kumimoji="1" lang="zh-TW" altLang="en-US" dirty="0">
                <a:solidFill>
                  <a:srgbClr val="FF0000"/>
                </a:solidFill>
              </a:rPr>
              <a:t>區</a:t>
            </a:r>
          </a:p>
        </p:txBody>
      </p:sp>
    </p:spTree>
    <p:extLst>
      <p:ext uri="{BB962C8B-B14F-4D97-AF65-F5344CB8AC3E}">
        <p14:creationId xmlns:p14="http://schemas.microsoft.com/office/powerpoint/2010/main" val="2777689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E602E1F-E4A8-17DC-6FAE-3B3D116E2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916" y="152474"/>
            <a:ext cx="10515600" cy="1325563"/>
          </a:xfrm>
        </p:spPr>
        <p:txBody>
          <a:bodyPr/>
          <a:lstStyle/>
          <a:p>
            <a:r>
              <a:rPr kumimoji="1" lang="en-US" altLang="zh-TW" dirty="0"/>
              <a:t>Rules</a:t>
            </a:r>
            <a:endParaRPr kumimoji="1"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F9571CD9-7AA1-AE6A-7C40-AB6620CE888A}"/>
              </a:ext>
            </a:extLst>
          </p:cNvPr>
          <p:cNvSpPr txBox="1"/>
          <p:nvPr/>
        </p:nvSpPr>
        <p:spPr>
          <a:xfrm>
            <a:off x="742506" y="1318549"/>
            <a:ext cx="11229753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kumimoji="1" lang="zh-TW" altLang="en-US" dirty="0"/>
              <a:t>是你手動定議的約條件，用來引導</a:t>
            </a:r>
            <a:r>
              <a:rPr kumimoji="1" lang="en-US" altLang="zh-TW" dirty="0"/>
              <a:t>Agent</a:t>
            </a:r>
            <a:r>
              <a:rPr kumimoji="1" lang="zh-TW" altLang="en-US" dirty="0"/>
              <a:t>遵循特定的行為模式，無論是全</a:t>
            </a:r>
            <a:r>
              <a:rPr kumimoji="1" lang="en-US" altLang="zh-TW" dirty="0"/>
              <a:t> </a:t>
            </a:r>
            <a:r>
              <a:rPr kumimoji="1" lang="zh-TW" altLang="en-US" dirty="0"/>
              <a:t>域套用到所有專案，還是針對特定工作區設定，</a:t>
            </a:r>
            <a:r>
              <a:rPr kumimoji="1" lang="en-US" altLang="zh-TW" dirty="0"/>
              <a:t>Rules</a:t>
            </a:r>
            <a:r>
              <a:rPr kumimoji="1" lang="zh-TW" altLang="en-US" dirty="0"/>
              <a:t>都能幫助你打造符合需求的</a:t>
            </a:r>
            <a:r>
              <a:rPr kumimoji="1" lang="en-US" altLang="zh-TW" dirty="0"/>
              <a:t>AI</a:t>
            </a:r>
            <a:r>
              <a:rPr kumimoji="1" lang="zh-TW" altLang="en-US" dirty="0"/>
              <a:t>助手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B663B63B-0C81-55CF-D589-EBDB042960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506" y="2517344"/>
            <a:ext cx="3950730" cy="2375777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32532AD3-975F-0934-3D60-C36643A04138}"/>
              </a:ext>
            </a:extLst>
          </p:cNvPr>
          <p:cNvSpPr/>
          <p:nvPr/>
        </p:nvSpPr>
        <p:spPr>
          <a:xfrm>
            <a:off x="3210426" y="2517344"/>
            <a:ext cx="1482810" cy="91165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13" name="圖形 12" descr="手背向前食指朝右指 外框">
            <a:extLst>
              <a:ext uri="{FF2B5EF4-FFF2-40B4-BE49-F238E27FC236}">
                <a16:creationId xmlns:a16="http://schemas.microsoft.com/office/drawing/2014/main" id="{709FA03D-8D9D-03E3-B7D3-524CDECFAF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28739" y="2484623"/>
            <a:ext cx="646331" cy="646331"/>
          </a:xfrm>
          <a:prstGeom prst="rect">
            <a:avLst/>
          </a:prstGeom>
        </p:spPr>
      </p:pic>
      <p:sp>
        <p:nvSpPr>
          <p:cNvPr id="14" name="文字方塊 13">
            <a:extLst>
              <a:ext uri="{FF2B5EF4-FFF2-40B4-BE49-F238E27FC236}">
                <a16:creationId xmlns:a16="http://schemas.microsoft.com/office/drawing/2014/main" id="{51270708-EB84-B5D6-2BDC-CEFF7483B90C}"/>
              </a:ext>
            </a:extLst>
          </p:cNvPr>
          <p:cNvSpPr txBox="1"/>
          <p:nvPr/>
        </p:nvSpPr>
        <p:spPr>
          <a:xfrm>
            <a:off x="2592588" y="2661297"/>
            <a:ext cx="1235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solidFill>
                  <a:srgbClr val="FF0000"/>
                </a:solidFill>
              </a:rPr>
              <a:t>1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6C1FE33-83D7-1CF6-4F0F-C7322C2922F4}"/>
              </a:ext>
            </a:extLst>
          </p:cNvPr>
          <p:cNvSpPr/>
          <p:nvPr/>
        </p:nvSpPr>
        <p:spPr>
          <a:xfrm>
            <a:off x="742506" y="3717494"/>
            <a:ext cx="886269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16" name="圖形 15" descr="手背向前食指朝右指 外框">
            <a:extLst>
              <a:ext uri="{FF2B5EF4-FFF2-40B4-BE49-F238E27FC236}">
                <a16:creationId xmlns:a16="http://schemas.microsoft.com/office/drawing/2014/main" id="{228E1670-EAB8-FA94-70B9-DC3581832E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819" y="3684773"/>
            <a:ext cx="646331" cy="646331"/>
          </a:xfrm>
          <a:prstGeom prst="rect">
            <a:avLst/>
          </a:prstGeom>
        </p:spPr>
      </p:pic>
      <p:sp>
        <p:nvSpPr>
          <p:cNvPr id="17" name="文字方塊 16">
            <a:extLst>
              <a:ext uri="{FF2B5EF4-FFF2-40B4-BE49-F238E27FC236}">
                <a16:creationId xmlns:a16="http://schemas.microsoft.com/office/drawing/2014/main" id="{8B534A33-3B93-13E9-FC5F-A5BAC2F2AC3C}"/>
              </a:ext>
            </a:extLst>
          </p:cNvPr>
          <p:cNvSpPr txBox="1"/>
          <p:nvPr/>
        </p:nvSpPr>
        <p:spPr>
          <a:xfrm>
            <a:off x="124668" y="3861447"/>
            <a:ext cx="1235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solidFill>
                  <a:srgbClr val="FF0000"/>
                </a:solidFill>
              </a:rPr>
              <a:t>2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250DC197-0A06-0F84-FEFF-DF82118B3BB3}"/>
              </a:ext>
            </a:extLst>
          </p:cNvPr>
          <p:cNvSpPr txBox="1"/>
          <p:nvPr/>
        </p:nvSpPr>
        <p:spPr>
          <a:xfrm>
            <a:off x="5029200" y="3255829"/>
            <a:ext cx="6191694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+Global </a:t>
            </a:r>
            <a:r>
              <a:rPr kumimoji="1" lang="zh-TW" altLang="en-US" dirty="0"/>
              <a:t>建立全域規則 </a:t>
            </a:r>
            <a:r>
              <a:rPr kumimoji="1" lang="en-US" altLang="zh-TW" dirty="0"/>
              <a:t>(</a:t>
            </a:r>
            <a:r>
              <a:rPr kumimoji="1" lang="zh-TW" altLang="en-US" dirty="0"/>
              <a:t>套用到所有工作區</a:t>
            </a:r>
            <a:r>
              <a:rPr kumimoji="1" lang="en-US" altLang="zh-TW" dirty="0"/>
              <a:t>)</a:t>
            </a:r>
          </a:p>
          <a:p>
            <a:r>
              <a:rPr kumimoji="1" lang="en-US" altLang="zh-TW" dirty="0"/>
              <a:t>+Workspace</a:t>
            </a:r>
            <a:r>
              <a:rPr kumimoji="1" lang="zh-TW" altLang="en-US" dirty="0"/>
              <a:t> 建立工作區規則 </a:t>
            </a:r>
            <a:r>
              <a:rPr kumimoji="1" lang="en-US" altLang="zh-TW" dirty="0"/>
              <a:t>(</a:t>
            </a:r>
            <a:r>
              <a:rPr kumimoji="1" lang="zh-TW" altLang="en-US" dirty="0"/>
              <a:t>只套用到目前的專案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67011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CE3A2-27D7-7809-46AF-C16070850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815038E-A70D-9F1D-67A7-89BA28338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916" y="152474"/>
            <a:ext cx="10515600" cy="1325563"/>
          </a:xfrm>
        </p:spPr>
        <p:txBody>
          <a:bodyPr/>
          <a:lstStyle/>
          <a:p>
            <a:r>
              <a:rPr kumimoji="1" lang="en-US" altLang="zh-TW" dirty="0"/>
              <a:t>Rules</a:t>
            </a:r>
            <a:endParaRPr kumimoji="1"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F95A89B2-7680-0512-48E0-E09ADDE29822}"/>
              </a:ext>
            </a:extLst>
          </p:cNvPr>
          <p:cNvSpPr txBox="1"/>
          <p:nvPr/>
        </p:nvSpPr>
        <p:spPr>
          <a:xfrm>
            <a:off x="742506" y="1318549"/>
            <a:ext cx="11229753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kumimoji="1" lang="zh-TW" altLang="en-US" dirty="0"/>
              <a:t>是你手動定議的約條件，用來引導</a:t>
            </a:r>
            <a:r>
              <a:rPr kumimoji="1" lang="en-US" altLang="zh-TW" dirty="0"/>
              <a:t>Agent</a:t>
            </a:r>
            <a:r>
              <a:rPr kumimoji="1" lang="zh-TW" altLang="en-US" dirty="0"/>
              <a:t>遵循特定的行為模式，無論是全</a:t>
            </a:r>
            <a:r>
              <a:rPr kumimoji="1" lang="en-US" altLang="zh-TW" dirty="0"/>
              <a:t> </a:t>
            </a:r>
            <a:r>
              <a:rPr kumimoji="1" lang="zh-TW" altLang="en-US" dirty="0"/>
              <a:t>域套用到所有專案，還是針對特定工作區設定，</a:t>
            </a:r>
            <a:r>
              <a:rPr kumimoji="1" lang="en-US" altLang="zh-TW" dirty="0"/>
              <a:t>Rules</a:t>
            </a:r>
            <a:r>
              <a:rPr kumimoji="1" lang="zh-TW" altLang="en-US" dirty="0"/>
              <a:t>都能幫助你打造符合需求的</a:t>
            </a:r>
            <a:r>
              <a:rPr kumimoji="1" lang="en-US" altLang="zh-TW" dirty="0"/>
              <a:t>AI</a:t>
            </a:r>
            <a:r>
              <a:rPr kumimoji="1" lang="zh-TW" altLang="en-US" dirty="0"/>
              <a:t>助手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88009C21-D1B3-9AA0-DC04-50A3D1B13C40}"/>
              </a:ext>
            </a:extLst>
          </p:cNvPr>
          <p:cNvSpPr txBox="1"/>
          <p:nvPr/>
        </p:nvSpPr>
        <p:spPr>
          <a:xfrm>
            <a:off x="266700" y="3351079"/>
            <a:ext cx="5829300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+Global </a:t>
            </a:r>
            <a:r>
              <a:rPr kumimoji="1" lang="zh-TW" altLang="en-US" dirty="0"/>
              <a:t>建立全域規則 </a:t>
            </a:r>
            <a:r>
              <a:rPr kumimoji="1" lang="en-US" altLang="zh-TW" dirty="0"/>
              <a:t>(</a:t>
            </a:r>
            <a:r>
              <a:rPr kumimoji="1" lang="zh-TW" altLang="en-US" dirty="0"/>
              <a:t>套用到所有工作區</a:t>
            </a:r>
            <a:r>
              <a:rPr kumimoji="1" lang="en-US" altLang="zh-TW" dirty="0"/>
              <a:t>)</a:t>
            </a:r>
          </a:p>
          <a:p>
            <a:r>
              <a:rPr kumimoji="1" lang="en-US" altLang="zh-TW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+Workspace</a:t>
            </a:r>
            <a:r>
              <a:rPr kumimoji="1" lang="zh-TW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建立工作區規則 </a:t>
            </a:r>
            <a:r>
              <a:rPr kumimoji="1" lang="en-US" altLang="zh-TW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(</a:t>
            </a:r>
            <a:r>
              <a:rPr kumimoji="1" lang="zh-TW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只套用到目前的專案</a:t>
            </a:r>
            <a:r>
              <a:rPr kumimoji="1" lang="en-US" altLang="zh-TW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)</a:t>
            </a:r>
            <a:endParaRPr kumimoji="1" lang="zh-TW" alt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BF26633E-EF34-2D9C-AAFE-E25D7CD6BBA8}"/>
              </a:ext>
            </a:extLst>
          </p:cNvPr>
          <p:cNvSpPr txBox="1"/>
          <p:nvPr/>
        </p:nvSpPr>
        <p:spPr>
          <a:xfrm>
            <a:off x="6577013" y="2999014"/>
            <a:ext cx="5191124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kumimoji="1" lang="zh-TW" altLang="en-US" dirty="0"/>
              <a:t>儲存在電腦端，會套用到所有工作區。適合定義你個人的編程好和通用規範</a:t>
            </a:r>
          </a:p>
        </p:txBody>
      </p:sp>
      <p:sp>
        <p:nvSpPr>
          <p:cNvPr id="5" name="迴轉箭號 4">
            <a:extLst>
              <a:ext uri="{FF2B5EF4-FFF2-40B4-BE49-F238E27FC236}">
                <a16:creationId xmlns:a16="http://schemas.microsoft.com/office/drawing/2014/main" id="{198B373C-CB0F-08A3-81EA-C1599FF9314A}"/>
              </a:ext>
            </a:extLst>
          </p:cNvPr>
          <p:cNvSpPr/>
          <p:nvPr/>
        </p:nvSpPr>
        <p:spPr>
          <a:xfrm>
            <a:off x="3019425" y="2486025"/>
            <a:ext cx="5191125" cy="638175"/>
          </a:xfrm>
          <a:prstGeom prst="uturn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>
              <a:solidFill>
                <a:schemeClr val="tx1"/>
              </a:solidFill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657EB95A-EF12-149E-AF57-25E999FC2F97}"/>
              </a:ext>
            </a:extLst>
          </p:cNvPr>
          <p:cNvSpPr txBox="1"/>
          <p:nvPr/>
        </p:nvSpPr>
        <p:spPr>
          <a:xfrm>
            <a:off x="6577013" y="3718679"/>
            <a:ext cx="5191124" cy="3139321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#</a:t>
            </a:r>
            <a:r>
              <a:rPr kumimoji="1" lang="zh-TW" altLang="en-US" dirty="0"/>
              <a:t> 個人偏好</a:t>
            </a:r>
            <a:endParaRPr kumimoji="1" lang="en-US" altLang="zh-TW" dirty="0"/>
          </a:p>
          <a:p>
            <a:pPr marL="285750" indent="-285750">
              <a:buFontTx/>
              <a:buChar char="-"/>
            </a:pPr>
            <a:r>
              <a:rPr kumimoji="1" lang="zh-TW" altLang="en-US" dirty="0"/>
              <a:t>預設語言</a:t>
            </a:r>
            <a:r>
              <a:rPr kumimoji="1" lang="en-US" altLang="zh-TW" dirty="0"/>
              <a:t>:</a:t>
            </a:r>
            <a:r>
              <a:rPr kumimoji="1" lang="zh-TW" altLang="en-US" dirty="0"/>
              <a:t> 臺灣繁體中文</a:t>
            </a:r>
            <a:r>
              <a:rPr kumimoji="1" lang="en-US" altLang="zh-TW" dirty="0"/>
              <a:t>(</a:t>
            </a:r>
            <a:r>
              <a:rPr kumimoji="1" lang="zh-TW" altLang="en-US" dirty="0"/>
              <a:t>請以繁體中文回應自然語言與文件內容</a:t>
            </a:r>
            <a:r>
              <a:rPr kumimoji="1" lang="en-US" altLang="zh-TW" dirty="0"/>
              <a:t>)</a:t>
            </a:r>
            <a:r>
              <a:rPr kumimoji="1" lang="zh-TW" altLang="en-US" dirty="0"/>
              <a:t>，包括你自已的思考流程，都使用繁體中文和我交談</a:t>
            </a:r>
            <a:endParaRPr kumimoji="1" lang="en-US" altLang="zh-TW" dirty="0"/>
          </a:p>
          <a:p>
            <a:pPr marL="285750" indent="-285750">
              <a:buFontTx/>
              <a:buChar char="-"/>
            </a:pPr>
            <a:r>
              <a:rPr kumimoji="1" lang="zh-TW" altLang="en-US" dirty="0"/>
              <a:t>如果使用</a:t>
            </a:r>
            <a:r>
              <a:rPr kumimoji="1" lang="en-US" altLang="zh-TW" dirty="0"/>
              <a:t>python </a:t>
            </a:r>
            <a:r>
              <a:rPr kumimoji="1" lang="zh-TW" altLang="en-US" dirty="0"/>
              <a:t>開發程式，一定要用</a:t>
            </a:r>
            <a:r>
              <a:rPr kumimoji="1" lang="en-US" altLang="zh-TW" dirty="0" err="1"/>
              <a:t>uv</a:t>
            </a:r>
            <a:r>
              <a:rPr kumimoji="1" lang="en-US" altLang="zh-TW" dirty="0"/>
              <a:t> </a:t>
            </a:r>
            <a:r>
              <a:rPr kumimoji="1" lang="zh-TW" altLang="en-US" dirty="0"/>
              <a:t>建立環境，千萬不要用到</a:t>
            </a:r>
            <a:r>
              <a:rPr kumimoji="1" lang="en-US" altLang="zh-TW" dirty="0"/>
              <a:t>base</a:t>
            </a:r>
            <a:r>
              <a:rPr kumimoji="1" lang="zh-TW" altLang="en-US" dirty="0"/>
              <a:t>及單獨使用</a:t>
            </a:r>
            <a:r>
              <a:rPr kumimoji="1" lang="en-US" altLang="zh-TW" dirty="0"/>
              <a:t>pip</a:t>
            </a:r>
          </a:p>
          <a:p>
            <a:pPr marL="285750" indent="-285750">
              <a:buFontTx/>
              <a:buChar char="-"/>
            </a:pPr>
            <a:r>
              <a:rPr kumimoji="1" lang="en-US" altLang="zh-TW" dirty="0"/>
              <a:t>Agent </a:t>
            </a:r>
            <a:r>
              <a:rPr kumimoji="1" lang="zh-TW" altLang="en-US" dirty="0"/>
              <a:t>所產生的</a:t>
            </a:r>
            <a:r>
              <a:rPr kumimoji="1" lang="en-US" altLang="zh-TW" dirty="0"/>
              <a:t>implementation plan*, </a:t>
            </a:r>
            <a:r>
              <a:rPr kumimoji="1" lang="en-US" altLang="zh-TW" dirty="0" err="1"/>
              <a:t>task.md</a:t>
            </a:r>
            <a:r>
              <a:rPr kumimoji="1" lang="en-US" altLang="zh-TW" dirty="0"/>
              <a:t>*, </a:t>
            </a:r>
            <a:r>
              <a:rPr kumimoji="1" lang="en-US" altLang="zh-TW" dirty="0" err="1"/>
              <a:t>walkthrough.md</a:t>
            </a:r>
            <a:r>
              <a:rPr kumimoji="1" lang="en-US" altLang="zh-TW" dirty="0"/>
              <a:t>*</a:t>
            </a:r>
            <a:r>
              <a:rPr kumimoji="1" lang="zh-TW" altLang="en-US" dirty="0"/>
              <a:t>，全用繁體中文台灣用語</a:t>
            </a:r>
            <a:endParaRPr kumimoji="1" lang="en-US" altLang="zh-TW" dirty="0"/>
          </a:p>
          <a:p>
            <a:pPr marL="285750" indent="-285750">
              <a:buFontTx/>
              <a:buChar char="-"/>
            </a:pPr>
            <a:r>
              <a:rPr kumimoji="1" lang="zh-TW" altLang="en-US" dirty="0"/>
              <a:t>如果是</a:t>
            </a:r>
            <a:r>
              <a:rPr kumimoji="1" lang="en-US" altLang="zh-TW" dirty="0" err="1"/>
              <a:t>javascript</a:t>
            </a:r>
            <a:r>
              <a:rPr kumimoji="1" lang="zh-TW" altLang="en-US" dirty="0"/>
              <a:t>或是</a:t>
            </a:r>
            <a:r>
              <a:rPr kumimoji="1" lang="en-US" altLang="zh-TW" dirty="0"/>
              <a:t>typescript</a:t>
            </a:r>
            <a:r>
              <a:rPr kumimoji="1" lang="zh-TW" altLang="en-US" dirty="0"/>
              <a:t>，一律使用</a:t>
            </a:r>
            <a:r>
              <a:rPr kumimoji="1" lang="en-US" altLang="zh-TW" dirty="0" err="1"/>
              <a:t>npm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npx</a:t>
            </a:r>
            <a:r>
              <a:rPr kumimoji="1" lang="zh-TW" altLang="en-US" dirty="0"/>
              <a:t>，不要亂裝動到我的</a:t>
            </a:r>
            <a:r>
              <a:rPr kumimoji="1" lang="en-US" altLang="zh-TW" dirty="0"/>
              <a:t>base</a:t>
            </a:r>
            <a:r>
              <a:rPr kumimoji="1" lang="zh-TW" altLang="en-US" dirty="0"/>
              <a:t>環境</a:t>
            </a:r>
            <a:endParaRPr kumimoji="1" lang="en-US" altLang="zh-TW" dirty="0"/>
          </a:p>
          <a:p>
            <a:r>
              <a:rPr kumimoji="1" lang="en-US" altLang="zh-TW" dirty="0"/>
              <a:t>-</a:t>
            </a:r>
            <a:r>
              <a:rPr kumimoji="1" lang="zh-TW" altLang="en-US" dirty="0"/>
              <a:t>    如果是有其他語言的套件安裝，請用</a:t>
            </a:r>
            <a:r>
              <a:rPr kumimoji="1" lang="en-US" altLang="zh-TW" dirty="0" err="1"/>
              <a:t>conda</a:t>
            </a:r>
            <a:r>
              <a:rPr kumimoji="1" lang="zh-TW" altLang="en-US" dirty="0"/>
              <a:t>管理</a:t>
            </a:r>
          </a:p>
        </p:txBody>
      </p:sp>
    </p:spTree>
    <p:extLst>
      <p:ext uri="{BB962C8B-B14F-4D97-AF65-F5344CB8AC3E}">
        <p14:creationId xmlns:p14="http://schemas.microsoft.com/office/powerpoint/2010/main" val="27530487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D9E09-88EF-33BB-BDF7-5E370AD88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633D804-D37B-F5A9-00A0-9DE40887A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991" y="-363355"/>
            <a:ext cx="10515600" cy="1325563"/>
          </a:xfrm>
        </p:spPr>
        <p:txBody>
          <a:bodyPr/>
          <a:lstStyle/>
          <a:p>
            <a:r>
              <a:rPr kumimoji="1" lang="en-US" altLang="zh-TW" dirty="0"/>
              <a:t>Rules</a:t>
            </a:r>
            <a:endParaRPr kumimoji="1"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F883BA79-94EB-AB6D-C56C-C2CB032BA97C}"/>
              </a:ext>
            </a:extLst>
          </p:cNvPr>
          <p:cNvSpPr txBox="1"/>
          <p:nvPr/>
        </p:nvSpPr>
        <p:spPr>
          <a:xfrm>
            <a:off x="580581" y="802720"/>
            <a:ext cx="11229753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kumimoji="1" lang="zh-TW" altLang="en-US" dirty="0"/>
              <a:t>是你手動定議的約條件，用來引導</a:t>
            </a:r>
            <a:r>
              <a:rPr kumimoji="1" lang="en-US" altLang="zh-TW" dirty="0"/>
              <a:t>Agent</a:t>
            </a:r>
            <a:r>
              <a:rPr kumimoji="1" lang="zh-TW" altLang="en-US" dirty="0"/>
              <a:t>遵循特定的行為模式，無論是全</a:t>
            </a:r>
            <a:r>
              <a:rPr kumimoji="1" lang="en-US" altLang="zh-TW" dirty="0"/>
              <a:t> </a:t>
            </a:r>
            <a:r>
              <a:rPr kumimoji="1" lang="zh-TW" altLang="en-US" dirty="0"/>
              <a:t>域套用到所有專案，還是針對特定工作區設定，</a:t>
            </a:r>
            <a:r>
              <a:rPr kumimoji="1" lang="en-US" altLang="zh-TW" dirty="0"/>
              <a:t>Rules</a:t>
            </a:r>
            <a:r>
              <a:rPr kumimoji="1" lang="zh-TW" altLang="en-US" dirty="0"/>
              <a:t>都能幫助你打造符合需求的</a:t>
            </a:r>
            <a:r>
              <a:rPr kumimoji="1" lang="en-US" altLang="zh-TW" dirty="0"/>
              <a:t>AI</a:t>
            </a:r>
            <a:r>
              <a:rPr kumimoji="1" lang="zh-TW" altLang="en-US" dirty="0"/>
              <a:t>助手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B035F196-F25F-29A3-E1FC-F4CA262550EF}"/>
              </a:ext>
            </a:extLst>
          </p:cNvPr>
          <p:cNvSpPr txBox="1"/>
          <p:nvPr/>
        </p:nvSpPr>
        <p:spPr>
          <a:xfrm>
            <a:off x="104775" y="2835250"/>
            <a:ext cx="5829300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+Global </a:t>
            </a:r>
            <a:r>
              <a:rPr kumimoji="1" lang="zh-TW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建立全域規則 </a:t>
            </a:r>
            <a:r>
              <a:rPr kumimoji="1" lang="en-US" altLang="zh-TW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(</a:t>
            </a:r>
            <a:r>
              <a:rPr kumimoji="1" lang="zh-TW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套用到所有工作區</a:t>
            </a:r>
            <a:r>
              <a:rPr kumimoji="1" lang="en-US" altLang="zh-TW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)</a:t>
            </a:r>
          </a:p>
          <a:p>
            <a:r>
              <a:rPr kumimoji="1" lang="en-US" altLang="zh-TW" dirty="0"/>
              <a:t>+Workspace</a:t>
            </a:r>
            <a:r>
              <a:rPr kumimoji="1" lang="zh-TW" altLang="en-US" dirty="0"/>
              <a:t> 建立工作區規則 </a:t>
            </a:r>
            <a:r>
              <a:rPr kumimoji="1" lang="en-US" altLang="zh-TW" dirty="0"/>
              <a:t>(</a:t>
            </a:r>
            <a:r>
              <a:rPr kumimoji="1" lang="zh-TW" altLang="en-US" dirty="0"/>
              <a:t>只套用到目前的專案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D8F365AC-13D4-46CF-C077-CD31BEE584F0}"/>
              </a:ext>
            </a:extLst>
          </p:cNvPr>
          <p:cNvSpPr txBox="1"/>
          <p:nvPr/>
        </p:nvSpPr>
        <p:spPr>
          <a:xfrm>
            <a:off x="6415088" y="2483185"/>
            <a:ext cx="5191124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kumimoji="1" lang="zh-TW" altLang="en-US" dirty="0"/>
              <a:t>儲存在 </a:t>
            </a:r>
            <a:r>
              <a:rPr kumimoji="1" lang="en-US" altLang="zh-TW" dirty="0"/>
              <a:t>.agent/rules/</a:t>
            </a:r>
            <a:r>
              <a:rPr kumimoji="1" lang="zh-TW" altLang="en-US" dirty="0"/>
              <a:t>資料夾，只套用到該工作區，建立工作區規則時，先輸入規則名稱</a:t>
            </a:r>
          </a:p>
        </p:txBody>
      </p:sp>
      <p:sp>
        <p:nvSpPr>
          <p:cNvPr id="5" name="迴轉箭號 4">
            <a:extLst>
              <a:ext uri="{FF2B5EF4-FFF2-40B4-BE49-F238E27FC236}">
                <a16:creationId xmlns:a16="http://schemas.microsoft.com/office/drawing/2014/main" id="{B3FE2F44-D588-F214-402C-FC5A7DAECF20}"/>
              </a:ext>
            </a:extLst>
          </p:cNvPr>
          <p:cNvSpPr/>
          <p:nvPr/>
        </p:nvSpPr>
        <p:spPr>
          <a:xfrm>
            <a:off x="2857500" y="1970196"/>
            <a:ext cx="5191125" cy="638175"/>
          </a:xfrm>
          <a:prstGeom prst="uturn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>
              <a:solidFill>
                <a:schemeClr val="tx1"/>
              </a:solidFill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D3D9AE02-FB39-7A1F-4508-6F81CAA989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1041" y="3336290"/>
            <a:ext cx="2661300" cy="1600376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2CC54FD7-C271-AEC7-CF23-DD38B46CDC66}"/>
              </a:ext>
            </a:extLst>
          </p:cNvPr>
          <p:cNvSpPr/>
          <p:nvPr/>
        </p:nvSpPr>
        <p:spPr>
          <a:xfrm>
            <a:off x="8078705" y="3756727"/>
            <a:ext cx="1223636" cy="33337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10" name="圖形 9" descr="手背向前食指朝右指 外框">
            <a:extLst>
              <a:ext uri="{FF2B5EF4-FFF2-40B4-BE49-F238E27FC236}">
                <a16:creationId xmlns:a16="http://schemas.microsoft.com/office/drawing/2014/main" id="{48263051-A95F-1496-D681-EDF7900EFF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32374" y="3600248"/>
            <a:ext cx="646331" cy="646331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60D0D6A8-5C08-AB70-9207-28F0784D3C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6861" y="4843579"/>
            <a:ext cx="7772400" cy="1990647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4060AB5E-A931-8F21-FD3C-C489C58191C4}"/>
              </a:ext>
            </a:extLst>
          </p:cNvPr>
          <p:cNvSpPr/>
          <p:nvPr/>
        </p:nvSpPr>
        <p:spPr>
          <a:xfrm>
            <a:off x="1963655" y="5038727"/>
            <a:ext cx="1223636" cy="79057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F9D106BE-DC97-A133-AD01-B66F81261F5B}"/>
              </a:ext>
            </a:extLst>
          </p:cNvPr>
          <p:cNvSpPr txBox="1"/>
          <p:nvPr/>
        </p:nvSpPr>
        <p:spPr>
          <a:xfrm>
            <a:off x="7818630" y="5038727"/>
            <a:ext cx="4167187" cy="1754326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Manual :</a:t>
            </a:r>
            <a:r>
              <a:rPr kumimoji="1" lang="zh-TW" altLang="en-US" dirty="0"/>
              <a:t>需要在</a:t>
            </a:r>
            <a:r>
              <a:rPr kumimoji="1" lang="en-US" altLang="zh-TW" dirty="0"/>
              <a:t>Agent</a:t>
            </a:r>
            <a:r>
              <a:rPr kumimoji="1" lang="zh-TW" altLang="en-US" dirty="0"/>
              <a:t>輸入框中使用</a:t>
            </a:r>
            <a:r>
              <a:rPr kumimoji="1" lang="en-US" altLang="zh-TW" dirty="0"/>
              <a:t>@</a:t>
            </a:r>
            <a:r>
              <a:rPr kumimoji="1" lang="zh-TW" altLang="en-US" dirty="0"/>
              <a:t>才會套用</a:t>
            </a:r>
            <a:endParaRPr kumimoji="1" lang="en-US" altLang="zh-TW" dirty="0"/>
          </a:p>
          <a:p>
            <a:r>
              <a:rPr kumimoji="1" lang="en-US" altLang="zh-TW" dirty="0"/>
              <a:t>Always On :</a:t>
            </a:r>
            <a:r>
              <a:rPr kumimoji="1" lang="zh-TW" altLang="en-US" dirty="0"/>
              <a:t>永遠套用</a:t>
            </a:r>
            <a:endParaRPr kumimoji="1" lang="en-US" altLang="zh-TW" dirty="0"/>
          </a:p>
          <a:p>
            <a:r>
              <a:rPr kumimoji="1" lang="en-US" altLang="zh-TW" dirty="0"/>
              <a:t>Model decision: </a:t>
            </a:r>
            <a:r>
              <a:rPr kumimoji="1" lang="zh-TW" altLang="en-US" dirty="0"/>
              <a:t>模型自行決定是否套用</a:t>
            </a:r>
            <a:endParaRPr kumimoji="1" lang="en-US" altLang="zh-TW" dirty="0"/>
          </a:p>
          <a:p>
            <a:r>
              <a:rPr kumimoji="1" lang="en-US" altLang="zh-TW" dirty="0"/>
              <a:t>Glob :</a:t>
            </a:r>
            <a:r>
              <a:rPr kumimoji="1" lang="zh-TW" altLang="en-US" dirty="0"/>
              <a:t>根據</a:t>
            </a:r>
            <a:r>
              <a:rPr kumimoji="1" lang="en-US" altLang="zh-TW" dirty="0"/>
              <a:t>glob</a:t>
            </a:r>
            <a:r>
              <a:rPr kumimoji="1" lang="zh-TW" altLang="en-US" dirty="0"/>
              <a:t>模式，當符合的檔案被編輯時自動套用</a:t>
            </a:r>
          </a:p>
        </p:txBody>
      </p:sp>
    </p:spTree>
    <p:extLst>
      <p:ext uri="{BB962C8B-B14F-4D97-AF65-F5344CB8AC3E}">
        <p14:creationId xmlns:p14="http://schemas.microsoft.com/office/powerpoint/2010/main" val="22984364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501BD62F-FEF8-02C5-AF06-82CD970FC3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0400" y="466724"/>
            <a:ext cx="8547100" cy="3862991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2284BE3E-0DC8-A1E8-B737-9B9F4B1F3485}"/>
              </a:ext>
            </a:extLst>
          </p:cNvPr>
          <p:cNvSpPr txBox="1"/>
          <p:nvPr/>
        </p:nvSpPr>
        <p:spPr>
          <a:xfrm>
            <a:off x="1930400" y="4567840"/>
            <a:ext cx="8434387" cy="36933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zh-TW" altLang="en-US" dirty="0"/>
              <a:t>設定</a:t>
            </a:r>
            <a:r>
              <a:rPr kumimoji="1" lang="en-US" altLang="zh-TW" dirty="0"/>
              <a:t>Glob Pattern</a:t>
            </a:r>
            <a:r>
              <a:rPr kumimoji="1" lang="zh-TW" altLang="en-US" dirty="0"/>
              <a:t>為 *</a:t>
            </a:r>
            <a:r>
              <a:rPr kumimoji="1" lang="en-US" altLang="zh-TW" dirty="0"/>
              <a:t>.</a:t>
            </a:r>
            <a:r>
              <a:rPr kumimoji="1" lang="en-US" altLang="zh-TW" dirty="0" err="1"/>
              <a:t>py</a:t>
            </a:r>
            <a:r>
              <a:rPr kumimoji="1" lang="en-US" altLang="zh-TW" dirty="0"/>
              <a:t> *.</a:t>
            </a:r>
            <a:r>
              <a:rPr kumimoji="1" lang="en-US" altLang="zh-TW" dirty="0" err="1"/>
              <a:t>ipynb</a:t>
            </a:r>
            <a:r>
              <a:rPr kumimoji="1" lang="zh-TW" altLang="en-US" dirty="0"/>
              <a:t>，當編輯</a:t>
            </a:r>
            <a:r>
              <a:rPr kumimoji="1" lang="en-US" altLang="zh-TW" dirty="0"/>
              <a:t>Python</a:t>
            </a:r>
            <a:r>
              <a:rPr kumimoji="1" lang="zh-TW" altLang="en-US" dirty="0"/>
              <a:t>或</a:t>
            </a:r>
            <a:r>
              <a:rPr kumimoji="1" lang="en-US" altLang="zh-TW" dirty="0" err="1"/>
              <a:t>Jupyter</a:t>
            </a:r>
            <a:r>
              <a:rPr kumimoji="1" lang="zh-TW" altLang="en-US" dirty="0"/>
              <a:t>檔案時會自動套用</a:t>
            </a:r>
          </a:p>
        </p:txBody>
      </p:sp>
    </p:spTree>
    <p:extLst>
      <p:ext uri="{BB962C8B-B14F-4D97-AF65-F5344CB8AC3E}">
        <p14:creationId xmlns:p14="http://schemas.microsoft.com/office/powerpoint/2010/main" val="36435541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D6693-58BF-09F7-9A4E-C88B75435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FFAD33DA-B033-D548-0A72-090DB773EF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37" y="1957123"/>
            <a:ext cx="3666538" cy="3055448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81AA99A7-B4C8-04D2-DA8F-54197046E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916" y="152474"/>
            <a:ext cx="10515600" cy="1325563"/>
          </a:xfrm>
        </p:spPr>
        <p:txBody>
          <a:bodyPr/>
          <a:lstStyle/>
          <a:p>
            <a:r>
              <a:rPr kumimoji="1" lang="en-US" altLang="zh-TW" dirty="0"/>
              <a:t>Workflows: </a:t>
            </a:r>
            <a:r>
              <a:rPr kumimoji="1" lang="zh-TW" altLang="en-US" dirty="0"/>
              <a:t>定義自動化工作流程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EF79A04F-0554-A9BE-4A41-EEA7D654D5E6}"/>
              </a:ext>
            </a:extLst>
          </p:cNvPr>
          <p:cNvSpPr txBox="1"/>
          <p:nvPr/>
        </p:nvSpPr>
        <p:spPr>
          <a:xfrm>
            <a:off x="742506" y="1318549"/>
            <a:ext cx="11229753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kumimoji="1" lang="zh-TW" altLang="en-US" dirty="0"/>
              <a:t>讓你能夠定義一系列的步驟，引導</a:t>
            </a:r>
            <a:r>
              <a:rPr kumimoji="1" lang="en-US" altLang="zh-TW" dirty="0"/>
              <a:t>Agent</a:t>
            </a:r>
            <a:r>
              <a:rPr kumimoji="1" lang="zh-TW" altLang="en-US" dirty="0"/>
              <a:t>完成重複性的任務序列。</a:t>
            </a:r>
            <a:r>
              <a:rPr kumimoji="1" lang="en-US" altLang="zh-TW" dirty="0"/>
              <a:t>Workflows </a:t>
            </a:r>
            <a:r>
              <a:rPr kumimoji="1" lang="en-US" altLang="zh-TW" dirty="0">
                <a:sym typeface="Wingdings" pitchFamily="2" charset="2"/>
              </a:rPr>
              <a:t> </a:t>
            </a:r>
            <a:r>
              <a:rPr kumimoji="1" lang="zh-TW" altLang="en-US" dirty="0">
                <a:sym typeface="Wingdings" pitchFamily="2" charset="2"/>
              </a:rPr>
              <a:t>步驟導向，</a:t>
            </a:r>
            <a:r>
              <a:rPr kumimoji="1" lang="en-US" altLang="zh-TW" dirty="0">
                <a:sym typeface="Wingdings" pitchFamily="2" charset="2"/>
              </a:rPr>
              <a:t>Rules  </a:t>
            </a:r>
            <a:r>
              <a:rPr kumimoji="1" lang="zh-TW" altLang="en-US" dirty="0">
                <a:sym typeface="Wingdings" pitchFamily="2" charset="2"/>
              </a:rPr>
              <a:t>約束導向</a:t>
            </a:r>
            <a:endParaRPr kumimoji="1" lang="zh-TW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311807C-387F-3362-6F4D-7728EFB55383}"/>
              </a:ext>
            </a:extLst>
          </p:cNvPr>
          <p:cNvSpPr/>
          <p:nvPr/>
        </p:nvSpPr>
        <p:spPr>
          <a:xfrm>
            <a:off x="1486409" y="3048474"/>
            <a:ext cx="1106179" cy="31765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13" name="圖形 12" descr="手背向前食指朝右指 外框">
            <a:extLst>
              <a:ext uri="{FF2B5EF4-FFF2-40B4-BE49-F238E27FC236}">
                <a16:creationId xmlns:a16="http://schemas.microsoft.com/office/drawing/2014/main" id="{5ED842C0-B74B-8573-1AD7-D9148D20BF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0078" y="2884136"/>
            <a:ext cx="646331" cy="646331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C96ED223-FFDD-F5F2-594F-4A43868D1C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5549" y="1910825"/>
            <a:ext cx="6316373" cy="4794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57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197E1-B79E-EBA2-2621-9FB3FBDD6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7517D2-6516-71AC-8671-EFDFDEC1D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916" y="152474"/>
            <a:ext cx="10515600" cy="1325563"/>
          </a:xfrm>
        </p:spPr>
        <p:txBody>
          <a:bodyPr/>
          <a:lstStyle/>
          <a:p>
            <a:r>
              <a:rPr kumimoji="1" lang="en-US" altLang="zh-TW" dirty="0"/>
              <a:t>Workflows: </a:t>
            </a:r>
            <a:r>
              <a:rPr kumimoji="1" lang="zh-TW" altLang="en-US" dirty="0"/>
              <a:t>定義自動化工作流程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0A290A0C-B0EF-8EC2-2D99-4A61BCDE3554}"/>
              </a:ext>
            </a:extLst>
          </p:cNvPr>
          <p:cNvSpPr txBox="1"/>
          <p:nvPr/>
        </p:nvSpPr>
        <p:spPr>
          <a:xfrm>
            <a:off x="614916" y="2103752"/>
            <a:ext cx="9868344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kumimoji="1" lang="zh-TW" altLang="en-US" dirty="0"/>
              <a:t>執行剛定義好的</a:t>
            </a:r>
            <a:r>
              <a:rPr kumimoji="1" lang="en-US" altLang="zh-TW" dirty="0"/>
              <a:t>workflow</a:t>
            </a:r>
            <a:endParaRPr kumimoji="1"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9C630F68-C334-2ADD-B9E4-F377B1F1DA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9650" y="2832099"/>
            <a:ext cx="6216650" cy="2670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0860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90480530-F9FA-AE79-5C73-84528D6C17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7361" y="2006862"/>
            <a:ext cx="10319172" cy="2844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9818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783E9397-ECC7-67D0-2EF0-46F952BD9B84}"/>
              </a:ext>
            </a:extLst>
          </p:cNvPr>
          <p:cNvSpPr txBox="1"/>
          <p:nvPr/>
        </p:nvSpPr>
        <p:spPr>
          <a:xfrm>
            <a:off x="1205937" y="1201172"/>
            <a:ext cx="978012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TW" altLang="zh-TW" b="1" dirty="0"/>
              <a:t>任務開始前</a:t>
            </a:r>
          </a:p>
          <a:p>
            <a:pPr>
              <a:buNone/>
            </a:pPr>
            <a:r>
              <a:rPr lang="zh-TW" altLang="zh-TW" dirty="0"/>
              <a:t>agent 先產生 task list 或 implementation plan，讓你看它是否理解需求。</a:t>
            </a:r>
          </a:p>
          <a:p>
            <a:pPr>
              <a:buNone/>
            </a:pPr>
            <a:r>
              <a:rPr lang="zh-TW" altLang="zh-TW" b="1" dirty="0"/>
              <a:t>實作前</a:t>
            </a:r>
          </a:p>
          <a:p>
            <a:pPr>
              <a:buNone/>
            </a:pPr>
            <a:r>
              <a:rPr lang="zh-TW" altLang="zh-TW" dirty="0"/>
              <a:t>agent 提出具體變更計畫，可能要求你批准。</a:t>
            </a:r>
          </a:p>
          <a:p>
            <a:pPr>
              <a:buNone/>
            </a:pPr>
            <a:r>
              <a:rPr lang="zh-TW" altLang="zh-TW" b="1" dirty="0"/>
              <a:t>實作中</a:t>
            </a:r>
          </a:p>
          <a:p>
            <a:pPr>
              <a:buNone/>
            </a:pPr>
            <a:r>
              <a:rPr lang="zh-TW" altLang="zh-TW" dirty="0"/>
              <a:t>agent 更新任務清單、產生 diff、記錄變更。</a:t>
            </a:r>
          </a:p>
          <a:p>
            <a:pPr>
              <a:buNone/>
            </a:pPr>
            <a:r>
              <a:rPr lang="zh-TW" altLang="zh-TW" b="1" dirty="0"/>
              <a:t>驗證時</a:t>
            </a:r>
          </a:p>
          <a:p>
            <a:pPr>
              <a:buNone/>
            </a:pPr>
            <a:r>
              <a:rPr lang="zh-TW" altLang="zh-TW" dirty="0"/>
              <a:t>agent 產生測試結果、browser screenshot、browser recording。</a:t>
            </a:r>
          </a:p>
          <a:p>
            <a:pPr>
              <a:buNone/>
            </a:pPr>
            <a:r>
              <a:rPr lang="zh-TW" altLang="zh-TW" b="1" dirty="0"/>
              <a:t>完成後</a:t>
            </a:r>
          </a:p>
          <a:p>
            <a:pPr>
              <a:buNone/>
            </a:pPr>
            <a:r>
              <a:rPr lang="zh-TW" altLang="zh-TW" dirty="0"/>
              <a:t>agent 產生 walkthrough，總結完成內容與驗證方式。</a:t>
            </a:r>
          </a:p>
        </p:txBody>
      </p:sp>
      <p:sp>
        <p:nvSpPr>
          <p:cNvPr id="6" name="標題 1">
            <a:extLst>
              <a:ext uri="{FF2B5EF4-FFF2-40B4-BE49-F238E27FC236}">
                <a16:creationId xmlns:a16="http://schemas.microsoft.com/office/drawing/2014/main" id="{E23ECAF3-B0A7-079A-C3B6-B308EE571D54}"/>
              </a:ext>
            </a:extLst>
          </p:cNvPr>
          <p:cNvSpPr txBox="1">
            <a:spLocks/>
          </p:cNvSpPr>
          <p:nvPr/>
        </p:nvSpPr>
        <p:spPr>
          <a:xfrm>
            <a:off x="596063" y="218461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zh-TW" dirty="0"/>
              <a:t>Artifacts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653749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9BC92A58-2229-7BDC-DD3C-B2A1C1EBF43E}"/>
              </a:ext>
            </a:extLst>
          </p:cNvPr>
          <p:cNvSpPr/>
          <p:nvPr/>
        </p:nvSpPr>
        <p:spPr>
          <a:xfrm>
            <a:off x="972078" y="2188527"/>
            <a:ext cx="2743200" cy="582954"/>
          </a:xfrm>
          <a:prstGeom prst="rect">
            <a:avLst/>
          </a:prstGeom>
          <a:solidFill>
            <a:srgbClr val="F3F6FB"/>
          </a:solidFill>
          <a:ln w="25400">
            <a:solidFill>
              <a:srgbClr val="00A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8C58C49A-B882-8167-A092-5F03D6C101B1}"/>
              </a:ext>
            </a:extLst>
          </p:cNvPr>
          <p:cNvSpPr txBox="1"/>
          <p:nvPr/>
        </p:nvSpPr>
        <p:spPr>
          <a:xfrm>
            <a:off x="972078" y="2287643"/>
            <a:ext cx="2523744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900" b="1" dirty="0">
                <a:solidFill>
                  <a:srgbClr val="00A366"/>
                </a:solidFill>
              </a:rPr>
              <a:t>Artifacts</a:t>
            </a:r>
            <a:endParaRPr sz="1900" b="1" dirty="0">
              <a:solidFill>
                <a:srgbClr val="00A366"/>
              </a:solidFill>
            </a:endParaRP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6FC4923-357E-32B3-C008-9E63362E24F9}"/>
              </a:ext>
            </a:extLst>
          </p:cNvPr>
          <p:cNvSpPr/>
          <p:nvPr/>
        </p:nvSpPr>
        <p:spPr>
          <a:xfrm>
            <a:off x="6096000" y="960858"/>
            <a:ext cx="3571437" cy="384721"/>
          </a:xfrm>
          <a:prstGeom prst="rect">
            <a:avLst/>
          </a:prstGeom>
          <a:solidFill>
            <a:srgbClr val="F3F6FB"/>
          </a:solidFill>
          <a:ln w="254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D0D5C4F9-A1A3-50CF-FC82-0518F186AB4C}"/>
              </a:ext>
            </a:extLst>
          </p:cNvPr>
          <p:cNvSpPr txBox="1"/>
          <p:nvPr/>
        </p:nvSpPr>
        <p:spPr>
          <a:xfrm>
            <a:off x="6096000" y="960858"/>
            <a:ext cx="3571437" cy="384721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900" b="1" dirty="0">
                <a:solidFill>
                  <a:schemeClr val="accent1">
                    <a:lumMod val="75000"/>
                  </a:schemeClr>
                </a:solidFill>
              </a:rPr>
              <a:t>Implementation plan</a:t>
            </a:r>
            <a:endParaRPr sz="19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0DA2F8B3-B6FF-A5AA-7006-48C88EC04A86}"/>
              </a:ext>
            </a:extLst>
          </p:cNvPr>
          <p:cNvSpPr/>
          <p:nvPr/>
        </p:nvSpPr>
        <p:spPr>
          <a:xfrm>
            <a:off x="6096000" y="2548017"/>
            <a:ext cx="3571437" cy="384721"/>
          </a:xfrm>
          <a:prstGeom prst="rect">
            <a:avLst/>
          </a:prstGeom>
          <a:solidFill>
            <a:srgbClr val="F3F6FB"/>
          </a:solidFill>
          <a:ln w="254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9ADC22AF-7D21-A466-AB01-D92A4D5D896D}"/>
              </a:ext>
            </a:extLst>
          </p:cNvPr>
          <p:cNvSpPr txBox="1"/>
          <p:nvPr/>
        </p:nvSpPr>
        <p:spPr>
          <a:xfrm>
            <a:off x="6096000" y="2548017"/>
            <a:ext cx="3571437" cy="384721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900" b="1" dirty="0">
                <a:solidFill>
                  <a:schemeClr val="accent1">
                    <a:lumMod val="75000"/>
                  </a:schemeClr>
                </a:solidFill>
              </a:rPr>
              <a:t>Task</a:t>
            </a:r>
            <a:endParaRPr sz="19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AC6CAEF3-6A37-06AF-50B6-2177FF4297C2}"/>
              </a:ext>
            </a:extLst>
          </p:cNvPr>
          <p:cNvSpPr/>
          <p:nvPr/>
        </p:nvSpPr>
        <p:spPr>
          <a:xfrm>
            <a:off x="6096000" y="3993276"/>
            <a:ext cx="3571437" cy="384721"/>
          </a:xfrm>
          <a:prstGeom prst="rect">
            <a:avLst/>
          </a:prstGeom>
          <a:solidFill>
            <a:srgbClr val="F3F6FB"/>
          </a:solidFill>
          <a:ln w="254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34F0C228-5849-7E9E-1399-E33C9FB96CA4}"/>
              </a:ext>
            </a:extLst>
          </p:cNvPr>
          <p:cNvSpPr txBox="1"/>
          <p:nvPr/>
        </p:nvSpPr>
        <p:spPr>
          <a:xfrm>
            <a:off x="6096000" y="3993276"/>
            <a:ext cx="3571437" cy="384721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900" b="1" dirty="0">
                <a:solidFill>
                  <a:schemeClr val="accent1">
                    <a:lumMod val="75000"/>
                  </a:schemeClr>
                </a:solidFill>
              </a:rPr>
              <a:t>Walkthrough</a:t>
            </a:r>
            <a:endParaRPr sz="19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44DF0D60-B5AC-8767-A2E2-F502B1C2146E}"/>
              </a:ext>
            </a:extLst>
          </p:cNvPr>
          <p:cNvSpPr txBox="1"/>
          <p:nvPr/>
        </p:nvSpPr>
        <p:spPr>
          <a:xfrm>
            <a:off x="2939343" y="4474623"/>
            <a:ext cx="2743200" cy="384721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900" b="1" dirty="0">
                <a:solidFill>
                  <a:schemeClr val="accent1">
                    <a:lumMod val="75000"/>
                  </a:schemeClr>
                </a:solidFill>
              </a:rPr>
              <a:t>Screen shots</a:t>
            </a:r>
            <a:endParaRPr sz="19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2" name="TextBox 7">
            <a:extLst>
              <a:ext uri="{FF2B5EF4-FFF2-40B4-BE49-F238E27FC236}">
                <a16:creationId xmlns:a16="http://schemas.microsoft.com/office/drawing/2014/main" id="{7EC8B2E2-40C7-DE82-2B68-BB913D813CCD}"/>
              </a:ext>
            </a:extLst>
          </p:cNvPr>
          <p:cNvSpPr txBox="1"/>
          <p:nvPr/>
        </p:nvSpPr>
        <p:spPr>
          <a:xfrm>
            <a:off x="2939343" y="5028393"/>
            <a:ext cx="2743200" cy="384721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900" b="1" dirty="0">
                <a:solidFill>
                  <a:schemeClr val="accent1">
                    <a:lumMod val="75000"/>
                  </a:schemeClr>
                </a:solidFill>
              </a:rPr>
              <a:t>Browser Recordings</a:t>
            </a:r>
            <a:endParaRPr sz="19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15" name="直線箭頭接點 14">
            <a:extLst>
              <a:ext uri="{FF2B5EF4-FFF2-40B4-BE49-F238E27FC236}">
                <a16:creationId xmlns:a16="http://schemas.microsoft.com/office/drawing/2014/main" id="{2F4D030D-1418-83A2-1692-BB596BD19662}"/>
              </a:ext>
            </a:extLst>
          </p:cNvPr>
          <p:cNvCxnSpPr>
            <a:stCxn id="2" idx="3"/>
            <a:endCxn id="4" idx="1"/>
          </p:cNvCxnSpPr>
          <p:nvPr/>
        </p:nvCxnSpPr>
        <p:spPr>
          <a:xfrm flipV="1">
            <a:off x="3715278" y="1153219"/>
            <a:ext cx="2380722" cy="13267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箭頭接點 15">
            <a:extLst>
              <a:ext uri="{FF2B5EF4-FFF2-40B4-BE49-F238E27FC236}">
                <a16:creationId xmlns:a16="http://schemas.microsoft.com/office/drawing/2014/main" id="{2A658BD6-2354-7F21-573D-1AA2F8CFD698}"/>
              </a:ext>
            </a:extLst>
          </p:cNvPr>
          <p:cNvCxnSpPr>
            <a:cxnSpLocks/>
            <a:stCxn id="2" idx="3"/>
            <a:endCxn id="6" idx="1"/>
          </p:cNvCxnSpPr>
          <p:nvPr/>
        </p:nvCxnSpPr>
        <p:spPr>
          <a:xfrm>
            <a:off x="3715278" y="2480004"/>
            <a:ext cx="2380722" cy="2603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線箭頭接點 18">
            <a:extLst>
              <a:ext uri="{FF2B5EF4-FFF2-40B4-BE49-F238E27FC236}">
                <a16:creationId xmlns:a16="http://schemas.microsoft.com/office/drawing/2014/main" id="{6E729A28-5D77-DCA5-77E6-0A41FF7138F7}"/>
              </a:ext>
            </a:extLst>
          </p:cNvPr>
          <p:cNvCxnSpPr>
            <a:cxnSpLocks/>
            <a:stCxn id="2" idx="3"/>
            <a:endCxn id="9" idx="1"/>
          </p:cNvCxnSpPr>
          <p:nvPr/>
        </p:nvCxnSpPr>
        <p:spPr>
          <a:xfrm>
            <a:off x="3715278" y="2480004"/>
            <a:ext cx="2380722" cy="17056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線箭頭接點 21">
            <a:extLst>
              <a:ext uri="{FF2B5EF4-FFF2-40B4-BE49-F238E27FC236}">
                <a16:creationId xmlns:a16="http://schemas.microsoft.com/office/drawing/2014/main" id="{FF7B301E-1822-DF65-6989-A1C90E4197FE}"/>
              </a:ext>
            </a:extLst>
          </p:cNvPr>
          <p:cNvCxnSpPr>
            <a:cxnSpLocks/>
          </p:cNvCxnSpPr>
          <p:nvPr/>
        </p:nvCxnSpPr>
        <p:spPr>
          <a:xfrm>
            <a:off x="2234303" y="2754233"/>
            <a:ext cx="290614" cy="21051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左大括弧 24">
            <a:extLst>
              <a:ext uri="{FF2B5EF4-FFF2-40B4-BE49-F238E27FC236}">
                <a16:creationId xmlns:a16="http://schemas.microsoft.com/office/drawing/2014/main" id="{8015AF8B-BDD9-7CE6-B0CC-5E23DA8400EC}"/>
              </a:ext>
            </a:extLst>
          </p:cNvPr>
          <p:cNvSpPr/>
          <p:nvPr/>
        </p:nvSpPr>
        <p:spPr>
          <a:xfrm>
            <a:off x="2524917" y="4072379"/>
            <a:ext cx="510514" cy="1509784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505761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81730-FE6D-29D5-2418-697DA4D97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05049930-2CDB-60B3-D7D8-6783188E56AC}"/>
              </a:ext>
            </a:extLst>
          </p:cNvPr>
          <p:cNvSpPr/>
          <p:nvPr/>
        </p:nvSpPr>
        <p:spPr>
          <a:xfrm>
            <a:off x="972078" y="2188527"/>
            <a:ext cx="2743200" cy="582954"/>
          </a:xfrm>
          <a:prstGeom prst="rect">
            <a:avLst/>
          </a:prstGeom>
          <a:solidFill>
            <a:srgbClr val="F3F6FB"/>
          </a:solidFill>
          <a:ln w="25400">
            <a:solidFill>
              <a:srgbClr val="00A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C18A79B9-1794-F6DD-C65D-850960F937CC}"/>
              </a:ext>
            </a:extLst>
          </p:cNvPr>
          <p:cNvSpPr txBox="1"/>
          <p:nvPr/>
        </p:nvSpPr>
        <p:spPr>
          <a:xfrm>
            <a:off x="972078" y="2287643"/>
            <a:ext cx="2523744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900" b="1" dirty="0">
                <a:solidFill>
                  <a:srgbClr val="00A366"/>
                </a:solidFill>
              </a:rPr>
              <a:t>Artifacts</a:t>
            </a:r>
            <a:endParaRPr sz="1900" b="1" dirty="0">
              <a:solidFill>
                <a:srgbClr val="00A366"/>
              </a:solidFill>
            </a:endParaRP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05024C5-E58B-A441-DE30-00201984A77E}"/>
              </a:ext>
            </a:extLst>
          </p:cNvPr>
          <p:cNvSpPr/>
          <p:nvPr/>
        </p:nvSpPr>
        <p:spPr>
          <a:xfrm>
            <a:off x="6096000" y="960858"/>
            <a:ext cx="3571437" cy="384721"/>
          </a:xfrm>
          <a:prstGeom prst="rect">
            <a:avLst/>
          </a:prstGeom>
          <a:solidFill>
            <a:srgbClr val="F3F6FB"/>
          </a:solidFill>
          <a:ln w="254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5824D5AE-856B-3EFF-F144-B5DFF47F220B}"/>
              </a:ext>
            </a:extLst>
          </p:cNvPr>
          <p:cNvSpPr txBox="1"/>
          <p:nvPr/>
        </p:nvSpPr>
        <p:spPr>
          <a:xfrm>
            <a:off x="6096000" y="960858"/>
            <a:ext cx="3571437" cy="384721"/>
          </a:xfrm>
          <a:prstGeom prst="rect">
            <a:avLst/>
          </a:prstGeom>
          <a:solidFill>
            <a:srgbClr val="FFFF00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900" b="1" dirty="0">
                <a:solidFill>
                  <a:schemeClr val="accent1">
                    <a:lumMod val="75000"/>
                  </a:schemeClr>
                </a:solidFill>
              </a:rPr>
              <a:t>Implementation plan</a:t>
            </a:r>
            <a:endParaRPr sz="19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7863F18A-1866-964A-D712-FD7B9F4936FA}"/>
              </a:ext>
            </a:extLst>
          </p:cNvPr>
          <p:cNvSpPr/>
          <p:nvPr/>
        </p:nvSpPr>
        <p:spPr>
          <a:xfrm>
            <a:off x="6096000" y="2548017"/>
            <a:ext cx="3571437" cy="384721"/>
          </a:xfrm>
          <a:prstGeom prst="rect">
            <a:avLst/>
          </a:prstGeom>
          <a:solidFill>
            <a:srgbClr val="F3F6FB"/>
          </a:solidFill>
          <a:ln w="254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7792CE00-D16A-BE53-4FA2-36E3A8257E7E}"/>
              </a:ext>
            </a:extLst>
          </p:cNvPr>
          <p:cNvSpPr txBox="1"/>
          <p:nvPr/>
        </p:nvSpPr>
        <p:spPr>
          <a:xfrm>
            <a:off x="6096000" y="2548017"/>
            <a:ext cx="3571437" cy="384721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900" b="1" dirty="0">
                <a:solidFill>
                  <a:schemeClr val="accent1">
                    <a:lumMod val="75000"/>
                  </a:schemeClr>
                </a:solidFill>
              </a:rPr>
              <a:t>Task</a:t>
            </a:r>
            <a:endParaRPr sz="19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F028C5EB-8F0F-F168-EDA1-63A8C3C802C7}"/>
              </a:ext>
            </a:extLst>
          </p:cNvPr>
          <p:cNvSpPr/>
          <p:nvPr/>
        </p:nvSpPr>
        <p:spPr>
          <a:xfrm>
            <a:off x="6096000" y="3993276"/>
            <a:ext cx="3571437" cy="384721"/>
          </a:xfrm>
          <a:prstGeom prst="rect">
            <a:avLst/>
          </a:prstGeom>
          <a:solidFill>
            <a:srgbClr val="F3F6FB"/>
          </a:solidFill>
          <a:ln w="254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D735E526-8E77-9079-AD68-ADF54E8B042E}"/>
              </a:ext>
            </a:extLst>
          </p:cNvPr>
          <p:cNvSpPr txBox="1"/>
          <p:nvPr/>
        </p:nvSpPr>
        <p:spPr>
          <a:xfrm>
            <a:off x="6096000" y="3993276"/>
            <a:ext cx="3571437" cy="384721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900" b="1" dirty="0">
                <a:solidFill>
                  <a:schemeClr val="accent1">
                    <a:lumMod val="75000"/>
                  </a:schemeClr>
                </a:solidFill>
              </a:rPr>
              <a:t>Walkthrough</a:t>
            </a:r>
            <a:endParaRPr sz="19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0DD9181D-DE44-CE4D-CAFC-31A622C31011}"/>
              </a:ext>
            </a:extLst>
          </p:cNvPr>
          <p:cNvSpPr txBox="1"/>
          <p:nvPr/>
        </p:nvSpPr>
        <p:spPr>
          <a:xfrm>
            <a:off x="2939343" y="4474623"/>
            <a:ext cx="2743200" cy="384721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900" b="1" dirty="0">
                <a:solidFill>
                  <a:schemeClr val="accent1">
                    <a:lumMod val="75000"/>
                  </a:schemeClr>
                </a:solidFill>
              </a:rPr>
              <a:t>Screen shots</a:t>
            </a:r>
            <a:endParaRPr sz="19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15" name="直線箭頭接點 14">
            <a:extLst>
              <a:ext uri="{FF2B5EF4-FFF2-40B4-BE49-F238E27FC236}">
                <a16:creationId xmlns:a16="http://schemas.microsoft.com/office/drawing/2014/main" id="{AE224420-67A1-A6AD-8AD0-F9AE9152F2D3}"/>
              </a:ext>
            </a:extLst>
          </p:cNvPr>
          <p:cNvCxnSpPr>
            <a:stCxn id="2" idx="3"/>
            <a:endCxn id="4" idx="1"/>
          </p:cNvCxnSpPr>
          <p:nvPr/>
        </p:nvCxnSpPr>
        <p:spPr>
          <a:xfrm flipV="1">
            <a:off x="3715278" y="1153219"/>
            <a:ext cx="2380722" cy="13267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箭頭接點 15">
            <a:extLst>
              <a:ext uri="{FF2B5EF4-FFF2-40B4-BE49-F238E27FC236}">
                <a16:creationId xmlns:a16="http://schemas.microsoft.com/office/drawing/2014/main" id="{8D3E7BE3-1861-DBE2-F4BC-6AA7FB400F58}"/>
              </a:ext>
            </a:extLst>
          </p:cNvPr>
          <p:cNvCxnSpPr>
            <a:cxnSpLocks/>
            <a:stCxn id="2" idx="3"/>
            <a:endCxn id="6" idx="1"/>
          </p:cNvCxnSpPr>
          <p:nvPr/>
        </p:nvCxnSpPr>
        <p:spPr>
          <a:xfrm>
            <a:off x="3715278" y="2480004"/>
            <a:ext cx="2380722" cy="2603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線箭頭接點 18">
            <a:extLst>
              <a:ext uri="{FF2B5EF4-FFF2-40B4-BE49-F238E27FC236}">
                <a16:creationId xmlns:a16="http://schemas.microsoft.com/office/drawing/2014/main" id="{57F0C255-3205-26F0-25E4-9DB5998B2245}"/>
              </a:ext>
            </a:extLst>
          </p:cNvPr>
          <p:cNvCxnSpPr>
            <a:cxnSpLocks/>
            <a:stCxn id="2" idx="3"/>
            <a:endCxn id="9" idx="1"/>
          </p:cNvCxnSpPr>
          <p:nvPr/>
        </p:nvCxnSpPr>
        <p:spPr>
          <a:xfrm>
            <a:off x="3715278" y="2480004"/>
            <a:ext cx="2380722" cy="17056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線箭頭接點 21">
            <a:extLst>
              <a:ext uri="{FF2B5EF4-FFF2-40B4-BE49-F238E27FC236}">
                <a16:creationId xmlns:a16="http://schemas.microsoft.com/office/drawing/2014/main" id="{374BE629-46A3-A610-1806-E91077B5577B}"/>
              </a:ext>
            </a:extLst>
          </p:cNvPr>
          <p:cNvCxnSpPr>
            <a:cxnSpLocks/>
          </p:cNvCxnSpPr>
          <p:nvPr/>
        </p:nvCxnSpPr>
        <p:spPr>
          <a:xfrm>
            <a:off x="2234303" y="2754233"/>
            <a:ext cx="290614" cy="21051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左大括弧 24">
            <a:extLst>
              <a:ext uri="{FF2B5EF4-FFF2-40B4-BE49-F238E27FC236}">
                <a16:creationId xmlns:a16="http://schemas.microsoft.com/office/drawing/2014/main" id="{3B81DF95-1776-E760-74D9-9FC71840D70B}"/>
              </a:ext>
            </a:extLst>
          </p:cNvPr>
          <p:cNvSpPr/>
          <p:nvPr/>
        </p:nvSpPr>
        <p:spPr>
          <a:xfrm>
            <a:off x="2524917" y="4072379"/>
            <a:ext cx="510514" cy="1509784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C5057B4B-02AB-3711-6D87-F7E319CDCE1A}"/>
              </a:ext>
            </a:extLst>
          </p:cNvPr>
          <p:cNvSpPr txBox="1"/>
          <p:nvPr/>
        </p:nvSpPr>
        <p:spPr>
          <a:xfrm>
            <a:off x="2939343" y="5028393"/>
            <a:ext cx="2743200" cy="384721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900" b="1" dirty="0">
                <a:solidFill>
                  <a:schemeClr val="accent1">
                    <a:lumMod val="75000"/>
                  </a:schemeClr>
                </a:solidFill>
              </a:rPr>
              <a:t>Browser Recordings</a:t>
            </a:r>
            <a:endParaRPr sz="19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05901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84AD643C-A5F4-5141-5C51-AAFB7A97AA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4905" y="928575"/>
            <a:ext cx="7772400" cy="5472189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69F5ADE7-1B48-75DE-35AC-B162499FB621}"/>
              </a:ext>
            </a:extLst>
          </p:cNvPr>
          <p:cNvSpPr txBox="1"/>
          <p:nvPr/>
        </p:nvSpPr>
        <p:spPr>
          <a:xfrm>
            <a:off x="77771" y="154699"/>
            <a:ext cx="6094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2400" dirty="0"/>
              <a:t>Implementation Plan：實作計畫</a:t>
            </a:r>
            <a:endParaRPr lang="zh-TW" altLang="en-US" sz="2400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59564463-29B1-04F5-D006-259E1F7122DE}"/>
              </a:ext>
            </a:extLst>
          </p:cNvPr>
          <p:cNvSpPr txBox="1"/>
          <p:nvPr/>
        </p:nvSpPr>
        <p:spPr>
          <a:xfrm>
            <a:off x="181466" y="872314"/>
            <a:ext cx="34572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TW" altLang="zh-TW" dirty="0"/>
              <a:t>Implementation Plan 是最重要的 artifact 之一。它會說明 agent 打算怎麼改你的 codebase。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13209371-D200-6003-CF31-AD038986BABA}"/>
              </a:ext>
            </a:extLst>
          </p:cNvPr>
          <p:cNvSpPr txBox="1"/>
          <p:nvPr/>
        </p:nvSpPr>
        <p:spPr>
          <a:xfrm>
            <a:off x="181466" y="2107855"/>
            <a:ext cx="609442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TW" altLang="zh-TW" dirty="0"/>
              <a:t>它通常會包含：</a:t>
            </a:r>
          </a:p>
          <a:p>
            <a:pPr lvl="1"/>
            <a:r>
              <a:rPr lang="zh-TW" altLang="zh-TW" dirty="0"/>
              <a:t>要改哪些檔案</a:t>
            </a:r>
            <a:br>
              <a:rPr lang="zh-TW" altLang="zh-TW" dirty="0"/>
            </a:br>
            <a:r>
              <a:rPr lang="zh-TW" altLang="zh-TW" dirty="0"/>
              <a:t>為什麼要改這些檔案</a:t>
            </a:r>
            <a:br>
              <a:rPr lang="zh-TW" altLang="zh-TW" dirty="0"/>
            </a:br>
            <a:r>
              <a:rPr lang="zh-TW" altLang="zh-TW" dirty="0"/>
              <a:t>預計新增或刪除哪些邏輯</a:t>
            </a:r>
            <a:br>
              <a:rPr lang="zh-TW" altLang="zh-TW" dirty="0"/>
            </a:br>
            <a:r>
              <a:rPr lang="zh-TW" altLang="zh-TW" dirty="0"/>
              <a:t>資料流或 API flow 如何變化</a:t>
            </a:r>
            <a:br>
              <a:rPr lang="zh-TW" altLang="zh-TW" dirty="0"/>
            </a:br>
            <a:r>
              <a:rPr lang="zh-TW" altLang="zh-TW" dirty="0"/>
              <a:t>風險與測試方式</a:t>
            </a:r>
            <a:br>
              <a:rPr lang="zh-TW" altLang="zh-TW" dirty="0"/>
            </a:br>
            <a:r>
              <a:rPr lang="zh-TW" altLang="zh-TW" dirty="0"/>
              <a:t>可能的替代方案</a:t>
            </a:r>
          </a:p>
        </p:txBody>
      </p:sp>
    </p:spTree>
    <p:extLst>
      <p:ext uri="{BB962C8B-B14F-4D97-AF65-F5344CB8AC3E}">
        <p14:creationId xmlns:p14="http://schemas.microsoft.com/office/powerpoint/2010/main" val="33209002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B5143-5A8C-6947-8156-6C80F1A26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7670BEF-2F49-19FB-3FF2-AC2215AF9B29}"/>
              </a:ext>
            </a:extLst>
          </p:cNvPr>
          <p:cNvSpPr/>
          <p:nvPr/>
        </p:nvSpPr>
        <p:spPr>
          <a:xfrm>
            <a:off x="972078" y="2188527"/>
            <a:ext cx="2743200" cy="582954"/>
          </a:xfrm>
          <a:prstGeom prst="rect">
            <a:avLst/>
          </a:prstGeom>
          <a:solidFill>
            <a:srgbClr val="F3F6FB"/>
          </a:solidFill>
          <a:ln w="25400">
            <a:solidFill>
              <a:srgbClr val="00A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F6746FA3-F086-6227-D442-D803ADDFDF08}"/>
              </a:ext>
            </a:extLst>
          </p:cNvPr>
          <p:cNvSpPr txBox="1"/>
          <p:nvPr/>
        </p:nvSpPr>
        <p:spPr>
          <a:xfrm>
            <a:off x="972078" y="2287643"/>
            <a:ext cx="2523744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900" b="1" dirty="0">
                <a:solidFill>
                  <a:srgbClr val="00A366"/>
                </a:solidFill>
              </a:rPr>
              <a:t>Artifacts</a:t>
            </a:r>
            <a:endParaRPr sz="1900" b="1" dirty="0">
              <a:solidFill>
                <a:srgbClr val="00A366"/>
              </a:solidFill>
            </a:endParaRP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F12ED4C-D67B-3135-B710-AFEDB3E4AB02}"/>
              </a:ext>
            </a:extLst>
          </p:cNvPr>
          <p:cNvSpPr/>
          <p:nvPr/>
        </p:nvSpPr>
        <p:spPr>
          <a:xfrm>
            <a:off x="6096000" y="960858"/>
            <a:ext cx="3571437" cy="384721"/>
          </a:xfrm>
          <a:prstGeom prst="rect">
            <a:avLst/>
          </a:prstGeom>
          <a:solidFill>
            <a:srgbClr val="F3F6FB"/>
          </a:solidFill>
          <a:ln w="254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32BED2C2-0C66-B5B9-FCCC-810BC7C208CC}"/>
              </a:ext>
            </a:extLst>
          </p:cNvPr>
          <p:cNvSpPr txBox="1"/>
          <p:nvPr/>
        </p:nvSpPr>
        <p:spPr>
          <a:xfrm>
            <a:off x="6096000" y="960858"/>
            <a:ext cx="3571437" cy="384721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900" b="1" dirty="0">
                <a:solidFill>
                  <a:schemeClr val="accent1">
                    <a:lumMod val="75000"/>
                  </a:schemeClr>
                </a:solidFill>
              </a:rPr>
              <a:t>Implementation plan</a:t>
            </a:r>
            <a:endParaRPr sz="19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D4BFF37C-75F1-2DFC-E4D4-76EC6D646624}"/>
              </a:ext>
            </a:extLst>
          </p:cNvPr>
          <p:cNvSpPr/>
          <p:nvPr/>
        </p:nvSpPr>
        <p:spPr>
          <a:xfrm>
            <a:off x="6096000" y="2548017"/>
            <a:ext cx="3571437" cy="384721"/>
          </a:xfrm>
          <a:prstGeom prst="rect">
            <a:avLst/>
          </a:prstGeom>
          <a:solidFill>
            <a:srgbClr val="F3F6FB"/>
          </a:solidFill>
          <a:ln w="254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0DA17F9F-47AA-6778-C57D-CDECD7D0237B}"/>
              </a:ext>
            </a:extLst>
          </p:cNvPr>
          <p:cNvSpPr txBox="1"/>
          <p:nvPr/>
        </p:nvSpPr>
        <p:spPr>
          <a:xfrm>
            <a:off x="6096000" y="2548017"/>
            <a:ext cx="3571437" cy="384721"/>
          </a:xfrm>
          <a:prstGeom prst="rect">
            <a:avLst/>
          </a:prstGeom>
          <a:solidFill>
            <a:srgbClr val="FFFF00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900" b="1" dirty="0">
                <a:solidFill>
                  <a:schemeClr val="accent1">
                    <a:lumMod val="75000"/>
                  </a:schemeClr>
                </a:solidFill>
              </a:rPr>
              <a:t>Task</a:t>
            </a:r>
            <a:endParaRPr sz="19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CEBCD801-FBFD-FDA0-2FAC-DAC3AC2EC033}"/>
              </a:ext>
            </a:extLst>
          </p:cNvPr>
          <p:cNvSpPr/>
          <p:nvPr/>
        </p:nvSpPr>
        <p:spPr>
          <a:xfrm>
            <a:off x="6096000" y="3993276"/>
            <a:ext cx="3571437" cy="384721"/>
          </a:xfrm>
          <a:prstGeom prst="rect">
            <a:avLst/>
          </a:prstGeom>
          <a:solidFill>
            <a:srgbClr val="F3F6FB"/>
          </a:solidFill>
          <a:ln w="254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5BB787A3-ACB3-D700-47BC-559CAB7FD972}"/>
              </a:ext>
            </a:extLst>
          </p:cNvPr>
          <p:cNvSpPr txBox="1"/>
          <p:nvPr/>
        </p:nvSpPr>
        <p:spPr>
          <a:xfrm>
            <a:off x="6096000" y="3993276"/>
            <a:ext cx="3571437" cy="384721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900" b="1" dirty="0">
                <a:solidFill>
                  <a:schemeClr val="accent1">
                    <a:lumMod val="75000"/>
                  </a:schemeClr>
                </a:solidFill>
              </a:rPr>
              <a:t>Walkthrough</a:t>
            </a:r>
            <a:endParaRPr sz="19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AEB6EB31-ABCC-9B40-0813-203BADE30143}"/>
              </a:ext>
            </a:extLst>
          </p:cNvPr>
          <p:cNvSpPr txBox="1"/>
          <p:nvPr/>
        </p:nvSpPr>
        <p:spPr>
          <a:xfrm>
            <a:off x="2939343" y="4474623"/>
            <a:ext cx="2743200" cy="384721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900" b="1" dirty="0">
                <a:solidFill>
                  <a:schemeClr val="accent1">
                    <a:lumMod val="75000"/>
                  </a:schemeClr>
                </a:solidFill>
              </a:rPr>
              <a:t>Screen shots</a:t>
            </a:r>
            <a:endParaRPr sz="19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15" name="直線箭頭接點 14">
            <a:extLst>
              <a:ext uri="{FF2B5EF4-FFF2-40B4-BE49-F238E27FC236}">
                <a16:creationId xmlns:a16="http://schemas.microsoft.com/office/drawing/2014/main" id="{CE04552D-DE37-F98E-2076-233A9E36F95A}"/>
              </a:ext>
            </a:extLst>
          </p:cNvPr>
          <p:cNvCxnSpPr>
            <a:stCxn id="2" idx="3"/>
            <a:endCxn id="4" idx="1"/>
          </p:cNvCxnSpPr>
          <p:nvPr/>
        </p:nvCxnSpPr>
        <p:spPr>
          <a:xfrm flipV="1">
            <a:off x="3715278" y="1153219"/>
            <a:ext cx="2380722" cy="13267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箭頭接點 15">
            <a:extLst>
              <a:ext uri="{FF2B5EF4-FFF2-40B4-BE49-F238E27FC236}">
                <a16:creationId xmlns:a16="http://schemas.microsoft.com/office/drawing/2014/main" id="{5585044A-0111-83BE-E66A-63A511DE9A20}"/>
              </a:ext>
            </a:extLst>
          </p:cNvPr>
          <p:cNvCxnSpPr>
            <a:cxnSpLocks/>
            <a:stCxn id="2" idx="3"/>
            <a:endCxn id="6" idx="1"/>
          </p:cNvCxnSpPr>
          <p:nvPr/>
        </p:nvCxnSpPr>
        <p:spPr>
          <a:xfrm>
            <a:off x="3715278" y="2480004"/>
            <a:ext cx="2380722" cy="2603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線箭頭接點 18">
            <a:extLst>
              <a:ext uri="{FF2B5EF4-FFF2-40B4-BE49-F238E27FC236}">
                <a16:creationId xmlns:a16="http://schemas.microsoft.com/office/drawing/2014/main" id="{7EB62AEF-C7B2-D85F-4BF3-5BE21EDE6F22}"/>
              </a:ext>
            </a:extLst>
          </p:cNvPr>
          <p:cNvCxnSpPr>
            <a:cxnSpLocks/>
            <a:stCxn id="2" idx="3"/>
            <a:endCxn id="9" idx="1"/>
          </p:cNvCxnSpPr>
          <p:nvPr/>
        </p:nvCxnSpPr>
        <p:spPr>
          <a:xfrm>
            <a:off x="3715278" y="2480004"/>
            <a:ext cx="2380722" cy="17056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線箭頭接點 21">
            <a:extLst>
              <a:ext uri="{FF2B5EF4-FFF2-40B4-BE49-F238E27FC236}">
                <a16:creationId xmlns:a16="http://schemas.microsoft.com/office/drawing/2014/main" id="{F072F9D8-BDA1-E531-EC15-A216E8DA86CB}"/>
              </a:ext>
            </a:extLst>
          </p:cNvPr>
          <p:cNvCxnSpPr>
            <a:cxnSpLocks/>
          </p:cNvCxnSpPr>
          <p:nvPr/>
        </p:nvCxnSpPr>
        <p:spPr>
          <a:xfrm>
            <a:off x="2234303" y="2754233"/>
            <a:ext cx="290614" cy="21051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左大括弧 24">
            <a:extLst>
              <a:ext uri="{FF2B5EF4-FFF2-40B4-BE49-F238E27FC236}">
                <a16:creationId xmlns:a16="http://schemas.microsoft.com/office/drawing/2014/main" id="{114C7391-98FB-FBC5-F4D5-D6763C5FFAB0}"/>
              </a:ext>
            </a:extLst>
          </p:cNvPr>
          <p:cNvSpPr/>
          <p:nvPr/>
        </p:nvSpPr>
        <p:spPr>
          <a:xfrm>
            <a:off x="2524917" y="4072379"/>
            <a:ext cx="510514" cy="1509784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ED29F063-2B71-4D55-AC53-6958EEF99D8C}"/>
              </a:ext>
            </a:extLst>
          </p:cNvPr>
          <p:cNvSpPr txBox="1"/>
          <p:nvPr/>
        </p:nvSpPr>
        <p:spPr>
          <a:xfrm>
            <a:off x="2939343" y="5028393"/>
            <a:ext cx="2743200" cy="384721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900" b="1" dirty="0">
                <a:solidFill>
                  <a:schemeClr val="accent1">
                    <a:lumMod val="75000"/>
                  </a:schemeClr>
                </a:solidFill>
              </a:rPr>
              <a:t>Browser Recordings</a:t>
            </a:r>
            <a:endParaRPr sz="19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7234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9D831004-70D9-8C1D-C62B-A3A468F61C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6158" y="877572"/>
            <a:ext cx="7772400" cy="5472189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FA9F43F5-324D-2C84-1935-FC7623CED872}"/>
              </a:ext>
            </a:extLst>
          </p:cNvPr>
          <p:cNvSpPr txBox="1"/>
          <p:nvPr/>
        </p:nvSpPr>
        <p:spPr>
          <a:xfrm>
            <a:off x="234098" y="442323"/>
            <a:ext cx="6094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2400" dirty="0"/>
              <a:t>Task List：任務清單</a:t>
            </a:r>
            <a:endParaRPr lang="zh-TW" altLang="en-US" sz="2400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924B7473-D7C0-5A8C-34E8-34FE1A64AD93}"/>
              </a:ext>
            </a:extLst>
          </p:cNvPr>
          <p:cNvSpPr txBox="1"/>
          <p:nvPr/>
        </p:nvSpPr>
        <p:spPr>
          <a:xfrm>
            <a:off x="234098" y="1291719"/>
            <a:ext cx="364031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dirty="0"/>
              <a:t>Task List 是 agent 在開始工作前或工作中產生的結構化待辦清單。Google 文件稱 task list 是 agent 用來組織工作、驗證等流程的 artifact。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284756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2AACD-57BD-EC54-A01F-E26BBC8CE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1F926507-B964-E3BC-4A58-E4C25AD9A9AA}"/>
              </a:ext>
            </a:extLst>
          </p:cNvPr>
          <p:cNvSpPr/>
          <p:nvPr/>
        </p:nvSpPr>
        <p:spPr>
          <a:xfrm>
            <a:off x="972078" y="2188527"/>
            <a:ext cx="2743200" cy="582954"/>
          </a:xfrm>
          <a:prstGeom prst="rect">
            <a:avLst/>
          </a:prstGeom>
          <a:solidFill>
            <a:srgbClr val="F3F6FB"/>
          </a:solidFill>
          <a:ln w="25400">
            <a:solidFill>
              <a:srgbClr val="00A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600D5318-7AE0-8891-943F-C22356A6389B}"/>
              </a:ext>
            </a:extLst>
          </p:cNvPr>
          <p:cNvSpPr txBox="1"/>
          <p:nvPr/>
        </p:nvSpPr>
        <p:spPr>
          <a:xfrm>
            <a:off x="972078" y="2287643"/>
            <a:ext cx="2523744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900" b="1" dirty="0">
                <a:solidFill>
                  <a:srgbClr val="00A366"/>
                </a:solidFill>
              </a:rPr>
              <a:t>Artifacts</a:t>
            </a:r>
            <a:endParaRPr sz="1900" b="1" dirty="0">
              <a:solidFill>
                <a:srgbClr val="00A366"/>
              </a:solidFill>
            </a:endParaRP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A7B92F8-64F5-2D79-8F5F-3BA1AEA161BB}"/>
              </a:ext>
            </a:extLst>
          </p:cNvPr>
          <p:cNvSpPr/>
          <p:nvPr/>
        </p:nvSpPr>
        <p:spPr>
          <a:xfrm>
            <a:off x="6096000" y="960858"/>
            <a:ext cx="3571437" cy="384721"/>
          </a:xfrm>
          <a:prstGeom prst="rect">
            <a:avLst/>
          </a:prstGeom>
          <a:solidFill>
            <a:srgbClr val="F3F6FB"/>
          </a:solidFill>
          <a:ln w="254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46696768-DB08-9492-9F81-25A3ABF418AE}"/>
              </a:ext>
            </a:extLst>
          </p:cNvPr>
          <p:cNvSpPr txBox="1"/>
          <p:nvPr/>
        </p:nvSpPr>
        <p:spPr>
          <a:xfrm>
            <a:off x="6096000" y="960858"/>
            <a:ext cx="3571437" cy="384721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900" b="1" dirty="0">
                <a:solidFill>
                  <a:schemeClr val="accent1">
                    <a:lumMod val="75000"/>
                  </a:schemeClr>
                </a:solidFill>
              </a:rPr>
              <a:t>Implementation plan</a:t>
            </a:r>
            <a:endParaRPr sz="19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82E45462-9AED-8A3E-6450-F731116B0CE4}"/>
              </a:ext>
            </a:extLst>
          </p:cNvPr>
          <p:cNvSpPr/>
          <p:nvPr/>
        </p:nvSpPr>
        <p:spPr>
          <a:xfrm>
            <a:off x="6096000" y="2548017"/>
            <a:ext cx="3571437" cy="384721"/>
          </a:xfrm>
          <a:prstGeom prst="rect">
            <a:avLst/>
          </a:prstGeom>
          <a:solidFill>
            <a:srgbClr val="F3F6FB"/>
          </a:solidFill>
          <a:ln w="254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F34A72D8-3AB2-E3AA-CD90-0A386C06FB5E}"/>
              </a:ext>
            </a:extLst>
          </p:cNvPr>
          <p:cNvSpPr txBox="1"/>
          <p:nvPr/>
        </p:nvSpPr>
        <p:spPr>
          <a:xfrm>
            <a:off x="6096000" y="2548017"/>
            <a:ext cx="3571437" cy="384721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900" b="1" dirty="0">
                <a:solidFill>
                  <a:schemeClr val="accent1">
                    <a:lumMod val="75000"/>
                  </a:schemeClr>
                </a:solidFill>
              </a:rPr>
              <a:t>Task</a:t>
            </a:r>
            <a:endParaRPr sz="19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88305391-D62E-D1CA-AA93-E50CA5EEEA7D}"/>
              </a:ext>
            </a:extLst>
          </p:cNvPr>
          <p:cNvSpPr/>
          <p:nvPr/>
        </p:nvSpPr>
        <p:spPr>
          <a:xfrm>
            <a:off x="6096000" y="3993276"/>
            <a:ext cx="3571437" cy="384721"/>
          </a:xfrm>
          <a:prstGeom prst="rect">
            <a:avLst/>
          </a:prstGeom>
          <a:solidFill>
            <a:srgbClr val="F3F6FB"/>
          </a:solidFill>
          <a:ln w="254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AE6F8890-BE33-D1B5-8A9A-D9CDAB501263}"/>
              </a:ext>
            </a:extLst>
          </p:cNvPr>
          <p:cNvSpPr txBox="1"/>
          <p:nvPr/>
        </p:nvSpPr>
        <p:spPr>
          <a:xfrm>
            <a:off x="6096000" y="3993276"/>
            <a:ext cx="3571437" cy="384721"/>
          </a:xfrm>
          <a:prstGeom prst="rect">
            <a:avLst/>
          </a:prstGeom>
          <a:solidFill>
            <a:srgbClr val="FFFF00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900" b="1" dirty="0">
                <a:solidFill>
                  <a:schemeClr val="accent1">
                    <a:lumMod val="75000"/>
                  </a:schemeClr>
                </a:solidFill>
              </a:rPr>
              <a:t>Walkthrough</a:t>
            </a:r>
            <a:endParaRPr sz="19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8AC7E27F-2170-9F45-C00E-ABB0499DCC79}"/>
              </a:ext>
            </a:extLst>
          </p:cNvPr>
          <p:cNvSpPr txBox="1"/>
          <p:nvPr/>
        </p:nvSpPr>
        <p:spPr>
          <a:xfrm>
            <a:off x="2939343" y="4474623"/>
            <a:ext cx="2743200" cy="384721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900" b="1" dirty="0">
                <a:solidFill>
                  <a:schemeClr val="accent1">
                    <a:lumMod val="75000"/>
                  </a:schemeClr>
                </a:solidFill>
              </a:rPr>
              <a:t>Screen shots</a:t>
            </a:r>
            <a:endParaRPr sz="19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15" name="直線箭頭接點 14">
            <a:extLst>
              <a:ext uri="{FF2B5EF4-FFF2-40B4-BE49-F238E27FC236}">
                <a16:creationId xmlns:a16="http://schemas.microsoft.com/office/drawing/2014/main" id="{AB923676-A2F7-BE82-6D42-7E0BAE6B0A0C}"/>
              </a:ext>
            </a:extLst>
          </p:cNvPr>
          <p:cNvCxnSpPr>
            <a:stCxn id="2" idx="3"/>
            <a:endCxn id="4" idx="1"/>
          </p:cNvCxnSpPr>
          <p:nvPr/>
        </p:nvCxnSpPr>
        <p:spPr>
          <a:xfrm flipV="1">
            <a:off x="3715278" y="1153219"/>
            <a:ext cx="2380722" cy="13267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箭頭接點 15">
            <a:extLst>
              <a:ext uri="{FF2B5EF4-FFF2-40B4-BE49-F238E27FC236}">
                <a16:creationId xmlns:a16="http://schemas.microsoft.com/office/drawing/2014/main" id="{ADF8796C-8C5A-51EA-BC0A-C0ABA90EBF4C}"/>
              </a:ext>
            </a:extLst>
          </p:cNvPr>
          <p:cNvCxnSpPr>
            <a:cxnSpLocks/>
            <a:stCxn id="2" idx="3"/>
            <a:endCxn id="6" idx="1"/>
          </p:cNvCxnSpPr>
          <p:nvPr/>
        </p:nvCxnSpPr>
        <p:spPr>
          <a:xfrm>
            <a:off x="3715278" y="2480004"/>
            <a:ext cx="2380722" cy="2603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線箭頭接點 18">
            <a:extLst>
              <a:ext uri="{FF2B5EF4-FFF2-40B4-BE49-F238E27FC236}">
                <a16:creationId xmlns:a16="http://schemas.microsoft.com/office/drawing/2014/main" id="{9F019239-3A7F-3DB6-AEC9-F24A418FAFA5}"/>
              </a:ext>
            </a:extLst>
          </p:cNvPr>
          <p:cNvCxnSpPr>
            <a:cxnSpLocks/>
            <a:stCxn id="2" idx="3"/>
            <a:endCxn id="9" idx="1"/>
          </p:cNvCxnSpPr>
          <p:nvPr/>
        </p:nvCxnSpPr>
        <p:spPr>
          <a:xfrm>
            <a:off x="3715278" y="2480004"/>
            <a:ext cx="2380722" cy="17056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線箭頭接點 21">
            <a:extLst>
              <a:ext uri="{FF2B5EF4-FFF2-40B4-BE49-F238E27FC236}">
                <a16:creationId xmlns:a16="http://schemas.microsoft.com/office/drawing/2014/main" id="{543AFD66-6555-D6A5-C787-4468DD725BF3}"/>
              </a:ext>
            </a:extLst>
          </p:cNvPr>
          <p:cNvCxnSpPr>
            <a:cxnSpLocks/>
          </p:cNvCxnSpPr>
          <p:nvPr/>
        </p:nvCxnSpPr>
        <p:spPr>
          <a:xfrm>
            <a:off x="2234303" y="2754233"/>
            <a:ext cx="290614" cy="21051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左大括弧 24">
            <a:extLst>
              <a:ext uri="{FF2B5EF4-FFF2-40B4-BE49-F238E27FC236}">
                <a16:creationId xmlns:a16="http://schemas.microsoft.com/office/drawing/2014/main" id="{B34DEE5A-7C8A-1ABC-4375-492297A6535F}"/>
              </a:ext>
            </a:extLst>
          </p:cNvPr>
          <p:cNvSpPr/>
          <p:nvPr/>
        </p:nvSpPr>
        <p:spPr>
          <a:xfrm>
            <a:off x="2524917" y="4072379"/>
            <a:ext cx="510514" cy="1509784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ECD5B149-50D4-6222-C70B-B28D2F19C282}"/>
              </a:ext>
            </a:extLst>
          </p:cNvPr>
          <p:cNvSpPr txBox="1"/>
          <p:nvPr/>
        </p:nvSpPr>
        <p:spPr>
          <a:xfrm>
            <a:off x="2939343" y="5028393"/>
            <a:ext cx="2743200" cy="384721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900" b="1" dirty="0">
                <a:solidFill>
                  <a:schemeClr val="accent1">
                    <a:lumMod val="75000"/>
                  </a:schemeClr>
                </a:solidFill>
              </a:rPr>
              <a:t>Browser Recordings</a:t>
            </a:r>
            <a:endParaRPr sz="19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88310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F5C9E205-5E00-3C9F-BF01-E1B8E98928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9503" y="909722"/>
            <a:ext cx="7772400" cy="5472189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B430BAF7-7859-B8DA-67FC-6899496DBAFD}"/>
              </a:ext>
            </a:extLst>
          </p:cNvPr>
          <p:cNvSpPr txBox="1"/>
          <p:nvPr/>
        </p:nvSpPr>
        <p:spPr>
          <a:xfrm>
            <a:off x="219173" y="173551"/>
            <a:ext cx="60944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2800" dirty="0"/>
              <a:t>Walkthrough：工作導覽／交付說明</a:t>
            </a:r>
            <a:endParaRPr lang="zh-TW" altLang="en-US" sz="2800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F0E59957-6916-8B2A-CB20-CF3BF0A4D978}"/>
              </a:ext>
            </a:extLst>
          </p:cNvPr>
          <p:cNvSpPr txBox="1"/>
          <p:nvPr/>
        </p:nvSpPr>
        <p:spPr>
          <a:xfrm>
            <a:off x="278091" y="1022032"/>
            <a:ext cx="44724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dirty="0"/>
              <a:t>Walkthrough 可以理解成 agent 完成任務後的「交付報告」。</a:t>
            </a:r>
            <a:endParaRPr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89B76F46-EA42-8400-147C-AA457971F994}"/>
              </a:ext>
            </a:extLst>
          </p:cNvPr>
          <p:cNvSpPr txBox="1"/>
          <p:nvPr/>
        </p:nvSpPr>
        <p:spPr>
          <a:xfrm>
            <a:off x="219173" y="2274838"/>
            <a:ext cx="486187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TW" altLang="zh-TW" dirty="0"/>
              <a:t>它通常會總結：</a:t>
            </a:r>
          </a:p>
          <a:p>
            <a:pPr>
              <a:buNone/>
            </a:pPr>
            <a:r>
              <a:rPr lang="zh-TW" altLang="zh-TW" dirty="0"/>
              <a:t>做了哪些修改</a:t>
            </a:r>
            <a:br>
              <a:rPr lang="zh-TW" altLang="zh-TW" dirty="0"/>
            </a:br>
            <a:r>
              <a:rPr lang="zh-TW" altLang="zh-TW" dirty="0"/>
              <a:t>哪些檔案被改</a:t>
            </a:r>
            <a:br>
              <a:rPr lang="zh-TW" altLang="zh-TW" dirty="0"/>
            </a:br>
            <a:r>
              <a:rPr lang="zh-TW" altLang="zh-TW" dirty="0"/>
              <a:t>為什麼這樣改</a:t>
            </a:r>
            <a:br>
              <a:rPr lang="zh-TW" altLang="zh-TW" dirty="0"/>
            </a:br>
            <a:r>
              <a:rPr lang="zh-TW" altLang="zh-TW" dirty="0"/>
              <a:t>怎麼驗證</a:t>
            </a:r>
            <a:br>
              <a:rPr lang="zh-TW" altLang="zh-TW" dirty="0"/>
            </a:br>
            <a:r>
              <a:rPr lang="zh-TW" altLang="zh-TW" dirty="0"/>
              <a:t>還有哪些限制或後續建議</a:t>
            </a:r>
          </a:p>
          <a:p>
            <a:pPr>
              <a:buNone/>
            </a:pPr>
            <a:r>
              <a:rPr lang="zh-TW" altLang="zh-TW" dirty="0"/>
              <a:t>這很像一個 junior developer 做完任務後寫給 reviewer 的說明</a:t>
            </a:r>
          </a:p>
        </p:txBody>
      </p:sp>
    </p:spTree>
    <p:extLst>
      <p:ext uri="{BB962C8B-B14F-4D97-AF65-F5344CB8AC3E}">
        <p14:creationId xmlns:p14="http://schemas.microsoft.com/office/powerpoint/2010/main" val="27090913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769A7-E4E3-7D61-DD34-60B8A3A8F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C9E126ED-A328-4279-31D4-EC49972C1441}"/>
              </a:ext>
            </a:extLst>
          </p:cNvPr>
          <p:cNvSpPr/>
          <p:nvPr/>
        </p:nvSpPr>
        <p:spPr>
          <a:xfrm>
            <a:off x="972078" y="2188527"/>
            <a:ext cx="2743200" cy="582954"/>
          </a:xfrm>
          <a:prstGeom prst="rect">
            <a:avLst/>
          </a:prstGeom>
          <a:solidFill>
            <a:srgbClr val="F3F6FB"/>
          </a:solidFill>
          <a:ln w="25400">
            <a:solidFill>
              <a:srgbClr val="00A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30A8FA91-164D-E9C7-A574-0EFAF035CB29}"/>
              </a:ext>
            </a:extLst>
          </p:cNvPr>
          <p:cNvSpPr txBox="1"/>
          <p:nvPr/>
        </p:nvSpPr>
        <p:spPr>
          <a:xfrm>
            <a:off x="972078" y="2287643"/>
            <a:ext cx="2523744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900" b="1" dirty="0">
                <a:solidFill>
                  <a:srgbClr val="00A366"/>
                </a:solidFill>
              </a:rPr>
              <a:t>Artifacts</a:t>
            </a:r>
            <a:endParaRPr sz="1900" b="1" dirty="0">
              <a:solidFill>
                <a:srgbClr val="00A366"/>
              </a:solidFill>
            </a:endParaRP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58FACE0-ACBB-F5B8-0E9E-E49F4ED90B76}"/>
              </a:ext>
            </a:extLst>
          </p:cNvPr>
          <p:cNvSpPr/>
          <p:nvPr/>
        </p:nvSpPr>
        <p:spPr>
          <a:xfrm>
            <a:off x="6096000" y="960858"/>
            <a:ext cx="3571437" cy="384721"/>
          </a:xfrm>
          <a:prstGeom prst="rect">
            <a:avLst/>
          </a:prstGeom>
          <a:solidFill>
            <a:srgbClr val="F3F6FB"/>
          </a:solidFill>
          <a:ln w="254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B452A1F6-03A7-FBCB-7091-8E25B4E960A7}"/>
              </a:ext>
            </a:extLst>
          </p:cNvPr>
          <p:cNvSpPr txBox="1"/>
          <p:nvPr/>
        </p:nvSpPr>
        <p:spPr>
          <a:xfrm>
            <a:off x="6096000" y="960858"/>
            <a:ext cx="3571437" cy="384721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900" b="1" dirty="0">
                <a:solidFill>
                  <a:schemeClr val="accent1">
                    <a:lumMod val="75000"/>
                  </a:schemeClr>
                </a:solidFill>
              </a:rPr>
              <a:t>Implementation plan</a:t>
            </a:r>
            <a:endParaRPr sz="19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C747A567-0C41-BD62-2A42-E471015B6B86}"/>
              </a:ext>
            </a:extLst>
          </p:cNvPr>
          <p:cNvSpPr/>
          <p:nvPr/>
        </p:nvSpPr>
        <p:spPr>
          <a:xfrm>
            <a:off x="6096000" y="2548017"/>
            <a:ext cx="3571437" cy="384721"/>
          </a:xfrm>
          <a:prstGeom prst="rect">
            <a:avLst/>
          </a:prstGeom>
          <a:solidFill>
            <a:srgbClr val="F3F6FB"/>
          </a:solidFill>
          <a:ln w="254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E6E22C4F-4A7D-9D2D-4842-C4D99B1A52A0}"/>
              </a:ext>
            </a:extLst>
          </p:cNvPr>
          <p:cNvSpPr txBox="1"/>
          <p:nvPr/>
        </p:nvSpPr>
        <p:spPr>
          <a:xfrm>
            <a:off x="6096000" y="2548017"/>
            <a:ext cx="3571437" cy="384721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900" b="1" dirty="0">
                <a:solidFill>
                  <a:schemeClr val="accent1">
                    <a:lumMod val="75000"/>
                  </a:schemeClr>
                </a:solidFill>
              </a:rPr>
              <a:t>Task</a:t>
            </a:r>
            <a:endParaRPr sz="19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DD4684DE-ACC6-293E-F338-5EE44D64C294}"/>
              </a:ext>
            </a:extLst>
          </p:cNvPr>
          <p:cNvSpPr/>
          <p:nvPr/>
        </p:nvSpPr>
        <p:spPr>
          <a:xfrm>
            <a:off x="6096000" y="3993276"/>
            <a:ext cx="3571437" cy="384721"/>
          </a:xfrm>
          <a:prstGeom prst="rect">
            <a:avLst/>
          </a:prstGeom>
          <a:solidFill>
            <a:srgbClr val="F3F6FB"/>
          </a:solidFill>
          <a:ln w="254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1C9103B7-5439-504C-07A0-0BD2FB6785D6}"/>
              </a:ext>
            </a:extLst>
          </p:cNvPr>
          <p:cNvSpPr txBox="1"/>
          <p:nvPr/>
        </p:nvSpPr>
        <p:spPr>
          <a:xfrm>
            <a:off x="6096000" y="3993276"/>
            <a:ext cx="3571437" cy="384721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900" b="1" dirty="0">
                <a:solidFill>
                  <a:schemeClr val="accent1">
                    <a:lumMod val="75000"/>
                  </a:schemeClr>
                </a:solidFill>
              </a:rPr>
              <a:t>Walkthrough</a:t>
            </a:r>
            <a:endParaRPr sz="19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0EE44F78-47E1-8A6E-59E4-7C1827E2B6A1}"/>
              </a:ext>
            </a:extLst>
          </p:cNvPr>
          <p:cNvSpPr txBox="1"/>
          <p:nvPr/>
        </p:nvSpPr>
        <p:spPr>
          <a:xfrm>
            <a:off x="2939343" y="4474623"/>
            <a:ext cx="2743200" cy="384721"/>
          </a:xfrm>
          <a:prstGeom prst="rect">
            <a:avLst/>
          </a:prstGeom>
          <a:solidFill>
            <a:srgbClr val="FFFF00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900" b="1" dirty="0">
                <a:solidFill>
                  <a:schemeClr val="accent1">
                    <a:lumMod val="75000"/>
                  </a:schemeClr>
                </a:solidFill>
              </a:rPr>
              <a:t>Screen shots</a:t>
            </a:r>
            <a:endParaRPr sz="19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2" name="TextBox 7">
            <a:extLst>
              <a:ext uri="{FF2B5EF4-FFF2-40B4-BE49-F238E27FC236}">
                <a16:creationId xmlns:a16="http://schemas.microsoft.com/office/drawing/2014/main" id="{BB51311E-F3AB-6385-474C-B86A90C10584}"/>
              </a:ext>
            </a:extLst>
          </p:cNvPr>
          <p:cNvSpPr txBox="1"/>
          <p:nvPr/>
        </p:nvSpPr>
        <p:spPr>
          <a:xfrm>
            <a:off x="2939343" y="5028393"/>
            <a:ext cx="2743200" cy="384721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900" b="1" dirty="0">
                <a:solidFill>
                  <a:schemeClr val="accent1">
                    <a:lumMod val="75000"/>
                  </a:schemeClr>
                </a:solidFill>
              </a:rPr>
              <a:t>Browser Recordings</a:t>
            </a:r>
            <a:endParaRPr sz="19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15" name="直線箭頭接點 14">
            <a:extLst>
              <a:ext uri="{FF2B5EF4-FFF2-40B4-BE49-F238E27FC236}">
                <a16:creationId xmlns:a16="http://schemas.microsoft.com/office/drawing/2014/main" id="{03FD8CF1-BC1A-A6ED-3CA9-677B585984F5}"/>
              </a:ext>
            </a:extLst>
          </p:cNvPr>
          <p:cNvCxnSpPr>
            <a:stCxn id="2" idx="3"/>
            <a:endCxn id="4" idx="1"/>
          </p:cNvCxnSpPr>
          <p:nvPr/>
        </p:nvCxnSpPr>
        <p:spPr>
          <a:xfrm flipV="1">
            <a:off x="3715278" y="1153219"/>
            <a:ext cx="2380722" cy="13267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箭頭接點 15">
            <a:extLst>
              <a:ext uri="{FF2B5EF4-FFF2-40B4-BE49-F238E27FC236}">
                <a16:creationId xmlns:a16="http://schemas.microsoft.com/office/drawing/2014/main" id="{ABBDAC2B-CA40-EAE0-A9F0-6DCF7C6C1DF1}"/>
              </a:ext>
            </a:extLst>
          </p:cNvPr>
          <p:cNvCxnSpPr>
            <a:cxnSpLocks/>
            <a:stCxn id="2" idx="3"/>
            <a:endCxn id="6" idx="1"/>
          </p:cNvCxnSpPr>
          <p:nvPr/>
        </p:nvCxnSpPr>
        <p:spPr>
          <a:xfrm>
            <a:off x="3715278" y="2480004"/>
            <a:ext cx="2380722" cy="2603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線箭頭接點 18">
            <a:extLst>
              <a:ext uri="{FF2B5EF4-FFF2-40B4-BE49-F238E27FC236}">
                <a16:creationId xmlns:a16="http://schemas.microsoft.com/office/drawing/2014/main" id="{CFE2ECD5-A537-896B-8889-24D166C65F00}"/>
              </a:ext>
            </a:extLst>
          </p:cNvPr>
          <p:cNvCxnSpPr>
            <a:cxnSpLocks/>
            <a:stCxn id="2" idx="3"/>
            <a:endCxn id="9" idx="1"/>
          </p:cNvCxnSpPr>
          <p:nvPr/>
        </p:nvCxnSpPr>
        <p:spPr>
          <a:xfrm>
            <a:off x="3715278" y="2480004"/>
            <a:ext cx="2380722" cy="17056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線箭頭接點 21">
            <a:extLst>
              <a:ext uri="{FF2B5EF4-FFF2-40B4-BE49-F238E27FC236}">
                <a16:creationId xmlns:a16="http://schemas.microsoft.com/office/drawing/2014/main" id="{73AB9A26-8C10-2D7F-540C-ACA926E9B06A}"/>
              </a:ext>
            </a:extLst>
          </p:cNvPr>
          <p:cNvCxnSpPr>
            <a:cxnSpLocks/>
          </p:cNvCxnSpPr>
          <p:nvPr/>
        </p:nvCxnSpPr>
        <p:spPr>
          <a:xfrm>
            <a:off x="2234303" y="2754233"/>
            <a:ext cx="290614" cy="21051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左大括弧 24">
            <a:extLst>
              <a:ext uri="{FF2B5EF4-FFF2-40B4-BE49-F238E27FC236}">
                <a16:creationId xmlns:a16="http://schemas.microsoft.com/office/drawing/2014/main" id="{F163D113-81A4-118E-242B-B55BA16C5044}"/>
              </a:ext>
            </a:extLst>
          </p:cNvPr>
          <p:cNvSpPr/>
          <p:nvPr/>
        </p:nvSpPr>
        <p:spPr>
          <a:xfrm>
            <a:off x="2524917" y="4072379"/>
            <a:ext cx="510514" cy="1509784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873521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9D4DACEE-B961-325D-8079-312A4AC7D3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952435"/>
            <a:ext cx="7543800" cy="5575300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7F69AA69-74C6-BE1A-BE5D-A5856FDC093D}"/>
              </a:ext>
            </a:extLst>
          </p:cNvPr>
          <p:cNvSpPr txBox="1"/>
          <p:nvPr/>
        </p:nvSpPr>
        <p:spPr>
          <a:xfrm>
            <a:off x="1572" y="99432"/>
            <a:ext cx="6094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2400" dirty="0"/>
              <a:t>Screenshots：截圖</a:t>
            </a:r>
            <a:endParaRPr lang="zh-TW" altLang="en-US" sz="2400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4C0A0D34-93B1-6EA6-F5A8-F0393D3595D2}"/>
              </a:ext>
            </a:extLst>
          </p:cNvPr>
          <p:cNvSpPr txBox="1"/>
          <p:nvPr/>
        </p:nvSpPr>
        <p:spPr>
          <a:xfrm>
            <a:off x="157900" y="839313"/>
            <a:ext cx="39898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dirty="0"/>
              <a:t>如果任務涉及 UI、網站、瀏覽器操作，agent 可能會產生 screenshots。</a:t>
            </a:r>
            <a:endParaRPr lang="zh-TW" altLang="en-US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84E18A2C-59B0-A810-A1D8-5141970BB4C7}"/>
              </a:ext>
            </a:extLst>
          </p:cNvPr>
          <p:cNvSpPr txBox="1"/>
          <p:nvPr/>
        </p:nvSpPr>
        <p:spPr>
          <a:xfrm>
            <a:off x="157900" y="1997839"/>
            <a:ext cx="408416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TW" altLang="zh-TW" dirty="0"/>
              <a:t>官方文件指出，screenshots 會被存成 image artifacts，而且可以被評論，用來給 agent 回饋。</a:t>
            </a:r>
          </a:p>
          <a:p>
            <a:pPr>
              <a:buNone/>
            </a:pPr>
            <a:r>
              <a:rPr lang="zh-TW" altLang="zh-TW" dirty="0"/>
              <a:t>例如你要求：</a:t>
            </a:r>
          </a:p>
          <a:p>
            <a:pPr>
              <a:buNone/>
            </a:pPr>
            <a:r>
              <a:rPr lang="zh-TW" altLang="zh-TW" dirty="0"/>
              <a:t>幫我調整 checkout page 的 layout。</a:t>
            </a:r>
          </a:p>
          <a:p>
            <a:pPr>
              <a:buNone/>
            </a:pPr>
            <a:r>
              <a:rPr lang="zh-TW" altLang="zh-TW" dirty="0"/>
              <a:t>agent 完成後可能會提供一張瀏覽器截圖。你可以直接在截圖 artifact 上指出：</a:t>
            </a:r>
          </a:p>
          <a:p>
            <a:pPr lvl="1"/>
            <a:r>
              <a:rPr lang="zh-TW" altLang="zh-TW" dirty="0"/>
              <a:t>「這個按鈕太靠右」</a:t>
            </a:r>
            <a:br>
              <a:rPr lang="zh-TW" altLang="zh-TW" dirty="0"/>
            </a:br>
            <a:r>
              <a:rPr lang="zh-TW" altLang="zh-TW" dirty="0"/>
              <a:t>「這裡文字被截斷」</a:t>
            </a:r>
            <a:br>
              <a:rPr lang="zh-TW" altLang="zh-TW" dirty="0"/>
            </a:br>
            <a:r>
              <a:rPr lang="zh-TW" altLang="zh-TW" dirty="0"/>
              <a:t>「手機版 navbar 壞掉了」</a:t>
            </a:r>
            <a:br>
              <a:rPr lang="zh-TW" altLang="zh-TW" dirty="0"/>
            </a:br>
            <a:r>
              <a:rPr lang="zh-TW" altLang="zh-TW" dirty="0"/>
              <a:t>「這個 modal 的 z-index 不對」</a:t>
            </a:r>
          </a:p>
        </p:txBody>
      </p:sp>
    </p:spTree>
    <p:extLst>
      <p:ext uri="{BB962C8B-B14F-4D97-AF65-F5344CB8AC3E}">
        <p14:creationId xmlns:p14="http://schemas.microsoft.com/office/powerpoint/2010/main" val="11554214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FA43D-6FC4-B0C8-58B8-6C4217521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85A17A4-BA24-128A-B717-D80C1BF55628}"/>
              </a:ext>
            </a:extLst>
          </p:cNvPr>
          <p:cNvSpPr/>
          <p:nvPr/>
        </p:nvSpPr>
        <p:spPr>
          <a:xfrm>
            <a:off x="972078" y="2188527"/>
            <a:ext cx="2743200" cy="582954"/>
          </a:xfrm>
          <a:prstGeom prst="rect">
            <a:avLst/>
          </a:prstGeom>
          <a:solidFill>
            <a:srgbClr val="F3F6FB"/>
          </a:solidFill>
          <a:ln w="25400">
            <a:solidFill>
              <a:srgbClr val="00A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6AD8F6D3-1259-D9CC-209D-A32F4FE9F410}"/>
              </a:ext>
            </a:extLst>
          </p:cNvPr>
          <p:cNvSpPr txBox="1"/>
          <p:nvPr/>
        </p:nvSpPr>
        <p:spPr>
          <a:xfrm>
            <a:off x="972078" y="2287643"/>
            <a:ext cx="2523744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900" b="1" dirty="0">
                <a:solidFill>
                  <a:srgbClr val="00A366"/>
                </a:solidFill>
              </a:rPr>
              <a:t>Artifacts</a:t>
            </a:r>
            <a:endParaRPr sz="1900" b="1" dirty="0">
              <a:solidFill>
                <a:srgbClr val="00A366"/>
              </a:solidFill>
            </a:endParaRP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6C52EEF-479B-C98F-AAA6-AFE8D400FFD5}"/>
              </a:ext>
            </a:extLst>
          </p:cNvPr>
          <p:cNvSpPr/>
          <p:nvPr/>
        </p:nvSpPr>
        <p:spPr>
          <a:xfrm>
            <a:off x="6096000" y="960858"/>
            <a:ext cx="3571437" cy="384721"/>
          </a:xfrm>
          <a:prstGeom prst="rect">
            <a:avLst/>
          </a:prstGeom>
          <a:solidFill>
            <a:srgbClr val="F3F6FB"/>
          </a:solidFill>
          <a:ln w="254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A1338D3A-BE3F-E814-A188-F4ECAE237476}"/>
              </a:ext>
            </a:extLst>
          </p:cNvPr>
          <p:cNvSpPr txBox="1"/>
          <p:nvPr/>
        </p:nvSpPr>
        <p:spPr>
          <a:xfrm>
            <a:off x="6096000" y="960858"/>
            <a:ext cx="3571437" cy="384721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900" b="1" dirty="0">
                <a:solidFill>
                  <a:schemeClr val="accent1">
                    <a:lumMod val="75000"/>
                  </a:schemeClr>
                </a:solidFill>
              </a:rPr>
              <a:t>Implementation plan</a:t>
            </a:r>
            <a:endParaRPr sz="19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4CB4184C-D7B5-3137-60E8-1733134167A7}"/>
              </a:ext>
            </a:extLst>
          </p:cNvPr>
          <p:cNvSpPr/>
          <p:nvPr/>
        </p:nvSpPr>
        <p:spPr>
          <a:xfrm>
            <a:off x="6096000" y="2548017"/>
            <a:ext cx="3571437" cy="384721"/>
          </a:xfrm>
          <a:prstGeom prst="rect">
            <a:avLst/>
          </a:prstGeom>
          <a:solidFill>
            <a:srgbClr val="F3F6FB"/>
          </a:solidFill>
          <a:ln w="254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BE3293EE-E130-1A54-456B-DF370133CBB7}"/>
              </a:ext>
            </a:extLst>
          </p:cNvPr>
          <p:cNvSpPr txBox="1"/>
          <p:nvPr/>
        </p:nvSpPr>
        <p:spPr>
          <a:xfrm>
            <a:off x="6096000" y="2548017"/>
            <a:ext cx="3571437" cy="384721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900" b="1" dirty="0">
                <a:solidFill>
                  <a:schemeClr val="accent1">
                    <a:lumMod val="75000"/>
                  </a:schemeClr>
                </a:solidFill>
              </a:rPr>
              <a:t>Task</a:t>
            </a:r>
            <a:endParaRPr sz="19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9C9D1857-45BB-92C0-B114-65F36B26897F}"/>
              </a:ext>
            </a:extLst>
          </p:cNvPr>
          <p:cNvSpPr/>
          <p:nvPr/>
        </p:nvSpPr>
        <p:spPr>
          <a:xfrm>
            <a:off x="6096000" y="3993276"/>
            <a:ext cx="3571437" cy="384721"/>
          </a:xfrm>
          <a:prstGeom prst="rect">
            <a:avLst/>
          </a:prstGeom>
          <a:solidFill>
            <a:srgbClr val="F3F6FB"/>
          </a:solidFill>
          <a:ln w="254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E7BFEB03-71CB-B39A-01BC-FDBC83FDBF9C}"/>
              </a:ext>
            </a:extLst>
          </p:cNvPr>
          <p:cNvSpPr txBox="1"/>
          <p:nvPr/>
        </p:nvSpPr>
        <p:spPr>
          <a:xfrm>
            <a:off x="6096000" y="3993276"/>
            <a:ext cx="3571437" cy="384721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900" b="1" dirty="0">
                <a:solidFill>
                  <a:schemeClr val="accent1">
                    <a:lumMod val="75000"/>
                  </a:schemeClr>
                </a:solidFill>
              </a:rPr>
              <a:t>Walkthrough</a:t>
            </a:r>
            <a:endParaRPr sz="19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BDFE7A7C-341F-2788-A6EB-9038410A5D48}"/>
              </a:ext>
            </a:extLst>
          </p:cNvPr>
          <p:cNvSpPr txBox="1"/>
          <p:nvPr/>
        </p:nvSpPr>
        <p:spPr>
          <a:xfrm>
            <a:off x="2939343" y="4474623"/>
            <a:ext cx="2743200" cy="384721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900" b="1" dirty="0">
                <a:solidFill>
                  <a:schemeClr val="accent1">
                    <a:lumMod val="75000"/>
                  </a:schemeClr>
                </a:solidFill>
              </a:rPr>
              <a:t>Screen shots</a:t>
            </a:r>
            <a:endParaRPr sz="19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2" name="TextBox 7">
            <a:extLst>
              <a:ext uri="{FF2B5EF4-FFF2-40B4-BE49-F238E27FC236}">
                <a16:creationId xmlns:a16="http://schemas.microsoft.com/office/drawing/2014/main" id="{ADFCF7D5-DB1E-22DA-6059-7EE0D48B5D4D}"/>
              </a:ext>
            </a:extLst>
          </p:cNvPr>
          <p:cNvSpPr txBox="1"/>
          <p:nvPr/>
        </p:nvSpPr>
        <p:spPr>
          <a:xfrm>
            <a:off x="2939343" y="5028393"/>
            <a:ext cx="2743200" cy="384721"/>
          </a:xfrm>
          <a:prstGeom prst="rect">
            <a:avLst/>
          </a:prstGeom>
          <a:solidFill>
            <a:srgbClr val="FFFF00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900" b="1" dirty="0">
                <a:solidFill>
                  <a:schemeClr val="accent1">
                    <a:lumMod val="75000"/>
                  </a:schemeClr>
                </a:solidFill>
              </a:rPr>
              <a:t>Browser Recordings</a:t>
            </a:r>
            <a:endParaRPr sz="19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15" name="直線箭頭接點 14">
            <a:extLst>
              <a:ext uri="{FF2B5EF4-FFF2-40B4-BE49-F238E27FC236}">
                <a16:creationId xmlns:a16="http://schemas.microsoft.com/office/drawing/2014/main" id="{C8304AC7-5F25-8F53-4144-9E716329B60E}"/>
              </a:ext>
            </a:extLst>
          </p:cNvPr>
          <p:cNvCxnSpPr>
            <a:stCxn id="2" idx="3"/>
            <a:endCxn id="4" idx="1"/>
          </p:cNvCxnSpPr>
          <p:nvPr/>
        </p:nvCxnSpPr>
        <p:spPr>
          <a:xfrm flipV="1">
            <a:off x="3715278" y="1153219"/>
            <a:ext cx="2380722" cy="13267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箭頭接點 15">
            <a:extLst>
              <a:ext uri="{FF2B5EF4-FFF2-40B4-BE49-F238E27FC236}">
                <a16:creationId xmlns:a16="http://schemas.microsoft.com/office/drawing/2014/main" id="{2DC4441B-BECC-9358-9A2A-412B794B6F36}"/>
              </a:ext>
            </a:extLst>
          </p:cNvPr>
          <p:cNvCxnSpPr>
            <a:cxnSpLocks/>
            <a:stCxn id="2" idx="3"/>
            <a:endCxn id="6" idx="1"/>
          </p:cNvCxnSpPr>
          <p:nvPr/>
        </p:nvCxnSpPr>
        <p:spPr>
          <a:xfrm>
            <a:off x="3715278" y="2480004"/>
            <a:ext cx="2380722" cy="2603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線箭頭接點 18">
            <a:extLst>
              <a:ext uri="{FF2B5EF4-FFF2-40B4-BE49-F238E27FC236}">
                <a16:creationId xmlns:a16="http://schemas.microsoft.com/office/drawing/2014/main" id="{0DDD53C9-F1A4-6112-F9F2-80313C450A55}"/>
              </a:ext>
            </a:extLst>
          </p:cNvPr>
          <p:cNvCxnSpPr>
            <a:cxnSpLocks/>
            <a:stCxn id="2" idx="3"/>
            <a:endCxn id="9" idx="1"/>
          </p:cNvCxnSpPr>
          <p:nvPr/>
        </p:nvCxnSpPr>
        <p:spPr>
          <a:xfrm>
            <a:off x="3715278" y="2480004"/>
            <a:ext cx="2380722" cy="17056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線箭頭接點 21">
            <a:extLst>
              <a:ext uri="{FF2B5EF4-FFF2-40B4-BE49-F238E27FC236}">
                <a16:creationId xmlns:a16="http://schemas.microsoft.com/office/drawing/2014/main" id="{06C0A37C-0F3B-9562-78F4-79512A12975F}"/>
              </a:ext>
            </a:extLst>
          </p:cNvPr>
          <p:cNvCxnSpPr>
            <a:cxnSpLocks/>
          </p:cNvCxnSpPr>
          <p:nvPr/>
        </p:nvCxnSpPr>
        <p:spPr>
          <a:xfrm>
            <a:off x="2234303" y="2754233"/>
            <a:ext cx="290614" cy="21051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左大括弧 24">
            <a:extLst>
              <a:ext uri="{FF2B5EF4-FFF2-40B4-BE49-F238E27FC236}">
                <a16:creationId xmlns:a16="http://schemas.microsoft.com/office/drawing/2014/main" id="{FA159B46-3348-48BC-BA17-D964436449F6}"/>
              </a:ext>
            </a:extLst>
          </p:cNvPr>
          <p:cNvSpPr/>
          <p:nvPr/>
        </p:nvSpPr>
        <p:spPr>
          <a:xfrm>
            <a:off x="2524917" y="4072379"/>
            <a:ext cx="510514" cy="1509784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733849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est_recording_ppt">
            <a:hlinkClick r:id="" action="ppaction://media"/>
            <a:extLst>
              <a:ext uri="{FF2B5EF4-FFF2-40B4-BE49-F238E27FC236}">
                <a16:creationId xmlns:a16="http://schemas.microsoft.com/office/drawing/2014/main" id="{8D24BC0B-B611-C828-0AE7-920C4C596E1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453380" y="23166"/>
            <a:ext cx="6735402" cy="6735402"/>
          </a:xfrm>
          <a:prstGeom prst="roundRect">
            <a:avLst>
              <a:gd name="adj" fmla="val 5299"/>
            </a:avLst>
          </a:prstGeom>
          <a:ln>
            <a:noFill/>
          </a:ln>
          <a:effectLst/>
          <a:scene3d>
            <a:camera prst="orthographicFront"/>
            <a:lightRig rig="balanced" dir="t"/>
          </a:scene3d>
          <a:sp3d prstMaterial="plastic">
            <a:bevelT/>
            <a:contourClr>
              <a:srgbClr val="FFFFFF"/>
            </a:contourClr>
          </a:sp3d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97F3E5D3-A15F-050B-C67B-6042053C606C}"/>
              </a:ext>
            </a:extLst>
          </p:cNvPr>
          <p:cNvSpPr txBox="1"/>
          <p:nvPr/>
        </p:nvSpPr>
        <p:spPr>
          <a:xfrm>
            <a:off x="1572" y="99432"/>
            <a:ext cx="6094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dirty="0"/>
              <a:t>Browser Recordings</a:t>
            </a:r>
            <a:endParaRPr lang="zh-TW" altLang="en-US" sz="2400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9A32BADF-E378-CA46-C43F-502DB20E94DB}"/>
              </a:ext>
            </a:extLst>
          </p:cNvPr>
          <p:cNvSpPr txBox="1"/>
          <p:nvPr/>
        </p:nvSpPr>
        <p:spPr>
          <a:xfrm>
            <a:off x="326797" y="955258"/>
            <a:ext cx="380135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TW" altLang="zh-TW" dirty="0"/>
              <a:t>Browser Recordings 是更進階的驗證 artifact。</a:t>
            </a:r>
          </a:p>
          <a:p>
            <a:pPr>
              <a:buNone/>
            </a:pPr>
            <a:r>
              <a:rPr lang="zh-TW" altLang="zh-TW" dirty="0"/>
              <a:t>Antigravity 的瀏覽器子 agent 在操作 browser 時，可能會產生 recording；官方文件說每次 browser subagent 操作瀏覽器時，它可能會生成錄影</a:t>
            </a:r>
          </a:p>
        </p:txBody>
      </p:sp>
    </p:spTree>
    <p:extLst>
      <p:ext uri="{BB962C8B-B14F-4D97-AF65-F5344CB8AC3E}">
        <p14:creationId xmlns:p14="http://schemas.microsoft.com/office/powerpoint/2010/main" val="2484473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48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201168" cy="6858000"/>
          </a:xfrm>
          <a:prstGeom prst="rect">
            <a:avLst/>
          </a:prstGeom>
          <a:solidFill>
            <a:srgbClr val="E06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3068" y="1188721"/>
            <a:ext cx="1124712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>
                <a:solidFill>
                  <a:srgbClr val="FFFFFF"/>
                </a:solidFill>
              </a:rPr>
              <a:t>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3068" y="2514601"/>
            <a:ext cx="112471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</a:rPr>
              <a:t>SKILL</a:t>
            </a:r>
          </a:p>
        </p:txBody>
      </p:sp>
      <p:sp>
        <p:nvSpPr>
          <p:cNvPr id="5" name="Rectangle 4"/>
          <p:cNvSpPr/>
          <p:nvPr/>
        </p:nvSpPr>
        <p:spPr>
          <a:xfrm>
            <a:off x="2927668" y="4160520"/>
            <a:ext cx="6309360" cy="64008"/>
          </a:xfrm>
          <a:prstGeom prst="rect">
            <a:avLst/>
          </a:prstGeom>
          <a:solidFill>
            <a:srgbClr val="E06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3068" y="4315969"/>
            <a:ext cx="112471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>
                <a:solidFill>
                  <a:srgbClr val="BBCCDD"/>
                </a:solidFill>
              </a:rPr>
              <a:t>讓 AI 學會你想要的「做事方式」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1005840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960120"/>
            <a:ext cx="12188952" cy="91440"/>
          </a:xfrm>
          <a:prstGeom prst="rect">
            <a:avLst/>
          </a:prstGeom>
          <a:solidFill>
            <a:srgbClr val="E06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3068" y="91440"/>
            <a:ext cx="11430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什麼是 SKILL？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413068" y="1170432"/>
            <a:ext cx="11338560" cy="1280160"/>
          </a:xfrm>
          <a:prstGeom prst="rect">
            <a:avLst/>
          </a:prstGeom>
          <a:solidFill>
            <a:srgbClr val="F3F6FB"/>
          </a:solidFill>
          <a:ln w="25400">
            <a:solidFill>
              <a:srgbClr val="E06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5948" y="1243585"/>
            <a:ext cx="109728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E06C10"/>
                </a:solidFill>
              </a:rPr>
              <a:t>SKILL 就像是一本「SOP 手冊」，告訴 AI 碰到某種狀況要怎麼做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5948" y="1719072"/>
            <a:ext cx="10972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>
                <a:solidFill>
                  <a:srgbClr val="0F1E3C"/>
                </a:solidFill>
              </a:rPr>
              <a:t>寫好一個 SKILL 之後，你只要打 /skill名稱，或直接說出來，AI 就知道要照那個流程做</a:t>
            </a:r>
          </a:p>
        </p:txBody>
      </p:sp>
      <p:sp>
        <p:nvSpPr>
          <p:cNvPr id="8" name="Rectangle 7"/>
          <p:cNvSpPr/>
          <p:nvPr/>
        </p:nvSpPr>
        <p:spPr>
          <a:xfrm>
            <a:off x="413068" y="2651761"/>
            <a:ext cx="3703320" cy="3977639"/>
          </a:xfrm>
          <a:prstGeom prst="rect">
            <a:avLst/>
          </a:prstGeom>
          <a:solidFill>
            <a:srgbClr val="F3F6FB"/>
          </a:solidFill>
          <a:ln w="12700">
            <a:solidFill>
              <a:srgbClr val="E06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3068" y="2743201"/>
            <a:ext cx="370332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>
                <a:solidFill>
                  <a:srgbClr val="0F1E3C"/>
                </a:solidFill>
              </a:rPr>
              <a:t>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0228" y="3493008"/>
            <a:ext cx="3429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E06C10"/>
                </a:solidFill>
              </a:rPr>
              <a:t>像「食譜」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0228" y="4023361"/>
            <a:ext cx="34290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>
                <a:solidFill>
                  <a:srgbClr val="4A5A78"/>
                </a:solidFill>
              </a:rPr>
              <a:t>你給 AI 一份食譜（Skill），
它就知道做這道菜要按什麼步驟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4988" y="2651761"/>
            <a:ext cx="3703320" cy="3977639"/>
          </a:xfrm>
          <a:prstGeom prst="rect">
            <a:avLst/>
          </a:prstGeom>
          <a:solidFill>
            <a:srgbClr val="F3F6FB"/>
          </a:solidFill>
          <a:ln w="12700">
            <a:solidFill>
              <a:srgbClr val="E06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44988" y="2743201"/>
            <a:ext cx="370332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>
                <a:solidFill>
                  <a:srgbClr val="0F1E3C"/>
                </a:solidFill>
              </a:rPr>
              <a:t>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2148" y="3493008"/>
            <a:ext cx="3429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E06C10"/>
                </a:solidFill>
              </a:rPr>
              <a:t>AI 自動判斷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2148" y="4023361"/>
            <a:ext cx="3429000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>
                <a:solidFill>
                  <a:srgbClr val="4A5A78"/>
                </a:solidFill>
              </a:rPr>
              <a:t>你說「幫我看看有啥改動」
AI 自己知道要用
「整理 git 差異」的 Skill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76907" y="2651761"/>
            <a:ext cx="3703320" cy="3977639"/>
          </a:xfrm>
          <a:prstGeom prst="rect">
            <a:avLst/>
          </a:prstGeom>
          <a:solidFill>
            <a:srgbClr val="F3F6FB"/>
          </a:solidFill>
          <a:ln w="12700">
            <a:solidFill>
              <a:srgbClr val="E06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76907" y="2743201"/>
            <a:ext cx="370332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>
                <a:solidFill>
                  <a:srgbClr val="0F1E3C"/>
                </a:solidFill>
              </a:rPr>
              <a:t>🛠️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4068" y="3493008"/>
            <a:ext cx="3429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E06C10"/>
                </a:solidFill>
              </a:rPr>
              <a:t>或你主動叫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4068" y="4023361"/>
            <a:ext cx="34290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>
                <a:solidFill>
                  <a:srgbClr val="4A5A78"/>
                </a:solidFill>
              </a:rPr>
              <a:t>你直接打 /code-review
AI 就用審查程式碼的方式來幫你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1005840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960120"/>
            <a:ext cx="12188952" cy="91440"/>
          </a:xfrm>
          <a:prstGeom prst="rect">
            <a:avLst/>
          </a:prstGeom>
          <a:solidFill>
            <a:srgbClr val="E06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3068" y="69687"/>
            <a:ext cx="11430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dirty="0">
                <a:solidFill>
                  <a:srgbClr val="FFFFFF"/>
                </a:solidFill>
              </a:rPr>
              <a:t>SKILL </a:t>
            </a:r>
            <a:r>
              <a:rPr lang="en-US" sz="3000" b="1" dirty="0" err="1">
                <a:solidFill>
                  <a:srgbClr val="FFFFFF"/>
                </a:solidFill>
              </a:rPr>
              <a:t>的作用</a:t>
            </a:r>
            <a:r>
              <a:rPr lang="zh-TW" altLang="en-US" sz="3000" b="1" dirty="0">
                <a:solidFill>
                  <a:srgbClr val="FFFFFF"/>
                </a:solidFill>
              </a:rPr>
              <a:t>   </a:t>
            </a:r>
            <a:r>
              <a:rPr lang="en-US" altLang="zh-TW" sz="3000" b="1" dirty="0">
                <a:solidFill>
                  <a:srgbClr val="FFFFFF"/>
                </a:solidFill>
                <a:sym typeface="Wingdings" pitchFamily="2" charset="2"/>
              </a:rPr>
              <a:t></a:t>
            </a:r>
            <a:r>
              <a:rPr lang="zh-TW" altLang="en-US" sz="3000" b="1" dirty="0">
                <a:solidFill>
                  <a:srgbClr val="FFFFFF"/>
                </a:solidFill>
                <a:sym typeface="Wingdings" pitchFamily="2" charset="2"/>
              </a:rPr>
              <a:t> </a:t>
            </a:r>
            <a:r>
              <a:rPr lang="en-US" altLang="zh-TW" sz="3000" b="1" dirty="0">
                <a:solidFill>
                  <a:srgbClr val="FFFFFF"/>
                </a:solidFill>
                <a:sym typeface="Wingdings" pitchFamily="2" charset="2"/>
              </a:rPr>
              <a:t> </a:t>
            </a:r>
            <a:r>
              <a:rPr lang="zh-TW" altLang="en-US" sz="3000" b="1" dirty="0">
                <a:solidFill>
                  <a:srgbClr val="FFFFFF"/>
                </a:solidFill>
                <a:sym typeface="Wingdings" pitchFamily="2" charset="2"/>
              </a:rPr>
              <a:t>有點像</a:t>
            </a:r>
            <a:r>
              <a:rPr lang="en-US" altLang="zh-TW" sz="3000" b="1" dirty="0">
                <a:solidFill>
                  <a:srgbClr val="FFFFFF"/>
                </a:solidFill>
                <a:sym typeface="Wingdings" pitchFamily="2" charset="2"/>
              </a:rPr>
              <a:t>class</a:t>
            </a:r>
            <a:r>
              <a:rPr lang="zh-TW" altLang="en-US" sz="3000" b="1" dirty="0">
                <a:solidFill>
                  <a:srgbClr val="FFFFFF"/>
                </a:solidFill>
                <a:sym typeface="Wingdings" pitchFamily="2" charset="2"/>
              </a:rPr>
              <a:t>的味道，重覆再利用</a:t>
            </a:r>
            <a:endParaRPr sz="3000" b="1" dirty="0">
              <a:solidFill>
                <a:srgbClr val="FFFFFF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13068" y="1207008"/>
            <a:ext cx="11338560" cy="886968"/>
          </a:xfrm>
          <a:prstGeom prst="rect">
            <a:avLst/>
          </a:prstGeom>
          <a:solidFill>
            <a:srgbClr val="F3F6FB"/>
          </a:solidFill>
          <a:ln w="19050">
            <a:solidFill>
              <a:srgbClr val="00A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3068" y="1207008"/>
            <a:ext cx="2788920" cy="886968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50228" y="1408177"/>
            <a:ext cx="260604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0A366"/>
                </a:solidFill>
              </a:rPr>
              <a:t>/notebooklm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9148" y="1444752"/>
            <a:ext cx="8138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>
                <a:solidFill>
                  <a:srgbClr val="0F1E3C"/>
                </a:solidFill>
              </a:rPr>
              <a:t>建立 Google NotebookLM 筆記本，幫你整理資料或生成 Podcast</a:t>
            </a:r>
          </a:p>
        </p:txBody>
      </p:sp>
      <p:sp>
        <p:nvSpPr>
          <p:cNvPr id="9" name="Rectangle 8"/>
          <p:cNvSpPr/>
          <p:nvPr/>
        </p:nvSpPr>
        <p:spPr>
          <a:xfrm>
            <a:off x="413068" y="2212848"/>
            <a:ext cx="11338560" cy="886968"/>
          </a:xfrm>
          <a:prstGeom prst="rect">
            <a:avLst/>
          </a:prstGeom>
          <a:solidFill>
            <a:srgbClr val="E8EFF8"/>
          </a:solidFill>
          <a:ln w="19050">
            <a:solidFill>
              <a:srgbClr val="177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13068" y="2212848"/>
            <a:ext cx="2788920" cy="886968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50228" y="2414017"/>
            <a:ext cx="260604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77EC1"/>
                </a:solidFill>
              </a:rPr>
              <a:t>/code-review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9148" y="2450591"/>
            <a:ext cx="8138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>
                <a:solidFill>
                  <a:srgbClr val="0F1E3C"/>
                </a:solidFill>
              </a:rPr>
              <a:t>審查你的程式碼，找出問題、給改善建議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3068" y="3218688"/>
            <a:ext cx="11338560" cy="886968"/>
          </a:xfrm>
          <a:prstGeom prst="rect">
            <a:avLst/>
          </a:prstGeom>
          <a:solidFill>
            <a:srgbClr val="F3F6FB"/>
          </a:solidFill>
          <a:ln w="19050">
            <a:solidFill>
              <a:srgbClr val="E06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13068" y="3218688"/>
            <a:ext cx="2788920" cy="886968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50228" y="3419857"/>
            <a:ext cx="260604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E06C10"/>
                </a:solidFill>
              </a:rPr>
              <a:t>/vercel:deploy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9148" y="3456432"/>
            <a:ext cx="8138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>
                <a:solidFill>
                  <a:srgbClr val="0F1E3C"/>
                </a:solidFill>
              </a:rPr>
              <a:t>把你的網站部署上線（一個指令搞定）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3068" y="4224528"/>
            <a:ext cx="11338560" cy="886968"/>
          </a:xfrm>
          <a:prstGeom prst="rect">
            <a:avLst/>
          </a:prstGeom>
          <a:solidFill>
            <a:srgbClr val="E8EFF8"/>
          </a:solidFill>
          <a:ln w="19050">
            <a:solidFill>
              <a:srgbClr val="C02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13068" y="4224528"/>
            <a:ext cx="2788920" cy="886968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50228" y="4425697"/>
            <a:ext cx="260604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C02A78"/>
                </a:solidFill>
              </a:rPr>
              <a:t>/security-review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9148" y="4462272"/>
            <a:ext cx="8138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>
                <a:solidFill>
                  <a:srgbClr val="0F1E3C"/>
                </a:solidFill>
              </a:rPr>
              <a:t>檢查你的程式有沒有安全漏洞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3068" y="5230368"/>
            <a:ext cx="11338560" cy="886968"/>
          </a:xfrm>
          <a:prstGeom prst="rect">
            <a:avLst/>
          </a:prstGeom>
          <a:solidFill>
            <a:srgbClr val="F3F6FB"/>
          </a:solidFill>
          <a:ln w="19050">
            <a:solidFill>
              <a:srgbClr val="C2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13068" y="5230368"/>
            <a:ext cx="2788920" cy="886968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50228" y="5431537"/>
            <a:ext cx="260604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C28800"/>
                </a:solidFill>
              </a:rPr>
              <a:t>/loop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9148" y="5468112"/>
            <a:ext cx="8138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>
                <a:solidFill>
                  <a:srgbClr val="0F1E3C"/>
                </a:solidFill>
              </a:rPr>
              <a:t>讓某件事每隔一段時間重複執行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3068" y="6327649"/>
            <a:ext cx="1133856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0A366"/>
                </a:solidFill>
              </a:rPr>
              <a:t>💡  你可以寫自己的 SKILL！只要用一個 Markdown 文件說明「遇到 OO 情況要怎麼做」就完成了</a:t>
            </a:r>
          </a:p>
        </p:txBody>
      </p:sp>
      <p:sp>
        <p:nvSpPr>
          <p:cNvPr id="26" name="TextBox 3">
            <a:extLst>
              <a:ext uri="{FF2B5EF4-FFF2-40B4-BE49-F238E27FC236}">
                <a16:creationId xmlns:a16="http://schemas.microsoft.com/office/drawing/2014/main" id="{EA323701-D719-DF55-077C-F7EA844FB67F}"/>
              </a:ext>
            </a:extLst>
          </p:cNvPr>
          <p:cNvSpPr txBox="1"/>
          <p:nvPr/>
        </p:nvSpPr>
        <p:spPr>
          <a:xfrm>
            <a:off x="413068" y="590788"/>
            <a:ext cx="1143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dirty="0" err="1">
                <a:solidFill>
                  <a:srgbClr val="FFFFFF"/>
                </a:solidFill>
              </a:rPr>
              <a:t>每個skills</a:t>
            </a:r>
            <a:r>
              <a:rPr lang="en-US" b="1" dirty="0">
                <a:solidFill>
                  <a:srgbClr val="FFFFFF"/>
                </a:solidFill>
              </a:rPr>
              <a:t> </a:t>
            </a:r>
            <a:r>
              <a:rPr lang="en-US" b="1" dirty="0" err="1">
                <a:solidFill>
                  <a:srgbClr val="FFFFFF"/>
                </a:solidFill>
              </a:rPr>
              <a:t>應該只做一件事，而且要做好，不要建立萬能的skill，而是為不同的任務建立獨立的skills</a:t>
            </a:r>
            <a:endParaRPr b="1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1005840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960120"/>
            <a:ext cx="12188952" cy="91440"/>
          </a:xfrm>
          <a:prstGeom prst="rect">
            <a:avLst/>
          </a:prstGeom>
          <a:solidFill>
            <a:srgbClr val="E06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3068" y="91440"/>
            <a:ext cx="11430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怎麼叫 AI 用 SKILL？兩種方式</a:t>
            </a:r>
          </a:p>
        </p:txBody>
      </p:sp>
      <p:sp>
        <p:nvSpPr>
          <p:cNvPr id="5" name="Rectangle 4"/>
          <p:cNvSpPr/>
          <p:nvPr/>
        </p:nvSpPr>
        <p:spPr>
          <a:xfrm>
            <a:off x="413068" y="1170432"/>
            <a:ext cx="5486400" cy="5349240"/>
          </a:xfrm>
          <a:prstGeom prst="rect">
            <a:avLst/>
          </a:prstGeom>
          <a:solidFill>
            <a:srgbClr val="F3F6FB"/>
          </a:solidFill>
          <a:ln w="25400">
            <a:solidFill>
              <a:srgbClr val="E06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5948" y="1280161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06C10"/>
                </a:solidFill>
              </a:rPr>
              <a:t>🙋  你主動叫它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5948" y="1810513"/>
            <a:ext cx="512064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>
                <a:solidFill>
                  <a:srgbClr val="4A5A78"/>
                </a:solidFill>
              </a:rPr>
              <a:t>直接打斜線加指令名稱</a:t>
            </a:r>
          </a:p>
        </p:txBody>
      </p:sp>
      <p:sp>
        <p:nvSpPr>
          <p:cNvPr id="8" name="Rectangle 7"/>
          <p:cNvSpPr/>
          <p:nvPr/>
        </p:nvSpPr>
        <p:spPr>
          <a:xfrm>
            <a:off x="687388" y="2331720"/>
            <a:ext cx="4846320" cy="658368"/>
          </a:xfrm>
          <a:prstGeom prst="rect">
            <a:avLst/>
          </a:prstGeom>
          <a:solidFill>
            <a:srgbClr val="E8EFF8"/>
          </a:solidFill>
          <a:ln w="12700">
            <a:solidFill>
              <a:srgbClr val="E06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0268" y="2377440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06C10"/>
                </a:solidFill>
              </a:rPr>
              <a:t>/code-review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7388" y="3136391"/>
            <a:ext cx="4846320" cy="658368"/>
          </a:xfrm>
          <a:prstGeom prst="rect">
            <a:avLst/>
          </a:prstGeom>
          <a:solidFill>
            <a:srgbClr val="E8EFF8"/>
          </a:solidFill>
          <a:ln w="12700">
            <a:solidFill>
              <a:srgbClr val="E06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70268" y="3182112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06C10"/>
                </a:solidFill>
              </a:rPr>
              <a:t>/deploy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7388" y="3941063"/>
            <a:ext cx="4846320" cy="658368"/>
          </a:xfrm>
          <a:prstGeom prst="rect">
            <a:avLst/>
          </a:prstGeom>
          <a:solidFill>
            <a:srgbClr val="E8EFF8"/>
          </a:solidFill>
          <a:ln w="12700">
            <a:solidFill>
              <a:srgbClr val="E06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70268" y="3986784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06C10"/>
                </a:solidFill>
              </a:rPr>
              <a:t>/security-review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7388" y="4745736"/>
            <a:ext cx="4846320" cy="658368"/>
          </a:xfrm>
          <a:prstGeom prst="rect">
            <a:avLst/>
          </a:prstGeom>
          <a:solidFill>
            <a:srgbClr val="E8EFF8"/>
          </a:solidFill>
          <a:ln w="12700">
            <a:solidFill>
              <a:srgbClr val="E06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0268" y="4791456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06C10"/>
                </a:solidFill>
              </a:rPr>
              <a:t>/summarize-changes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5948" y="617220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C28800"/>
                </a:solidFill>
              </a:rPr>
              <a:t>適合：你清楚知道要做什麼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3788" y="1170432"/>
            <a:ext cx="5605272" cy="5349240"/>
          </a:xfrm>
          <a:prstGeom prst="rect">
            <a:avLst/>
          </a:prstGeom>
          <a:solidFill>
            <a:srgbClr val="F3F6FB"/>
          </a:solidFill>
          <a:ln w="25400">
            <a:solidFill>
              <a:srgbClr val="00A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56668" y="1280161"/>
            <a:ext cx="52120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A366"/>
                </a:solidFill>
              </a:rPr>
              <a:t>🤖  AI 自動判斷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6668" y="1810513"/>
            <a:ext cx="521208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>
                <a:solidFill>
                  <a:srgbClr val="4A5A78"/>
                </a:solidFill>
              </a:rPr>
              <a:t>你說的話讓 AI 自己判斷要用哪個 Skill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6668" y="2331720"/>
            <a:ext cx="5212080" cy="123444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93828" y="2377440"/>
            <a:ext cx="4983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4A5A78"/>
                </a:solidFill>
              </a:rPr>
              <a:t>你說：「這次有哪些改動？」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3828" y="2816352"/>
            <a:ext cx="4983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A366"/>
                </a:solidFill>
              </a:rPr>
              <a:t>→ AI 自動用整理 git 差異的 Skill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6668" y="3721608"/>
            <a:ext cx="5212080" cy="123444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93828" y="3767328"/>
            <a:ext cx="4983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4A5A78"/>
                </a:solidFill>
              </a:rPr>
              <a:t>你說：「幫我看看 PR 有沒有問題」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3828" y="4206240"/>
            <a:ext cx="4983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A366"/>
                </a:solidFill>
              </a:rPr>
              <a:t>→ AI 自動用程式碼審查 Skill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6668" y="5111496"/>
            <a:ext cx="5212080" cy="123444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93828" y="5157216"/>
            <a:ext cx="4983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4A5A78"/>
                </a:solidFill>
              </a:rPr>
              <a:t>你說：「幫我建一個筆記本整理資料」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3828" y="5596128"/>
            <a:ext cx="4983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A366"/>
                </a:solidFill>
              </a:rPr>
              <a:t>→ AI 自動用 notebooklm Skill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6668" y="617220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C28800"/>
                </a:solidFill>
              </a:rPr>
              <a:t>適合：你用自然語言描述問題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1A6B8AE9-B1C0-438D-AF8E-8807CD8502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4930" y="2602254"/>
            <a:ext cx="5198620" cy="1059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15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BF03ED25-3D91-1E83-4023-2072B5A371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13" y="1399005"/>
            <a:ext cx="5536078" cy="3684272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415D6C65-39D5-C3E3-1500-1FEE67C9DB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511" y="1178450"/>
            <a:ext cx="5867489" cy="3904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1925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09746027-92F8-9A1D-19AA-E530588096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9428" y="299433"/>
            <a:ext cx="8433143" cy="3633470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B1704EE4-21BA-CD1A-CE09-4A41918256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4283" y="4533285"/>
            <a:ext cx="5493657" cy="1395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8464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4730ED8C-C14D-9149-053D-7FCEC54D17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5" y="816692"/>
            <a:ext cx="3149600" cy="800100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B41DD864-C15A-0D95-9CDC-278A290C20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1309" y="2141945"/>
            <a:ext cx="9101428" cy="3899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6317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AFAD9E74-5FC7-4713-2C26-7662E83106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804" y="559410"/>
            <a:ext cx="11822391" cy="6178456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CE50EA04-EC96-F5DD-AC26-99275F711EB1}"/>
              </a:ext>
            </a:extLst>
          </p:cNvPr>
          <p:cNvSpPr txBox="1"/>
          <p:nvPr/>
        </p:nvSpPr>
        <p:spPr>
          <a:xfrm>
            <a:off x="104775" y="1201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hlinkClick r:id="rId3"/>
              </a:rPr>
              <a:t>https://www.skillhub.club/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3619351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90000"/>
            <a:lumOff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201168" cy="6858000"/>
          </a:xfrm>
          <a:prstGeom prst="rect">
            <a:avLst/>
          </a:prstGeom>
          <a:solidFill>
            <a:srgbClr val="177E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3068" y="1188721"/>
            <a:ext cx="1124712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>
                <a:solidFill>
                  <a:srgbClr val="FFFFFF"/>
                </a:solidFill>
              </a:rPr>
              <a:t>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3068" y="2514601"/>
            <a:ext cx="112471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dirty="0">
                <a:solidFill>
                  <a:srgbClr val="FFFFFF"/>
                </a:solidFill>
              </a:rPr>
              <a:t>MCP</a:t>
            </a:r>
          </a:p>
        </p:txBody>
      </p:sp>
      <p:sp>
        <p:nvSpPr>
          <p:cNvPr id="5" name="Rectangle 4"/>
          <p:cNvSpPr/>
          <p:nvPr/>
        </p:nvSpPr>
        <p:spPr>
          <a:xfrm>
            <a:off x="2927668" y="4160520"/>
            <a:ext cx="6309360" cy="64008"/>
          </a:xfrm>
          <a:prstGeom prst="rect">
            <a:avLst/>
          </a:prstGeom>
          <a:solidFill>
            <a:srgbClr val="177E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3068" y="4315969"/>
            <a:ext cx="112471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>
                <a:solidFill>
                  <a:srgbClr val="BBCCDD"/>
                </a:solidFill>
              </a:rPr>
              <a:t>讓 AI 能連到外部世界的「萬用插頭」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1005840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960120"/>
            <a:ext cx="12188952" cy="91440"/>
          </a:xfrm>
          <a:prstGeom prst="rect">
            <a:avLst/>
          </a:prstGeom>
          <a:solidFill>
            <a:srgbClr val="177E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3068" y="91440"/>
            <a:ext cx="11430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什麼是 MCP？（先從生活比喻開始）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413068" y="1170432"/>
            <a:ext cx="11338560" cy="1371600"/>
          </a:xfrm>
          <a:prstGeom prst="rect">
            <a:avLst/>
          </a:prstGeom>
          <a:solidFill>
            <a:srgbClr val="F3F6FB"/>
          </a:solidFill>
          <a:ln w="25400">
            <a:solidFill>
              <a:srgbClr val="177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5948" y="1243584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77EC1"/>
                </a:solidFill>
              </a:rPr>
              <a:t>MCP 就像手機的「USB-C 插孔」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5948" y="1719072"/>
            <a:ext cx="109728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>
                <a:solidFill>
                  <a:srgbClr val="0F1E3C"/>
                </a:solidFill>
              </a:rPr>
              <a:t>以前每個廠牌插孔不一樣，現在一個插孔接所有設備。MCP 讓 AI 也能「插上」各種外部工具。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367348" y="2743200"/>
            <a:ext cx="2788920" cy="3063240"/>
          </a:xfrm>
          <a:prstGeom prst="rect">
            <a:avLst/>
          </a:prstGeom>
          <a:solidFill>
            <a:srgbClr val="F3F6FB"/>
          </a:solidFill>
          <a:ln w="12700">
            <a:solidFill>
              <a:srgbClr val="177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7348" y="2834641"/>
            <a:ext cx="27889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>
                <a:solidFill>
                  <a:srgbClr val="0F1E3C"/>
                </a:solidFill>
              </a:rPr>
              <a:t>🗂️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7076" y="3538729"/>
            <a:ext cx="2578608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177EC1"/>
                </a:solidFill>
              </a:rPr>
              <a:t>連 Google 雲端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7076" y="4041649"/>
            <a:ext cx="257860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4A5A78"/>
                </a:solidFill>
              </a:rPr>
              <a:t>叫 AI 去找 Google Drive
裡的文件、整理資料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0004" y="2743200"/>
            <a:ext cx="2788920" cy="3063240"/>
          </a:xfrm>
          <a:prstGeom prst="rect">
            <a:avLst/>
          </a:prstGeom>
          <a:solidFill>
            <a:srgbClr val="F3F6FB"/>
          </a:solidFill>
          <a:ln w="12700">
            <a:solidFill>
              <a:srgbClr val="177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30004" y="2834641"/>
            <a:ext cx="27889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>
                <a:solidFill>
                  <a:srgbClr val="0F1E3C"/>
                </a:solidFill>
              </a:rPr>
              <a:t>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39732" y="3538729"/>
            <a:ext cx="2578608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177EC1"/>
                </a:solidFill>
              </a:rPr>
              <a:t>連 Notion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39732" y="4041649"/>
            <a:ext cx="257860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4A5A78"/>
                </a:solidFill>
              </a:rPr>
              <a:t>叫 AI 把會議紀錄整理好
直接存到 Notion 頁面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92660" y="2743200"/>
            <a:ext cx="2788920" cy="3063240"/>
          </a:xfrm>
          <a:prstGeom prst="rect">
            <a:avLst/>
          </a:prstGeom>
          <a:solidFill>
            <a:srgbClr val="F3F6FB"/>
          </a:solidFill>
          <a:ln w="12700">
            <a:solidFill>
              <a:srgbClr val="177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92660" y="2834641"/>
            <a:ext cx="27889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>
                <a:solidFill>
                  <a:srgbClr val="0F1E3C"/>
                </a:solidFill>
              </a:rPr>
              <a:t>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2388" y="3538729"/>
            <a:ext cx="2578608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177EC1"/>
                </a:solidFill>
              </a:rPr>
              <a:t>連學術資料庫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2388" y="4041649"/>
            <a:ext cx="257860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4A5A78"/>
                </a:solidFill>
              </a:rPr>
              <a:t>叫 AI 幫你搜尋論文
整理成文獻回顧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55316" y="2743200"/>
            <a:ext cx="2788920" cy="3063240"/>
          </a:xfrm>
          <a:prstGeom prst="rect">
            <a:avLst/>
          </a:prstGeom>
          <a:solidFill>
            <a:srgbClr val="F3F6FB"/>
          </a:solidFill>
          <a:ln w="12700">
            <a:solidFill>
              <a:srgbClr val="177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255316" y="2834641"/>
            <a:ext cx="27889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>
                <a:solidFill>
                  <a:srgbClr val="0F1E3C"/>
                </a:solidFill>
              </a:rPr>
              <a:t>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65044" y="3538729"/>
            <a:ext cx="2578608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177EC1"/>
                </a:solidFill>
              </a:rPr>
              <a:t>連 GitHub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65044" y="4041649"/>
            <a:ext cx="257860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4A5A78"/>
                </a:solidFill>
              </a:rPr>
              <a:t>叫 AI 審查你的程式碼
或自動建立 Issue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3068" y="5925312"/>
            <a:ext cx="11338560" cy="658368"/>
          </a:xfrm>
          <a:prstGeom prst="rect">
            <a:avLst/>
          </a:prstGeom>
          <a:solidFill>
            <a:srgbClr val="F3F6FB"/>
          </a:solidFill>
          <a:ln w="19050">
            <a:solidFill>
              <a:srgbClr val="00A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5948" y="6016752"/>
            <a:ext cx="10972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A366"/>
                </a:solidFill>
              </a:rPr>
              <a:t>沒有 MCP：AI 只活在對話框裡　　有了 MCP：AI 可以操作真實的工具！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1005840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960120"/>
            <a:ext cx="12188952" cy="91440"/>
          </a:xfrm>
          <a:prstGeom prst="rect">
            <a:avLst/>
          </a:prstGeom>
          <a:solidFill>
            <a:srgbClr val="177E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3068" y="91440"/>
            <a:ext cx="11430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MCP 的架構長什麼樣？（簡單版）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3188" y="1170432"/>
            <a:ext cx="9418320" cy="1115568"/>
          </a:xfrm>
          <a:prstGeom prst="rect">
            <a:avLst/>
          </a:prstGeom>
          <a:solidFill>
            <a:srgbClr val="F3F6FB"/>
          </a:solidFill>
          <a:ln w="25400">
            <a:solidFill>
              <a:srgbClr val="00A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56068" y="1261872"/>
            <a:ext cx="91440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0A366"/>
                </a:solidFill>
              </a:rPr>
              <a:t>🤖  AI 應用程式（例如 Claude Code）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6068" y="1764793"/>
            <a:ext cx="91440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>
                <a:solidFill>
                  <a:srgbClr val="4A5A78"/>
                </a:solidFill>
              </a:rPr>
              <a:t>你說話的對象，負責理解你的需求、決定要用哪個工具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6388" y="2322577"/>
            <a:ext cx="393192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>
                <a:solidFill>
                  <a:srgbClr val="4A5A78"/>
                </a:solidFill>
              </a:rPr>
              <a:t>↕  透過 MCP 協議溝通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3188" y="2788920"/>
            <a:ext cx="9418320" cy="1115568"/>
          </a:xfrm>
          <a:prstGeom prst="rect">
            <a:avLst/>
          </a:prstGeom>
          <a:solidFill>
            <a:srgbClr val="F3F6FB"/>
          </a:solidFill>
          <a:ln w="25400">
            <a:solidFill>
              <a:srgbClr val="177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556068" y="2880360"/>
            <a:ext cx="91440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177EC1"/>
                </a:solidFill>
              </a:rPr>
              <a:t>🔌  MCP Server（中間橋樑）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6068" y="3383280"/>
            <a:ext cx="91440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>
                <a:solidFill>
                  <a:srgbClr val="4A5A78"/>
                </a:solidFill>
              </a:rPr>
              <a:t>把 AI 的請求「翻譯」成外部工具能懂的語言，反之亦然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6388" y="3941064"/>
            <a:ext cx="393192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>
                <a:solidFill>
                  <a:srgbClr val="4A5A78"/>
                </a:solidFill>
              </a:rPr>
              <a:t>↕  讀取 / 執行 / 回傳結果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3188" y="4407407"/>
            <a:ext cx="9418320" cy="1115568"/>
          </a:xfrm>
          <a:prstGeom prst="rect">
            <a:avLst/>
          </a:prstGeom>
          <a:solidFill>
            <a:srgbClr val="F3F6FB"/>
          </a:solidFill>
          <a:ln w="25400">
            <a:solidFill>
              <a:srgbClr val="E06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556068" y="4498847"/>
            <a:ext cx="91440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E06C10"/>
                </a:solidFill>
              </a:rPr>
              <a:t>🌐  外部工具（Google Drive、Notion、GitHub...）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6068" y="5001769"/>
            <a:ext cx="91440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>
                <a:solidFill>
                  <a:srgbClr val="4A5A78"/>
                </a:solidFill>
              </a:rPr>
              <a:t>真正做事的地方：存資料、搜尋、執行操作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3068" y="5742432"/>
            <a:ext cx="11338560" cy="658368"/>
          </a:xfrm>
          <a:prstGeom prst="rect">
            <a:avLst/>
          </a:prstGeom>
          <a:solidFill>
            <a:srgbClr val="F3F6FB"/>
          </a:solidFill>
          <a:ln w="12700">
            <a:solidFill>
              <a:srgbClr val="177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5948" y="5833873"/>
            <a:ext cx="1097280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>
                <a:solidFill>
                  <a:srgbClr val="0F1E3C"/>
                </a:solidFill>
              </a:rPr>
              <a:t>💡  你只要跟 AI 說話，它會自己去找對的工具幫你做事，你不需要知道背後怎麼連線的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1005840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960120"/>
            <a:ext cx="12188952" cy="91440"/>
          </a:xfrm>
          <a:prstGeom prst="rect">
            <a:avLst/>
          </a:prstGeom>
          <a:solidFill>
            <a:srgbClr val="177E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74943" y="197703"/>
            <a:ext cx="11430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dirty="0" err="1">
                <a:solidFill>
                  <a:srgbClr val="FFFFFF"/>
                </a:solidFill>
              </a:rPr>
              <a:t>實際感受一下</a:t>
            </a:r>
            <a:r>
              <a:rPr sz="3000" b="1" dirty="0">
                <a:solidFill>
                  <a:srgbClr val="FFFFFF"/>
                </a:solidFill>
              </a:rPr>
              <a:t> MCP </a:t>
            </a:r>
            <a:r>
              <a:rPr sz="3000" b="1" dirty="0" err="1">
                <a:solidFill>
                  <a:srgbClr val="FFFFFF"/>
                </a:solidFill>
              </a:rPr>
              <a:t>的威力</a:t>
            </a:r>
            <a:endParaRPr sz="3000" b="1" dirty="0">
              <a:solidFill>
                <a:srgbClr val="FFFFFF"/>
              </a:solidFill>
            </a:endParaRPr>
          </a:p>
        </p:txBody>
      </p:sp>
      <p:pic>
        <p:nvPicPr>
          <p:cNvPr id="19" name="圖片 18">
            <a:extLst>
              <a:ext uri="{FF2B5EF4-FFF2-40B4-BE49-F238E27FC236}">
                <a16:creationId xmlns:a16="http://schemas.microsoft.com/office/drawing/2014/main" id="{3F845DC8-BD93-E2E6-6713-8431596DB4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418" y="1203543"/>
            <a:ext cx="2169671" cy="5638090"/>
          </a:xfrm>
          <a:prstGeom prst="rect">
            <a:avLst/>
          </a:prstGeom>
        </p:spPr>
      </p:pic>
      <p:sp>
        <p:nvSpPr>
          <p:cNvPr id="20" name="矩形 19">
            <a:extLst>
              <a:ext uri="{FF2B5EF4-FFF2-40B4-BE49-F238E27FC236}">
                <a16:creationId xmlns:a16="http://schemas.microsoft.com/office/drawing/2014/main" id="{8B326161-AC04-B2D9-B4E5-B96739459D51}"/>
              </a:ext>
            </a:extLst>
          </p:cNvPr>
          <p:cNvSpPr/>
          <p:nvPr/>
        </p:nvSpPr>
        <p:spPr>
          <a:xfrm>
            <a:off x="1846253" y="1225704"/>
            <a:ext cx="1272728" cy="61562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21" name="圖形 20" descr="手背向前食指朝右指 外框">
            <a:extLst>
              <a:ext uri="{FF2B5EF4-FFF2-40B4-BE49-F238E27FC236}">
                <a16:creationId xmlns:a16="http://schemas.microsoft.com/office/drawing/2014/main" id="{CFA8C267-D3C5-D5FB-9CE5-28A1AE8989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3118981" y="1194995"/>
            <a:ext cx="730949" cy="646331"/>
          </a:xfrm>
          <a:prstGeom prst="rect">
            <a:avLst/>
          </a:prstGeom>
        </p:spPr>
      </p:pic>
      <p:pic>
        <p:nvPicPr>
          <p:cNvPr id="22" name="圖片 21">
            <a:extLst>
              <a:ext uri="{FF2B5EF4-FFF2-40B4-BE49-F238E27FC236}">
                <a16:creationId xmlns:a16="http://schemas.microsoft.com/office/drawing/2014/main" id="{C70E6EA2-FBA8-CC5E-331D-AAEA41B09E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8182" y="1841326"/>
            <a:ext cx="7772400" cy="4771424"/>
          </a:xfrm>
          <a:prstGeom prst="rect">
            <a:avLst/>
          </a:prstGeom>
        </p:spPr>
      </p:pic>
      <p:sp>
        <p:nvSpPr>
          <p:cNvPr id="23" name="矩形 22">
            <a:extLst>
              <a:ext uri="{FF2B5EF4-FFF2-40B4-BE49-F238E27FC236}">
                <a16:creationId xmlns:a16="http://schemas.microsoft.com/office/drawing/2014/main" id="{31D69F3A-6ACF-6C54-0F2A-3B1583200419}"/>
              </a:ext>
            </a:extLst>
          </p:cNvPr>
          <p:cNvSpPr/>
          <p:nvPr/>
        </p:nvSpPr>
        <p:spPr>
          <a:xfrm>
            <a:off x="9664580" y="2204580"/>
            <a:ext cx="1766001" cy="42272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833A472-9217-48F3-2825-CC8FD48230C2}"/>
              </a:ext>
            </a:extLst>
          </p:cNvPr>
          <p:cNvSpPr/>
          <p:nvPr/>
        </p:nvSpPr>
        <p:spPr>
          <a:xfrm>
            <a:off x="4656258" y="2204579"/>
            <a:ext cx="404258" cy="42272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25" name="圖形 24" descr="手背向前食指朝右指 外框">
            <a:extLst>
              <a:ext uri="{FF2B5EF4-FFF2-40B4-BE49-F238E27FC236}">
                <a16:creationId xmlns:a16="http://schemas.microsoft.com/office/drawing/2014/main" id="{BE58CD26-F3A5-DB0F-6D2E-AD45079BA5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 flipH="1">
            <a:off x="4534714" y="1457122"/>
            <a:ext cx="730949" cy="646331"/>
          </a:xfrm>
          <a:prstGeom prst="rect">
            <a:avLst/>
          </a:prstGeom>
        </p:spPr>
      </p:pic>
      <p:pic>
        <p:nvPicPr>
          <p:cNvPr id="26" name="圖形 25" descr="手背向前食指朝右指 外框">
            <a:extLst>
              <a:ext uri="{FF2B5EF4-FFF2-40B4-BE49-F238E27FC236}">
                <a16:creationId xmlns:a16="http://schemas.microsoft.com/office/drawing/2014/main" id="{B50B7F4D-62E9-9309-6844-1C1E3A800F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 flipH="1">
            <a:off x="9883993" y="1486532"/>
            <a:ext cx="730949" cy="646331"/>
          </a:xfrm>
          <a:prstGeom prst="rect">
            <a:avLst/>
          </a:prstGeom>
        </p:spPr>
      </p:pic>
      <p:sp>
        <p:nvSpPr>
          <p:cNvPr id="27" name="文字方塊 26">
            <a:extLst>
              <a:ext uri="{FF2B5EF4-FFF2-40B4-BE49-F238E27FC236}">
                <a16:creationId xmlns:a16="http://schemas.microsoft.com/office/drawing/2014/main" id="{33E4DDC6-DA73-7154-59A5-BFCAC7A37C9E}"/>
              </a:ext>
            </a:extLst>
          </p:cNvPr>
          <p:cNvSpPr txBox="1"/>
          <p:nvPr/>
        </p:nvSpPr>
        <p:spPr>
          <a:xfrm>
            <a:off x="3429050" y="1369093"/>
            <a:ext cx="1235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solidFill>
                  <a:srgbClr val="FF0000"/>
                </a:solidFill>
              </a:rPr>
              <a:t>1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03058CBD-F723-ADD3-D4B2-9594A1D1C619}"/>
              </a:ext>
            </a:extLst>
          </p:cNvPr>
          <p:cNvSpPr txBox="1"/>
          <p:nvPr/>
        </p:nvSpPr>
        <p:spPr>
          <a:xfrm>
            <a:off x="10127661" y="1493110"/>
            <a:ext cx="1235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solidFill>
                  <a:srgbClr val="FF0000"/>
                </a:solidFill>
              </a:rPr>
              <a:t>2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FC5525AF-8FFC-D052-1175-2713F6F1A7CB}"/>
              </a:ext>
            </a:extLst>
          </p:cNvPr>
          <p:cNvSpPr txBox="1"/>
          <p:nvPr/>
        </p:nvSpPr>
        <p:spPr>
          <a:xfrm>
            <a:off x="4768771" y="1483097"/>
            <a:ext cx="1235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solidFill>
                  <a:srgbClr val="FF0000"/>
                </a:solidFill>
              </a:rPr>
              <a:t>3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5F0C2-840D-2D7B-2FA7-FA558449D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7013EAC-5698-3990-7960-43CA66F2F09C}"/>
              </a:ext>
            </a:extLst>
          </p:cNvPr>
          <p:cNvSpPr/>
          <p:nvPr/>
        </p:nvSpPr>
        <p:spPr>
          <a:xfrm>
            <a:off x="1588" y="0"/>
            <a:ext cx="12188952" cy="1005840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D6AE7F-521B-7251-39A0-024BBA90AED5}"/>
              </a:ext>
            </a:extLst>
          </p:cNvPr>
          <p:cNvSpPr/>
          <p:nvPr/>
        </p:nvSpPr>
        <p:spPr>
          <a:xfrm>
            <a:off x="1588" y="960120"/>
            <a:ext cx="12188952" cy="91440"/>
          </a:xfrm>
          <a:prstGeom prst="rect">
            <a:avLst/>
          </a:prstGeom>
          <a:solidFill>
            <a:srgbClr val="177E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211132-0D24-A872-973F-5C30F0B7177D}"/>
              </a:ext>
            </a:extLst>
          </p:cNvPr>
          <p:cNvSpPr txBox="1"/>
          <p:nvPr/>
        </p:nvSpPr>
        <p:spPr>
          <a:xfrm>
            <a:off x="174943" y="197703"/>
            <a:ext cx="11430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dirty="0" err="1">
                <a:solidFill>
                  <a:srgbClr val="FFFFFF"/>
                </a:solidFill>
              </a:rPr>
              <a:t>實際感受一下</a:t>
            </a:r>
            <a:r>
              <a:rPr sz="3000" b="1" dirty="0">
                <a:solidFill>
                  <a:srgbClr val="FFFFFF"/>
                </a:solidFill>
              </a:rPr>
              <a:t> MCP </a:t>
            </a:r>
            <a:r>
              <a:rPr sz="3000" b="1" dirty="0" err="1">
                <a:solidFill>
                  <a:srgbClr val="FFFFFF"/>
                </a:solidFill>
              </a:rPr>
              <a:t>的威力</a:t>
            </a:r>
            <a:endParaRPr sz="3000" b="1" dirty="0">
              <a:solidFill>
                <a:srgbClr val="FFFFFF"/>
              </a:solidFill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67C416DE-E738-0439-9AA5-F54EEB866D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491"/>
          <a:stretch>
            <a:fillRect/>
          </a:stretch>
        </p:blipFill>
        <p:spPr>
          <a:xfrm>
            <a:off x="978907" y="1203543"/>
            <a:ext cx="10081575" cy="5534953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6292E773-1722-3CF0-29DA-3B91915860BD}"/>
              </a:ext>
            </a:extLst>
          </p:cNvPr>
          <p:cNvSpPr/>
          <p:nvPr/>
        </p:nvSpPr>
        <p:spPr>
          <a:xfrm>
            <a:off x="846256" y="2267210"/>
            <a:ext cx="1766001" cy="42272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10" name="圖形 9" descr="手背向前食指朝右指 外框">
            <a:extLst>
              <a:ext uri="{FF2B5EF4-FFF2-40B4-BE49-F238E27FC236}">
                <a16:creationId xmlns:a16="http://schemas.microsoft.com/office/drawing/2014/main" id="{259868D9-384E-F602-F671-30804DE6F1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 flipH="1">
            <a:off x="9883993" y="1486532"/>
            <a:ext cx="730949" cy="646331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6F2ACE95-267C-42F1-D503-4D615EFE2E5F}"/>
              </a:ext>
            </a:extLst>
          </p:cNvPr>
          <p:cNvSpPr txBox="1"/>
          <p:nvPr/>
        </p:nvSpPr>
        <p:spPr>
          <a:xfrm>
            <a:off x="10127661" y="1493110"/>
            <a:ext cx="1235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solidFill>
                  <a:srgbClr val="FF0000"/>
                </a:solidFill>
              </a:rPr>
              <a:t>2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p:pic>
        <p:nvPicPr>
          <p:cNvPr id="12" name="圖形 11" descr="手背向前食指朝右指 外框">
            <a:extLst>
              <a:ext uri="{FF2B5EF4-FFF2-40B4-BE49-F238E27FC236}">
                <a16:creationId xmlns:a16="http://schemas.microsoft.com/office/drawing/2014/main" id="{EE155141-663C-7C08-DAF2-B54862B822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 flipH="1">
            <a:off x="1577058" y="1624124"/>
            <a:ext cx="730949" cy="646331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95A9F47D-29F7-ECD6-9B66-FD32463C9F03}"/>
              </a:ext>
            </a:extLst>
          </p:cNvPr>
          <p:cNvSpPr txBox="1"/>
          <p:nvPr/>
        </p:nvSpPr>
        <p:spPr>
          <a:xfrm>
            <a:off x="1820726" y="1630702"/>
            <a:ext cx="1235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solidFill>
                  <a:srgbClr val="FF0000"/>
                </a:solidFill>
              </a:rPr>
              <a:t>1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FBAF4EE-A45C-79AF-5406-14CAF1BD04D7}"/>
              </a:ext>
            </a:extLst>
          </p:cNvPr>
          <p:cNvSpPr/>
          <p:nvPr/>
        </p:nvSpPr>
        <p:spPr>
          <a:xfrm>
            <a:off x="8562908" y="2464739"/>
            <a:ext cx="1766001" cy="42272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50637D0-4E5E-5CC3-406C-9B0FDDDB7F65}"/>
              </a:ext>
            </a:extLst>
          </p:cNvPr>
          <p:cNvSpPr/>
          <p:nvPr/>
        </p:nvSpPr>
        <p:spPr>
          <a:xfrm>
            <a:off x="1942532" y="1089389"/>
            <a:ext cx="1766001" cy="42272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7440625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2023BB-FFCD-1305-E65F-FF004E068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BE6A035-F02A-4845-9B60-E20EB2E12779}"/>
              </a:ext>
            </a:extLst>
          </p:cNvPr>
          <p:cNvSpPr/>
          <p:nvPr/>
        </p:nvSpPr>
        <p:spPr>
          <a:xfrm>
            <a:off x="1588" y="0"/>
            <a:ext cx="12188952" cy="1005840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A8AB4AB-E4FA-D7C6-C9A9-14A645FF3C7A}"/>
              </a:ext>
            </a:extLst>
          </p:cNvPr>
          <p:cNvSpPr/>
          <p:nvPr/>
        </p:nvSpPr>
        <p:spPr>
          <a:xfrm>
            <a:off x="1588" y="960120"/>
            <a:ext cx="12188952" cy="91440"/>
          </a:xfrm>
          <a:prstGeom prst="rect">
            <a:avLst/>
          </a:prstGeom>
          <a:solidFill>
            <a:srgbClr val="177E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499F36-B5EF-4D5E-08AA-2F38C2381F34}"/>
              </a:ext>
            </a:extLst>
          </p:cNvPr>
          <p:cNvSpPr txBox="1"/>
          <p:nvPr/>
        </p:nvSpPr>
        <p:spPr>
          <a:xfrm>
            <a:off x="174943" y="197703"/>
            <a:ext cx="11430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dirty="0" err="1">
                <a:solidFill>
                  <a:srgbClr val="FFFFFF"/>
                </a:solidFill>
              </a:rPr>
              <a:t>實際感受一下</a:t>
            </a:r>
            <a:r>
              <a:rPr sz="3000" b="1" dirty="0">
                <a:solidFill>
                  <a:srgbClr val="FFFFFF"/>
                </a:solidFill>
              </a:rPr>
              <a:t> MCP </a:t>
            </a:r>
            <a:r>
              <a:rPr sz="3000" b="1" dirty="0" err="1">
                <a:solidFill>
                  <a:srgbClr val="FFFFFF"/>
                </a:solidFill>
              </a:rPr>
              <a:t>的威力</a:t>
            </a:r>
            <a:endParaRPr sz="3000" b="1" dirty="0">
              <a:solidFill>
                <a:srgbClr val="FFFFFF"/>
              </a:solidFill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FBE05F1-38B3-B40D-5A9F-EB48C699E1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9712" y="1259978"/>
            <a:ext cx="9820666" cy="5311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70515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5269D-3BFD-2B98-C240-4874792BA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3AB2787-0056-F1E0-8BBF-89431B8CBB2A}"/>
              </a:ext>
            </a:extLst>
          </p:cNvPr>
          <p:cNvSpPr/>
          <p:nvPr/>
        </p:nvSpPr>
        <p:spPr>
          <a:xfrm>
            <a:off x="1588" y="0"/>
            <a:ext cx="12188952" cy="1005840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B408C2-DF6A-D70D-4F13-BD1D8E6C8B64}"/>
              </a:ext>
            </a:extLst>
          </p:cNvPr>
          <p:cNvSpPr/>
          <p:nvPr/>
        </p:nvSpPr>
        <p:spPr>
          <a:xfrm>
            <a:off x="1588" y="960120"/>
            <a:ext cx="12188952" cy="91440"/>
          </a:xfrm>
          <a:prstGeom prst="rect">
            <a:avLst/>
          </a:prstGeom>
          <a:solidFill>
            <a:srgbClr val="177E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FD2BE0-4251-FA28-33BF-983398D85FA5}"/>
              </a:ext>
            </a:extLst>
          </p:cNvPr>
          <p:cNvSpPr txBox="1"/>
          <p:nvPr/>
        </p:nvSpPr>
        <p:spPr>
          <a:xfrm>
            <a:off x="174943" y="197703"/>
            <a:ext cx="11430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dirty="0" err="1">
                <a:solidFill>
                  <a:srgbClr val="FFFFFF"/>
                </a:solidFill>
              </a:rPr>
              <a:t>實際感受一下</a:t>
            </a:r>
            <a:r>
              <a:rPr sz="3000" b="1" dirty="0">
                <a:solidFill>
                  <a:srgbClr val="FFFFFF"/>
                </a:solidFill>
              </a:rPr>
              <a:t> MCP </a:t>
            </a:r>
            <a:r>
              <a:rPr sz="3000" b="1" dirty="0" err="1">
                <a:solidFill>
                  <a:srgbClr val="FFFFFF"/>
                </a:solidFill>
              </a:rPr>
              <a:t>的威力</a:t>
            </a:r>
            <a:endParaRPr sz="3000" b="1" dirty="0">
              <a:solidFill>
                <a:srgbClr val="FFFFFF"/>
              </a:solidFill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64923DA0-7050-2E16-6191-9581D42082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822" y="1385897"/>
            <a:ext cx="9795158" cy="5140163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4E7F2E1E-E007-878A-958C-006ED6737188}"/>
              </a:ext>
            </a:extLst>
          </p:cNvPr>
          <p:cNvSpPr/>
          <p:nvPr/>
        </p:nvSpPr>
        <p:spPr>
          <a:xfrm>
            <a:off x="6847230" y="2832384"/>
            <a:ext cx="3296011" cy="66496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7" name="圖形 6" descr="手背向前食指朝右指 外框">
            <a:extLst>
              <a:ext uri="{FF2B5EF4-FFF2-40B4-BE49-F238E27FC236}">
                <a16:creationId xmlns:a16="http://schemas.microsoft.com/office/drawing/2014/main" id="{C443027C-4EB8-991B-BF96-5316DDBF1E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 flipH="1">
            <a:off x="9667176" y="2342050"/>
            <a:ext cx="730949" cy="646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0150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CA41D-6AB7-1A34-73CE-3E9F7E096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8E1E702-F14C-7C09-85BD-9F8CF7A6BF09}"/>
              </a:ext>
            </a:extLst>
          </p:cNvPr>
          <p:cNvSpPr/>
          <p:nvPr/>
        </p:nvSpPr>
        <p:spPr>
          <a:xfrm>
            <a:off x="1588" y="0"/>
            <a:ext cx="12188952" cy="1005840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106BAA-7210-E5B0-26F4-A053853ACF2A}"/>
              </a:ext>
            </a:extLst>
          </p:cNvPr>
          <p:cNvSpPr/>
          <p:nvPr/>
        </p:nvSpPr>
        <p:spPr>
          <a:xfrm>
            <a:off x="1588" y="960120"/>
            <a:ext cx="12188952" cy="91440"/>
          </a:xfrm>
          <a:prstGeom prst="rect">
            <a:avLst/>
          </a:prstGeom>
          <a:solidFill>
            <a:srgbClr val="177E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B1B63F-E868-16DC-C66B-59DDA61ABB36}"/>
              </a:ext>
            </a:extLst>
          </p:cNvPr>
          <p:cNvSpPr txBox="1"/>
          <p:nvPr/>
        </p:nvSpPr>
        <p:spPr>
          <a:xfrm>
            <a:off x="174943" y="197703"/>
            <a:ext cx="11430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dirty="0" err="1">
                <a:solidFill>
                  <a:srgbClr val="FFFFFF"/>
                </a:solidFill>
              </a:rPr>
              <a:t>實際感受一下</a:t>
            </a:r>
            <a:r>
              <a:rPr sz="3000" b="1" dirty="0">
                <a:solidFill>
                  <a:srgbClr val="FFFFFF"/>
                </a:solidFill>
              </a:rPr>
              <a:t> MCP </a:t>
            </a:r>
            <a:r>
              <a:rPr sz="3000" b="1" dirty="0" err="1">
                <a:solidFill>
                  <a:srgbClr val="FFFFFF"/>
                </a:solidFill>
              </a:rPr>
              <a:t>的威力</a:t>
            </a:r>
            <a:endParaRPr sz="3000" b="1" dirty="0">
              <a:solidFill>
                <a:srgbClr val="FFFFFF"/>
              </a:solidFill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2B695645-B127-552E-95BE-5EA802C19D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410" y="1168538"/>
            <a:ext cx="7828767" cy="5446099"/>
          </a:xfrm>
          <a:prstGeom prst="rect">
            <a:avLst/>
          </a:prstGeom>
        </p:spPr>
      </p:pic>
      <p:pic>
        <p:nvPicPr>
          <p:cNvPr id="8" name="圖形 7" descr="手背向前食指朝右指 外框">
            <a:extLst>
              <a:ext uri="{FF2B5EF4-FFF2-40B4-BE49-F238E27FC236}">
                <a16:creationId xmlns:a16="http://schemas.microsoft.com/office/drawing/2014/main" id="{A0E3F151-5BA4-30A2-B4E6-529A88914A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2153255" y="4693001"/>
            <a:ext cx="730949" cy="646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01933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F3AC11-F8D4-3054-7693-3A78388D6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5B88174-8F79-14CF-0654-29BB565A7313}"/>
              </a:ext>
            </a:extLst>
          </p:cNvPr>
          <p:cNvSpPr/>
          <p:nvPr/>
        </p:nvSpPr>
        <p:spPr>
          <a:xfrm>
            <a:off x="1588" y="0"/>
            <a:ext cx="12188952" cy="1005840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B985DA-815E-8FF2-3B05-B9220A35FDD0}"/>
              </a:ext>
            </a:extLst>
          </p:cNvPr>
          <p:cNvSpPr/>
          <p:nvPr/>
        </p:nvSpPr>
        <p:spPr>
          <a:xfrm>
            <a:off x="1588" y="960120"/>
            <a:ext cx="12188952" cy="91440"/>
          </a:xfrm>
          <a:prstGeom prst="rect">
            <a:avLst/>
          </a:prstGeom>
          <a:solidFill>
            <a:srgbClr val="177E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47571F-C781-7D22-616E-FF2ED8800CAE}"/>
              </a:ext>
            </a:extLst>
          </p:cNvPr>
          <p:cNvSpPr txBox="1"/>
          <p:nvPr/>
        </p:nvSpPr>
        <p:spPr>
          <a:xfrm>
            <a:off x="174943" y="197703"/>
            <a:ext cx="11430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dirty="0" err="1">
                <a:solidFill>
                  <a:srgbClr val="FFFFFF"/>
                </a:solidFill>
              </a:rPr>
              <a:t>實際感受一下</a:t>
            </a:r>
            <a:r>
              <a:rPr sz="3000" b="1" dirty="0">
                <a:solidFill>
                  <a:srgbClr val="FFFFFF"/>
                </a:solidFill>
              </a:rPr>
              <a:t> MCP </a:t>
            </a:r>
            <a:r>
              <a:rPr sz="3000" b="1" dirty="0" err="1">
                <a:solidFill>
                  <a:srgbClr val="FFFFFF"/>
                </a:solidFill>
              </a:rPr>
              <a:t>的威力</a:t>
            </a:r>
            <a:endParaRPr sz="3000" b="1" dirty="0">
              <a:solidFill>
                <a:srgbClr val="FFFFFF"/>
              </a:solidFill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D5437AB2-47B6-3528-5555-2462D56925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6275" y="1051560"/>
            <a:ext cx="8592333" cy="5810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05859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2DA3F-01E8-0B69-1E2D-ADE140745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EAB15B1-1A7B-F52C-87B0-4F7D2F94AD2D}"/>
              </a:ext>
            </a:extLst>
          </p:cNvPr>
          <p:cNvSpPr/>
          <p:nvPr/>
        </p:nvSpPr>
        <p:spPr>
          <a:xfrm>
            <a:off x="1588" y="0"/>
            <a:ext cx="12188952" cy="1005840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043901-A424-D82E-BB60-7F6EBA3C9218}"/>
              </a:ext>
            </a:extLst>
          </p:cNvPr>
          <p:cNvSpPr/>
          <p:nvPr/>
        </p:nvSpPr>
        <p:spPr>
          <a:xfrm>
            <a:off x="1588" y="960120"/>
            <a:ext cx="12188952" cy="91440"/>
          </a:xfrm>
          <a:prstGeom prst="rect">
            <a:avLst/>
          </a:prstGeom>
          <a:solidFill>
            <a:srgbClr val="177E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DDB096-37F5-5683-337E-F9EFAC1B3EB2}"/>
              </a:ext>
            </a:extLst>
          </p:cNvPr>
          <p:cNvSpPr txBox="1"/>
          <p:nvPr/>
        </p:nvSpPr>
        <p:spPr>
          <a:xfrm>
            <a:off x="174943" y="197703"/>
            <a:ext cx="11430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dirty="0" err="1">
                <a:solidFill>
                  <a:srgbClr val="FFFFFF"/>
                </a:solidFill>
              </a:rPr>
              <a:t>實際感受一下</a:t>
            </a:r>
            <a:r>
              <a:rPr sz="3000" b="1" dirty="0">
                <a:solidFill>
                  <a:srgbClr val="FFFFFF"/>
                </a:solidFill>
              </a:rPr>
              <a:t> MCP </a:t>
            </a:r>
            <a:r>
              <a:rPr sz="3000" b="1" dirty="0" err="1">
                <a:solidFill>
                  <a:srgbClr val="FFFFFF"/>
                </a:solidFill>
              </a:rPr>
              <a:t>的威力</a:t>
            </a:r>
            <a:endParaRPr sz="3000" b="1" dirty="0">
              <a:solidFill>
                <a:srgbClr val="FFFFFF"/>
              </a:solidFill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39AED3B-75B9-0EE9-6CA9-0E406C05DF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4318" y="1112103"/>
            <a:ext cx="7512311" cy="5580574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598DFD82-EE20-4ED8-1BC8-5F590E63C78B}"/>
              </a:ext>
            </a:extLst>
          </p:cNvPr>
          <p:cNvSpPr/>
          <p:nvPr/>
        </p:nvSpPr>
        <p:spPr>
          <a:xfrm>
            <a:off x="1954060" y="2642992"/>
            <a:ext cx="6876789" cy="165343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69001046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1EC58-5F07-957E-9C30-AF85FC9CA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F23A34-ACA8-D90F-A995-3EA3943E501A}"/>
              </a:ext>
            </a:extLst>
          </p:cNvPr>
          <p:cNvSpPr/>
          <p:nvPr/>
        </p:nvSpPr>
        <p:spPr>
          <a:xfrm>
            <a:off x="1588" y="0"/>
            <a:ext cx="12188952" cy="1005840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88C860A-A22D-FC41-A83D-7DDD334B6B2C}"/>
              </a:ext>
            </a:extLst>
          </p:cNvPr>
          <p:cNvSpPr/>
          <p:nvPr/>
        </p:nvSpPr>
        <p:spPr>
          <a:xfrm>
            <a:off x="1588" y="960120"/>
            <a:ext cx="12188952" cy="91440"/>
          </a:xfrm>
          <a:prstGeom prst="rect">
            <a:avLst/>
          </a:prstGeom>
          <a:solidFill>
            <a:srgbClr val="177E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00C2C5-C01E-3325-300C-9C280F91B61B}"/>
              </a:ext>
            </a:extLst>
          </p:cNvPr>
          <p:cNvSpPr txBox="1"/>
          <p:nvPr/>
        </p:nvSpPr>
        <p:spPr>
          <a:xfrm>
            <a:off x="174943" y="197703"/>
            <a:ext cx="11430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dirty="0" err="1">
                <a:solidFill>
                  <a:srgbClr val="FFFFFF"/>
                </a:solidFill>
              </a:rPr>
              <a:t>實際感受一下</a:t>
            </a:r>
            <a:r>
              <a:rPr sz="3000" b="1" dirty="0">
                <a:solidFill>
                  <a:srgbClr val="FFFFFF"/>
                </a:solidFill>
              </a:rPr>
              <a:t> MCP </a:t>
            </a:r>
            <a:r>
              <a:rPr sz="3000" b="1" dirty="0" err="1">
                <a:solidFill>
                  <a:srgbClr val="FFFFFF"/>
                </a:solidFill>
              </a:rPr>
              <a:t>的威力</a:t>
            </a:r>
            <a:endParaRPr sz="3000" b="1" dirty="0">
              <a:solidFill>
                <a:srgbClr val="FFFFFF"/>
              </a:solidFill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84ABF8B5-030D-AA9E-32B8-C66D421036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883" y="1526974"/>
            <a:ext cx="10158869" cy="5331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52969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FB39E-07EE-96D2-1C57-EDE42D2EE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F905B43-EB98-C143-FDA2-AA4A6C7E19D3}"/>
              </a:ext>
            </a:extLst>
          </p:cNvPr>
          <p:cNvSpPr/>
          <p:nvPr/>
        </p:nvSpPr>
        <p:spPr>
          <a:xfrm>
            <a:off x="1588" y="0"/>
            <a:ext cx="12188952" cy="1005840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8EE0CAC-7A3F-36F5-0033-F3BEC2D2A7D3}"/>
              </a:ext>
            </a:extLst>
          </p:cNvPr>
          <p:cNvSpPr/>
          <p:nvPr/>
        </p:nvSpPr>
        <p:spPr>
          <a:xfrm>
            <a:off x="1588" y="960120"/>
            <a:ext cx="12188952" cy="91440"/>
          </a:xfrm>
          <a:prstGeom prst="rect">
            <a:avLst/>
          </a:prstGeom>
          <a:solidFill>
            <a:srgbClr val="177E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E9768B-8293-EC0F-9D87-2C9E2415C27D}"/>
              </a:ext>
            </a:extLst>
          </p:cNvPr>
          <p:cNvSpPr txBox="1"/>
          <p:nvPr/>
        </p:nvSpPr>
        <p:spPr>
          <a:xfrm>
            <a:off x="174943" y="197703"/>
            <a:ext cx="11430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dirty="0" err="1">
                <a:solidFill>
                  <a:srgbClr val="FFFFFF"/>
                </a:solidFill>
              </a:rPr>
              <a:t>實際感受一下</a:t>
            </a:r>
            <a:r>
              <a:rPr sz="3000" b="1" dirty="0">
                <a:solidFill>
                  <a:srgbClr val="FFFFFF"/>
                </a:solidFill>
              </a:rPr>
              <a:t> MCP </a:t>
            </a:r>
            <a:r>
              <a:rPr sz="3000" b="1" dirty="0" err="1">
                <a:solidFill>
                  <a:srgbClr val="FFFFFF"/>
                </a:solidFill>
              </a:rPr>
              <a:t>的威力</a:t>
            </a:r>
            <a:endParaRPr sz="3000" b="1" dirty="0">
              <a:solidFill>
                <a:srgbClr val="FFFFFF"/>
              </a:solidFill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BC836D6-B71F-C07A-81F6-DFC5906FE3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134" y="1354941"/>
            <a:ext cx="11810823" cy="4319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66757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A5F4E-E5D9-61EA-37E1-FDF189748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4F8DE6-260F-9AA5-AB27-66843BB02014}"/>
              </a:ext>
            </a:extLst>
          </p:cNvPr>
          <p:cNvSpPr/>
          <p:nvPr/>
        </p:nvSpPr>
        <p:spPr>
          <a:xfrm>
            <a:off x="1588" y="0"/>
            <a:ext cx="12188952" cy="1005840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36A41AC-906C-5209-C1CF-93D10761B618}"/>
              </a:ext>
            </a:extLst>
          </p:cNvPr>
          <p:cNvSpPr/>
          <p:nvPr/>
        </p:nvSpPr>
        <p:spPr>
          <a:xfrm>
            <a:off x="1588" y="960120"/>
            <a:ext cx="12188952" cy="91440"/>
          </a:xfrm>
          <a:prstGeom prst="rect">
            <a:avLst/>
          </a:prstGeom>
          <a:solidFill>
            <a:srgbClr val="177E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3EAD89-7558-9336-6BCF-B8C972CC61C3}"/>
              </a:ext>
            </a:extLst>
          </p:cNvPr>
          <p:cNvSpPr txBox="1"/>
          <p:nvPr/>
        </p:nvSpPr>
        <p:spPr>
          <a:xfrm>
            <a:off x="174943" y="197703"/>
            <a:ext cx="11430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dirty="0" err="1">
                <a:solidFill>
                  <a:srgbClr val="FFFFFF"/>
                </a:solidFill>
              </a:rPr>
              <a:t>實際感受一下</a:t>
            </a:r>
            <a:r>
              <a:rPr sz="3000" b="1" dirty="0">
                <a:solidFill>
                  <a:srgbClr val="FFFFFF"/>
                </a:solidFill>
              </a:rPr>
              <a:t> MCP </a:t>
            </a:r>
            <a:r>
              <a:rPr sz="3000" b="1" dirty="0" err="1">
                <a:solidFill>
                  <a:srgbClr val="FFFFFF"/>
                </a:solidFill>
              </a:rPr>
              <a:t>的威力</a:t>
            </a:r>
            <a:endParaRPr sz="3000" b="1" dirty="0">
              <a:solidFill>
                <a:srgbClr val="FFFFFF"/>
              </a:solidFill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E578DB4-813F-CBD2-1BC4-05C657528C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576" y="1051560"/>
            <a:ext cx="10713016" cy="5684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57348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B9C5394E-A285-C46A-D0B8-3B1B4F5629B9}"/>
              </a:ext>
            </a:extLst>
          </p:cNvPr>
          <p:cNvSpPr txBox="1"/>
          <p:nvPr/>
        </p:nvSpPr>
        <p:spPr>
          <a:xfrm>
            <a:off x="165969" y="366479"/>
            <a:ext cx="60939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dirty="0">
                <a:hlinkClick r:id="rId2"/>
              </a:rPr>
              <a:t>🚀 Antigravity 2.0 使用手冊</a:t>
            </a:r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6AD2905B-53BA-5448-0F21-BA779426D4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4873" y="233716"/>
            <a:ext cx="7870869" cy="6390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31324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2CEF63BF-3435-78D6-DA7E-AD90D170AE01}"/>
              </a:ext>
            </a:extLst>
          </p:cNvPr>
          <p:cNvSpPr txBox="1"/>
          <p:nvPr/>
        </p:nvSpPr>
        <p:spPr>
          <a:xfrm>
            <a:off x="1894114" y="154655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https://vercel.com/docs/agent-resources/vercel-mcp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6DB383-5A26-5597-7DB1-5876481EA981}"/>
              </a:ext>
            </a:extLst>
          </p:cNvPr>
          <p:cNvSpPr txBox="1"/>
          <p:nvPr/>
        </p:nvSpPr>
        <p:spPr>
          <a:xfrm>
            <a:off x="153172" y="1454221"/>
            <a:ext cx="11430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b="1" dirty="0" err="1"/>
              <a:t>Vercel</a:t>
            </a:r>
            <a:r>
              <a:rPr lang="en-US" sz="3000" b="1" dirty="0"/>
              <a:t> </a:t>
            </a:r>
            <a:endParaRPr sz="3000" b="1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EF5253CF-21ED-1235-0AF2-4D84FE2EE556}"/>
              </a:ext>
            </a:extLst>
          </p:cNvPr>
          <p:cNvSpPr txBox="1"/>
          <p:nvPr/>
        </p:nvSpPr>
        <p:spPr>
          <a:xfrm>
            <a:off x="2820172" y="420345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https://huggingface.co/docs/hub/agents-mcp</a:t>
            </a: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6C299968-D510-54A3-BB91-F8A7F6D57A8D}"/>
              </a:ext>
            </a:extLst>
          </p:cNvPr>
          <p:cNvSpPr txBox="1"/>
          <p:nvPr/>
        </p:nvSpPr>
        <p:spPr>
          <a:xfrm>
            <a:off x="0" y="4111117"/>
            <a:ext cx="11430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b="1" dirty="0" err="1"/>
              <a:t>Huggingface</a:t>
            </a:r>
            <a:r>
              <a:rPr lang="en-US" sz="3000" b="1" dirty="0"/>
              <a:t> </a:t>
            </a:r>
            <a:endParaRPr sz="3000" b="1" dirty="0"/>
          </a:p>
        </p:txBody>
      </p:sp>
      <p:pic>
        <p:nvPicPr>
          <p:cNvPr id="8" name="圖片 7" descr="MCP Registry | Hugging Face · GitHub">
            <a:extLst>
              <a:ext uri="{FF2B5EF4-FFF2-40B4-BE49-F238E27FC236}">
                <a16:creationId xmlns:a16="http://schemas.microsoft.com/office/drawing/2014/main" id="{49786DEB-C084-9C02-D080-D25DC21E05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714" y="4665115"/>
            <a:ext cx="1422400" cy="1422400"/>
          </a:xfrm>
          <a:prstGeom prst="rect">
            <a:avLst/>
          </a:prstGeom>
        </p:spPr>
      </p:pic>
      <p:pic>
        <p:nvPicPr>
          <p:cNvPr id="9" name="圖片 8" descr="Next.js creator, Vercel, Raises $21 Million with Series A">
            <a:extLst>
              <a:ext uri="{FF2B5EF4-FFF2-40B4-BE49-F238E27FC236}">
                <a16:creationId xmlns:a16="http://schemas.microsoft.com/office/drawing/2014/main" id="{DA4FB92D-11BD-88AC-00FD-A2D983C3CF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172" y="2008219"/>
            <a:ext cx="2362200" cy="850900"/>
          </a:xfrm>
          <a:prstGeom prst="rect">
            <a:avLst/>
          </a:prstGeom>
        </p:spPr>
      </p:pic>
      <p:sp>
        <p:nvSpPr>
          <p:cNvPr id="11" name="TextBox 3">
            <a:extLst>
              <a:ext uri="{FF2B5EF4-FFF2-40B4-BE49-F238E27FC236}">
                <a16:creationId xmlns:a16="http://schemas.microsoft.com/office/drawing/2014/main" id="{D7B2A131-7A50-07B4-2F3A-8B72EB0A4EBF}"/>
              </a:ext>
            </a:extLst>
          </p:cNvPr>
          <p:cNvSpPr txBox="1"/>
          <p:nvPr/>
        </p:nvSpPr>
        <p:spPr>
          <a:xfrm>
            <a:off x="153172" y="202223"/>
            <a:ext cx="11430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b="1" dirty="0" err="1"/>
              <a:t>建網站用的MCP</a:t>
            </a:r>
            <a:r>
              <a:rPr lang="en-US" sz="3000" b="1" dirty="0"/>
              <a:t> </a:t>
            </a:r>
            <a:r>
              <a:rPr lang="zh-TW" altLang="en-US" sz="3000" b="1" dirty="0"/>
              <a:t> </a:t>
            </a:r>
            <a:r>
              <a:rPr lang="en-US" altLang="zh-TW" sz="3000" b="1" dirty="0"/>
              <a:t>(</a:t>
            </a:r>
            <a:r>
              <a:rPr lang="zh-TW" altLang="en-US" sz="3000" b="1" dirty="0"/>
              <a:t>作業會用到</a:t>
            </a:r>
            <a:r>
              <a:rPr lang="en-US" altLang="zh-TW" sz="3000" b="1" dirty="0"/>
              <a:t>)</a:t>
            </a:r>
            <a:endParaRPr sz="3000" b="1" dirty="0"/>
          </a:p>
        </p:txBody>
      </p:sp>
    </p:spTree>
    <p:extLst>
      <p:ext uri="{BB962C8B-B14F-4D97-AF65-F5344CB8AC3E}">
        <p14:creationId xmlns:p14="http://schemas.microsoft.com/office/powerpoint/2010/main" val="98173568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201168" cy="6858000"/>
          </a:xfrm>
          <a:prstGeom prst="rect">
            <a:avLst/>
          </a:prstGeom>
          <a:solidFill>
            <a:srgbClr val="C2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3068" y="1188721"/>
            <a:ext cx="1124712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>
                <a:solidFill>
                  <a:srgbClr val="FFFFFF"/>
                </a:solidFill>
              </a:rPr>
              <a:t>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3068" y="2514601"/>
            <a:ext cx="112471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</a:rPr>
              <a:t>Plugin</a:t>
            </a:r>
          </a:p>
        </p:txBody>
      </p:sp>
      <p:sp>
        <p:nvSpPr>
          <p:cNvPr id="5" name="Rectangle 4"/>
          <p:cNvSpPr/>
          <p:nvPr/>
        </p:nvSpPr>
        <p:spPr>
          <a:xfrm>
            <a:off x="2927668" y="4160520"/>
            <a:ext cx="6309360" cy="64008"/>
          </a:xfrm>
          <a:prstGeom prst="rect">
            <a:avLst/>
          </a:prstGeom>
          <a:solidFill>
            <a:srgbClr val="C2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3068" y="4315969"/>
            <a:ext cx="112471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>
                <a:solidFill>
                  <a:srgbClr val="BBCCDD"/>
                </a:solidFill>
              </a:rPr>
              <a:t>把工具和技能打包在一起、分享給大家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1005840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960120"/>
            <a:ext cx="12188952" cy="91440"/>
          </a:xfrm>
          <a:prstGeom prst="rect">
            <a:avLst/>
          </a:prstGeom>
          <a:solidFill>
            <a:srgbClr val="C2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3068" y="91440"/>
            <a:ext cx="11430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什麼是 Plugin？（插件）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413068" y="1170432"/>
            <a:ext cx="11338560" cy="1280160"/>
          </a:xfrm>
          <a:prstGeom prst="rect">
            <a:avLst/>
          </a:prstGeom>
          <a:solidFill>
            <a:srgbClr val="F3F6FB"/>
          </a:solidFill>
          <a:ln w="25400">
            <a:solidFill>
              <a:srgbClr val="C2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5948" y="1243584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C28800"/>
                </a:solidFill>
              </a:rPr>
              <a:t>Plugin = SKILL + MCP 工具 + 其他設定，打包在一起，讓別人一鍵安裝就能用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5948" y="1719072"/>
            <a:ext cx="109728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>
                <a:solidFill>
                  <a:srgbClr val="0F1E3C"/>
                </a:solidFill>
              </a:rPr>
              <a:t>就像 Chrome 的「擴充功能」或手機的「App」，安裝了就多一種能力</a:t>
            </a:r>
          </a:p>
        </p:txBody>
      </p:sp>
      <p:sp>
        <p:nvSpPr>
          <p:cNvPr id="8" name="Rectangle 7"/>
          <p:cNvSpPr/>
          <p:nvPr/>
        </p:nvSpPr>
        <p:spPr>
          <a:xfrm>
            <a:off x="413068" y="2606040"/>
            <a:ext cx="11338560" cy="1417320"/>
          </a:xfrm>
          <a:prstGeom prst="rect">
            <a:avLst/>
          </a:prstGeom>
          <a:solidFill>
            <a:srgbClr val="F3F6FB"/>
          </a:solidFill>
          <a:ln w="12700">
            <a:solidFill>
              <a:srgbClr val="C2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5948" y="2697480"/>
            <a:ext cx="109728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C28800"/>
                </a:solidFill>
              </a:rPr>
              <a:t>📦  一個 Plugin 裡面包含：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5988" y="3218688"/>
            <a:ext cx="2377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>
                <a:solidFill>
                  <a:srgbClr val="E06C10"/>
                </a:solidFill>
              </a:rPr>
              <a:t>🎯 SKILL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5988" y="3639313"/>
            <a:ext cx="237744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>
                <a:solidFill>
                  <a:srgbClr val="4A5A78"/>
                </a:solidFill>
              </a:rPr>
              <a:t>做事的方法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2028" y="3218688"/>
            <a:ext cx="2377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>
                <a:solidFill>
                  <a:srgbClr val="177EC1"/>
                </a:solidFill>
              </a:rPr>
              <a:t>🔌 MCP Server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2028" y="3639313"/>
            <a:ext cx="237744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>
                <a:solidFill>
                  <a:srgbClr val="4A5A78"/>
                </a:solidFill>
              </a:rPr>
              <a:t>連接的工具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8068" y="3218688"/>
            <a:ext cx="2377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>
                <a:solidFill>
                  <a:srgbClr val="C02A78"/>
                </a:solidFill>
              </a:rPr>
              <a:t>⚙️ Hooks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8068" y="3639313"/>
            <a:ext cx="237744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>
                <a:solidFill>
                  <a:srgbClr val="4A5A78"/>
                </a:solidFill>
              </a:rPr>
              <a:t>自動觸發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4108" y="3218688"/>
            <a:ext cx="2377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>
                <a:solidFill>
                  <a:srgbClr val="4A5A78"/>
                </a:solidFill>
              </a:rPr>
              <a:t>📋 設定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34108" y="3639313"/>
            <a:ext cx="237744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>
                <a:solidFill>
                  <a:srgbClr val="4A5A78"/>
                </a:solidFill>
              </a:rPr>
              <a:t>環境與權限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3068" y="4251960"/>
            <a:ext cx="3703320" cy="1965960"/>
          </a:xfrm>
          <a:prstGeom prst="rect">
            <a:avLst/>
          </a:prstGeom>
          <a:solidFill>
            <a:srgbClr val="F3F6FB"/>
          </a:solidFill>
          <a:ln w="19050">
            <a:solidFill>
              <a:srgbClr val="00A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77660" y="4343400"/>
            <a:ext cx="33832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A366"/>
                </a:solidFill>
              </a:rPr>
              <a:t>Telegram Plugin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7660" y="4828033"/>
            <a:ext cx="338328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>
                <a:solidFill>
                  <a:srgbClr val="4A5A78"/>
                </a:solidFill>
              </a:rPr>
              <a:t>讓 AI 能收你的 Telegram 訊息並自動回覆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44988" y="4251960"/>
            <a:ext cx="3703320" cy="1965960"/>
          </a:xfrm>
          <a:prstGeom prst="rect">
            <a:avLst/>
          </a:prstGeom>
          <a:solidFill>
            <a:srgbClr val="F3F6FB"/>
          </a:solidFill>
          <a:ln w="19050">
            <a:solidFill>
              <a:srgbClr val="177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09580" y="4343400"/>
            <a:ext cx="33832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77EC1"/>
                </a:solidFill>
              </a:rPr>
              <a:t>Vercel Plugin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09580" y="4828033"/>
            <a:ext cx="338328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>
                <a:solidFill>
                  <a:srgbClr val="4A5A78"/>
                </a:solidFill>
              </a:rPr>
              <a:t>讓 AI 能幫你把網站部署到 Vercel 雲端平台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76907" y="4251960"/>
            <a:ext cx="3703320" cy="1965960"/>
          </a:xfrm>
          <a:prstGeom prst="rect">
            <a:avLst/>
          </a:prstGeom>
          <a:solidFill>
            <a:srgbClr val="F3F6FB"/>
          </a:solidFill>
          <a:ln w="19050">
            <a:solidFill>
              <a:srgbClr val="E06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441499" y="4343400"/>
            <a:ext cx="33832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E06C10"/>
                </a:solidFill>
              </a:rPr>
              <a:t>Notion Plugin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41499" y="4828033"/>
            <a:ext cx="338328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>
                <a:solidFill>
                  <a:srgbClr val="4A5A78"/>
                </a:solidFill>
              </a:rPr>
              <a:t>讓 AI 能直接讀寫你的 Notion 頁面和資料庫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1005840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960120"/>
            <a:ext cx="12188952" cy="91440"/>
          </a:xfrm>
          <a:prstGeom prst="rect">
            <a:avLst/>
          </a:prstGeom>
          <a:solidFill>
            <a:srgbClr val="C2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3068" y="91440"/>
            <a:ext cx="11430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SKILL、MCP、Plugin 的關係怎麼分？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367348" y="1170432"/>
            <a:ext cx="3730752" cy="5440680"/>
          </a:xfrm>
          <a:prstGeom prst="rect">
            <a:avLst/>
          </a:prstGeom>
          <a:solidFill>
            <a:srgbClr val="F3F6FB"/>
          </a:solidFill>
          <a:ln w="25400">
            <a:solidFill>
              <a:srgbClr val="E06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7348" y="1261872"/>
            <a:ext cx="37307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>
                <a:solidFill>
                  <a:srgbClr val="0F1E3C"/>
                </a:solidFill>
              </a:rPr>
              <a:t>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4508" y="1993393"/>
            <a:ext cx="34564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E06C10"/>
                </a:solidFill>
              </a:rPr>
              <a:t>SKILL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4508" y="2560320"/>
            <a:ext cx="34564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>
                <a:solidFill>
                  <a:srgbClr val="0F1E3C"/>
                </a:solidFill>
              </a:rPr>
              <a:t>決定「做事的方法」</a:t>
            </a:r>
          </a:p>
        </p:txBody>
      </p:sp>
      <p:sp>
        <p:nvSpPr>
          <p:cNvPr id="9" name="Rectangle 8"/>
          <p:cNvSpPr/>
          <p:nvPr/>
        </p:nvSpPr>
        <p:spPr>
          <a:xfrm>
            <a:off x="641668" y="3090672"/>
            <a:ext cx="3200400" cy="347472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1668" y="3108960"/>
            <a:ext cx="3200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i="1">
                <a:solidFill>
                  <a:srgbClr val="E06C10"/>
                </a:solidFill>
              </a:rPr>
              <a:t>類比：像食譜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0228" y="3566160"/>
            <a:ext cx="33649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4A5A78"/>
                </a:solidFill>
              </a:rPr>
              <a:t>• 告訴 AI 碰到某狀況要怎麼處理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0228" y="4224528"/>
            <a:ext cx="33649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4A5A78"/>
                </a:solidFill>
              </a:rPr>
              <a:t>• 用 Markdown 文件寫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0228" y="4882896"/>
            <a:ext cx="33649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4A5A78"/>
                </a:solidFill>
              </a:rPr>
              <a:t>• 你或 AI 都可以觸發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17556" y="1170432"/>
            <a:ext cx="3730752" cy="5440680"/>
          </a:xfrm>
          <a:prstGeom prst="rect">
            <a:avLst/>
          </a:prstGeom>
          <a:solidFill>
            <a:srgbClr val="F3F6FB"/>
          </a:solidFill>
          <a:ln w="25400">
            <a:solidFill>
              <a:srgbClr val="177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17556" y="1261872"/>
            <a:ext cx="37307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>
                <a:solidFill>
                  <a:srgbClr val="0F1E3C"/>
                </a:solidFill>
              </a:rPr>
              <a:t>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54716" y="1993393"/>
            <a:ext cx="34564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77EC1"/>
                </a:solidFill>
              </a:rPr>
              <a:t>MCP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54716" y="2560320"/>
            <a:ext cx="34564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>
                <a:solidFill>
                  <a:srgbClr val="0F1E3C"/>
                </a:solidFill>
              </a:rPr>
              <a:t>負責「連到外部工具」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91876" y="3090672"/>
            <a:ext cx="3200400" cy="347472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91876" y="3108960"/>
            <a:ext cx="3200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i="1">
                <a:solidFill>
                  <a:srgbClr val="177EC1"/>
                </a:solidFill>
              </a:rPr>
              <a:t>類比：像工具箱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00436" y="3566160"/>
            <a:ext cx="33649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4A5A78"/>
                </a:solidFill>
              </a:rPr>
              <a:t>• 讓 AI 能操作外部系統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0436" y="4224528"/>
            <a:ext cx="33649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4A5A78"/>
                </a:solidFill>
              </a:rPr>
              <a:t>• Google Drive、Notion 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00436" y="4882896"/>
            <a:ext cx="33649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4A5A78"/>
                </a:solidFill>
              </a:rPr>
              <a:t>• 統一標準，接一次接全部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67764" y="1170432"/>
            <a:ext cx="3730752" cy="5440680"/>
          </a:xfrm>
          <a:prstGeom prst="rect">
            <a:avLst/>
          </a:prstGeom>
          <a:solidFill>
            <a:srgbClr val="F3F6FB"/>
          </a:solidFill>
          <a:ln w="25400">
            <a:solidFill>
              <a:srgbClr val="C2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67764" y="1261872"/>
            <a:ext cx="37307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>
                <a:solidFill>
                  <a:srgbClr val="0F1E3C"/>
                </a:solidFill>
              </a:rPr>
              <a:t>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04924" y="1993393"/>
            <a:ext cx="34564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C28800"/>
                </a:solidFill>
              </a:rPr>
              <a:t>Plugin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04924" y="2560320"/>
            <a:ext cx="34564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>
                <a:solidFill>
                  <a:srgbClr val="0F1E3C"/>
                </a:solidFill>
              </a:rPr>
              <a:t>把前兩個「打包分享」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42084" y="3090672"/>
            <a:ext cx="3200400" cy="347472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542084" y="3108960"/>
            <a:ext cx="3200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i="1">
                <a:solidFill>
                  <a:srgbClr val="C28800"/>
                </a:solidFill>
              </a:rPr>
              <a:t>類比：像 App 安裝包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0644" y="3566160"/>
            <a:ext cx="33649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4A5A78"/>
                </a:solidFill>
              </a:rPr>
              <a:t>• SKILL + MCP 打包在一起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0644" y="4224528"/>
            <a:ext cx="33649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4A5A78"/>
                </a:solidFill>
              </a:rPr>
              <a:t>• 別人安裝就直接能用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0644" y="4882896"/>
            <a:ext cx="33649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4A5A78"/>
                </a:solidFill>
              </a:rPr>
              <a:t>• 不用自己一個一個設定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3068" y="6510528"/>
            <a:ext cx="11338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>
                <a:solidFill>
                  <a:srgbClr val="00A366"/>
                </a:solidFill>
              </a:rPr>
              <a:t>安裝一個 Plugin → Skill 立刻可用 + MCP 工具自動開啟，一鍵搞定！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201168" cy="6858000"/>
          </a:xfrm>
          <a:prstGeom prst="rect">
            <a:avLst/>
          </a:prstGeom>
          <a:solidFill>
            <a:srgbClr val="C02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3068" y="1188721"/>
            <a:ext cx="1124712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>
                <a:solidFill>
                  <a:srgbClr val="FFFFFF"/>
                </a:solidFill>
              </a:rPr>
              <a:t>⚙️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3068" y="2514601"/>
            <a:ext cx="112471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</a:rPr>
              <a:t>Harness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2927668" y="4160520"/>
            <a:ext cx="6309360" cy="64008"/>
          </a:xfrm>
          <a:prstGeom prst="rect">
            <a:avLst/>
          </a:prstGeom>
          <a:solidFill>
            <a:srgbClr val="C02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3068" y="4315969"/>
            <a:ext cx="112471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>
                <a:solidFill>
                  <a:srgbClr val="BBCCDD"/>
                </a:solidFill>
              </a:rPr>
              <a:t>AI 行動背後的「安全管理員」</a:t>
            </a:r>
          </a:p>
        </p:txBody>
      </p:sp>
      <p:pic>
        <p:nvPicPr>
          <p:cNvPr id="7" name="圖片 6" descr="Harness：決定 AI Agent 成敗的不是模型，是這個東西">
            <a:extLst>
              <a:ext uri="{FF2B5EF4-FFF2-40B4-BE49-F238E27FC236}">
                <a16:creationId xmlns:a16="http://schemas.microsoft.com/office/drawing/2014/main" id="{1755D0C2-E9F0-196B-97BD-3A441144C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5943" y="134050"/>
            <a:ext cx="4136200" cy="2757466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1005840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960120"/>
            <a:ext cx="12188952" cy="91440"/>
          </a:xfrm>
          <a:prstGeom prst="rect">
            <a:avLst/>
          </a:prstGeom>
          <a:solidFill>
            <a:srgbClr val="C02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3068" y="91440"/>
            <a:ext cx="11430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什麼是 Harness？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413068" y="1170432"/>
            <a:ext cx="11338560" cy="1325880"/>
          </a:xfrm>
          <a:prstGeom prst="rect">
            <a:avLst/>
          </a:prstGeom>
          <a:solidFill>
            <a:srgbClr val="F3F6FB"/>
          </a:solidFill>
          <a:ln w="25400">
            <a:solidFill>
              <a:srgbClr val="C02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5948" y="1243584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C02A78"/>
                </a:solidFill>
              </a:rPr>
              <a:t>Harness = AI 的「作業系統」＋「安全管理員」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5948" y="1719072"/>
            <a:ext cx="109728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>
                <a:solidFill>
                  <a:srgbClr val="0F1E3C"/>
                </a:solidFill>
              </a:rPr>
              <a:t>AI 想做任何事（讀檔、寫檔、上網、執行程式），都要先過 Harness 這一關</a:t>
            </a:r>
          </a:p>
        </p:txBody>
      </p:sp>
      <p:sp>
        <p:nvSpPr>
          <p:cNvPr id="8" name="Rectangle 7"/>
          <p:cNvSpPr/>
          <p:nvPr/>
        </p:nvSpPr>
        <p:spPr>
          <a:xfrm>
            <a:off x="367348" y="2743200"/>
            <a:ext cx="2743200" cy="3611880"/>
          </a:xfrm>
          <a:prstGeom prst="rect">
            <a:avLst/>
          </a:prstGeom>
          <a:solidFill>
            <a:srgbClr val="F3F6FB"/>
          </a:solidFill>
          <a:ln w="19050">
            <a:solidFill>
              <a:srgbClr val="C02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7348" y="2834641"/>
            <a:ext cx="27432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>
                <a:solidFill>
                  <a:srgbClr val="0F1E3C"/>
                </a:solidFill>
              </a:rPr>
              <a:t>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7076" y="3566160"/>
            <a:ext cx="25420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C02A78"/>
                </a:solidFill>
              </a:rPr>
              <a:t>管理工具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7076" y="4096513"/>
            <a:ext cx="2542032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>
                <a:solidFill>
                  <a:srgbClr val="4A5A78"/>
                </a:solidFill>
              </a:rPr>
              <a:t>控制 AI 能用哪些工具
不能用哪些工具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0004" y="2743200"/>
            <a:ext cx="2743200" cy="3611880"/>
          </a:xfrm>
          <a:prstGeom prst="rect">
            <a:avLst/>
          </a:prstGeom>
          <a:solidFill>
            <a:srgbClr val="F3F6FB"/>
          </a:solidFill>
          <a:ln w="19050">
            <a:solidFill>
              <a:srgbClr val="E06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30004" y="2834641"/>
            <a:ext cx="27432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>
                <a:solidFill>
                  <a:srgbClr val="0F1E3C"/>
                </a:solidFill>
              </a:rPr>
              <a:t>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39732" y="3566160"/>
            <a:ext cx="25420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E06C10"/>
                </a:solidFill>
              </a:rPr>
              <a:t>把關安全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39732" y="4096513"/>
            <a:ext cx="2542032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>
                <a:solidFill>
                  <a:srgbClr val="4A5A78"/>
                </a:solidFill>
              </a:rPr>
              <a:t>每個動作都要審核
確保 AI 不會做危險的事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92660" y="2743200"/>
            <a:ext cx="2743200" cy="3611880"/>
          </a:xfrm>
          <a:prstGeom prst="rect">
            <a:avLst/>
          </a:prstGeom>
          <a:solidFill>
            <a:srgbClr val="F3F6FB"/>
          </a:solidFill>
          <a:ln w="19050">
            <a:solidFill>
              <a:srgbClr val="177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92660" y="2834641"/>
            <a:ext cx="27432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>
                <a:solidFill>
                  <a:srgbClr val="0F1E3C"/>
                </a:solidFill>
              </a:rPr>
              <a:t>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2388" y="3566160"/>
            <a:ext cx="25420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77EC1"/>
                </a:solidFill>
              </a:rPr>
              <a:t>記錄所有動作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2388" y="4096513"/>
            <a:ext cx="2542032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>
                <a:solidFill>
                  <a:srgbClr val="4A5A78"/>
                </a:solidFill>
              </a:rPr>
              <a:t>AI 做了什麼都有紀錄
方便你之後檢查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55316" y="2743200"/>
            <a:ext cx="2743200" cy="3611880"/>
          </a:xfrm>
          <a:prstGeom prst="rect">
            <a:avLst/>
          </a:prstGeom>
          <a:solidFill>
            <a:srgbClr val="F3F6FB"/>
          </a:solidFill>
          <a:ln w="19050">
            <a:solidFill>
              <a:srgbClr val="00A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255316" y="2834641"/>
            <a:ext cx="27432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>
                <a:solidFill>
                  <a:srgbClr val="0F1E3C"/>
                </a:solidFill>
              </a:rPr>
              <a:t>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65044" y="3566160"/>
            <a:ext cx="25420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A366"/>
                </a:solidFill>
              </a:rPr>
              <a:t>協調多個 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65044" y="4096513"/>
            <a:ext cx="2542032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>
                <a:solidFill>
                  <a:srgbClr val="4A5A78"/>
                </a:solidFill>
              </a:rPr>
              <a:t>可以同時管理好幾個
AI 同時工作的場景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3068" y="6446520"/>
            <a:ext cx="113385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C02A78"/>
                </a:solidFill>
              </a:rPr>
              <a:t>「AI 負責想，Harness 負責管」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1005840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960120"/>
            <a:ext cx="12188952" cy="91440"/>
          </a:xfrm>
          <a:prstGeom prst="rect">
            <a:avLst/>
          </a:prstGeom>
          <a:solidFill>
            <a:srgbClr val="C02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3068" y="91440"/>
            <a:ext cx="11430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Harness 怎麼決定 AI 能不能做某件事？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3068" y="1207008"/>
            <a:ext cx="1133856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>
                <a:solidFill>
                  <a:srgbClr val="4A5A78"/>
                </a:solidFill>
              </a:rPr>
              <a:t>每次 AI 想執行一個動作，都要過三關審查 👇</a:t>
            </a:r>
          </a:p>
        </p:txBody>
      </p:sp>
      <p:sp>
        <p:nvSpPr>
          <p:cNvPr id="6" name="Rectangle 5"/>
          <p:cNvSpPr/>
          <p:nvPr/>
        </p:nvSpPr>
        <p:spPr>
          <a:xfrm>
            <a:off x="413068" y="1828800"/>
            <a:ext cx="11338560" cy="1389888"/>
          </a:xfrm>
          <a:prstGeom prst="rect">
            <a:avLst/>
          </a:prstGeom>
          <a:solidFill>
            <a:srgbClr val="F3F6FB"/>
          </a:solidFill>
          <a:ln w="25400">
            <a:solidFill>
              <a:srgbClr val="C0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3068" y="1828800"/>
            <a:ext cx="3108960" cy="1389888"/>
          </a:xfrm>
          <a:prstGeom prst="rect">
            <a:avLst/>
          </a:prstGeom>
          <a:solidFill>
            <a:srgbClr val="E8EFF8"/>
          </a:solidFill>
          <a:ln w="25400">
            <a:solidFill>
              <a:srgbClr val="C0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8516" y="1938529"/>
            <a:ext cx="283464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C02525"/>
                </a:solidFill>
              </a:rPr>
              <a:t>第一關：拒絕名單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8516" y="2487169"/>
            <a:ext cx="283464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4A5A78"/>
                </a:solidFill>
              </a:rPr>
              <a:t>裡面的事絕對不能做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4908" y="2011681"/>
            <a:ext cx="786384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>
                <a:solidFill>
                  <a:srgbClr val="0F1E3C"/>
                </a:solidFill>
              </a:rPr>
              <a:t>例如：「不能修改 .env 設定檔」
→ 就算 AI 想做，Harness 直接擋下來，AI 說什麼都沒用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3068" y="3364991"/>
            <a:ext cx="11338560" cy="1389888"/>
          </a:xfrm>
          <a:prstGeom prst="rect">
            <a:avLst/>
          </a:prstGeom>
          <a:solidFill>
            <a:srgbClr val="F3F6FB"/>
          </a:solidFill>
          <a:ln w="25400">
            <a:solidFill>
              <a:srgbClr val="C2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13068" y="3364991"/>
            <a:ext cx="3108960" cy="1389888"/>
          </a:xfrm>
          <a:prstGeom prst="rect">
            <a:avLst/>
          </a:prstGeom>
          <a:solidFill>
            <a:srgbClr val="E8EFF8"/>
          </a:solidFill>
          <a:ln w="25400">
            <a:solidFill>
              <a:srgbClr val="C2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8516" y="3474721"/>
            <a:ext cx="283464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C28800"/>
                </a:solidFill>
              </a:rPr>
              <a:t>第二關：詢問名單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8516" y="4023360"/>
            <a:ext cx="283464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4A5A78"/>
                </a:solidFill>
              </a:rPr>
              <a:t>要先問過你才能做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4908" y="3547873"/>
            <a:ext cx="786384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>
                <a:solidFill>
                  <a:srgbClr val="0F1E3C"/>
                </a:solidFill>
              </a:rPr>
              <a:t>例如：「刪除檔案」
→ Harness 會跳視窗問你「確定要刪嗎？」你說 OK 才執行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3068" y="4901183"/>
            <a:ext cx="11338560" cy="1389888"/>
          </a:xfrm>
          <a:prstGeom prst="rect">
            <a:avLst/>
          </a:prstGeom>
          <a:solidFill>
            <a:srgbClr val="F3F6FB"/>
          </a:solidFill>
          <a:ln w="25400">
            <a:solidFill>
              <a:srgbClr val="00A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13068" y="4901183"/>
            <a:ext cx="3108960" cy="1389888"/>
          </a:xfrm>
          <a:prstGeom prst="rect">
            <a:avLst/>
          </a:prstGeom>
          <a:solidFill>
            <a:srgbClr val="E8EFF8"/>
          </a:solidFill>
          <a:ln w="25400">
            <a:solidFill>
              <a:srgbClr val="00A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8516" y="5010913"/>
            <a:ext cx="283464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0A366"/>
                </a:solidFill>
              </a:rPr>
              <a:t>第三關：允許名單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8516" y="5559552"/>
            <a:ext cx="283464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4A5A78"/>
                </a:solidFill>
              </a:rPr>
              <a:t>直接放行不用問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4908" y="5084065"/>
            <a:ext cx="786384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>
                <a:solidFill>
                  <a:srgbClr val="0F1E3C"/>
                </a:solidFill>
              </a:rPr>
              <a:t>例如：「讀取程式碼」
→ AI 直接去讀，不用每次都跳確認視窗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3068" y="6473952"/>
            <a:ext cx="11338560" cy="384048"/>
          </a:xfrm>
          <a:prstGeom prst="rect">
            <a:avLst/>
          </a:prstGeom>
          <a:solidFill>
            <a:srgbClr val="E8EFF8"/>
          </a:solidFill>
          <a:ln w="19050">
            <a:solidFill>
              <a:srgbClr val="C0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5948" y="6510529"/>
            <a:ext cx="109728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C02525"/>
                </a:solidFill>
              </a:rPr>
              <a:t>🔑  重要原則：第一關（拒絕）永遠贏。AI 說什麼都沒用，設定說不能做就是不能做。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1005840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960120"/>
            <a:ext cx="12188952" cy="91440"/>
          </a:xfrm>
          <a:prstGeom prst="rect">
            <a:avLst/>
          </a:prstGeom>
          <a:solidFill>
            <a:srgbClr val="C02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3068" y="91440"/>
            <a:ext cx="11430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Harness 還有個神奇功能：Hooks（事件鉤子）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413068" y="1170432"/>
            <a:ext cx="11338560" cy="1097280"/>
          </a:xfrm>
          <a:prstGeom prst="rect">
            <a:avLst/>
          </a:prstGeom>
          <a:solidFill>
            <a:srgbClr val="F3F6FB"/>
          </a:solidFill>
          <a:ln w="19050">
            <a:solidFill>
              <a:srgbClr val="C02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5948" y="1243585"/>
            <a:ext cx="109728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C02A78"/>
                </a:solidFill>
              </a:rPr>
              <a:t>Hook 就是「當 XX 發生時，自動做 YY」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5948" y="1691641"/>
            <a:ext cx="1097280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>
                <a:solidFill>
                  <a:srgbClr val="4A5A78"/>
                </a:solidFill>
              </a:rPr>
              <a:t>你設定好規則，Harness 會在對的時間點自動觸發，完全不需要你手動操作</a:t>
            </a:r>
          </a:p>
        </p:txBody>
      </p:sp>
      <p:sp>
        <p:nvSpPr>
          <p:cNvPr id="8" name="Rectangle 7"/>
          <p:cNvSpPr/>
          <p:nvPr/>
        </p:nvSpPr>
        <p:spPr>
          <a:xfrm>
            <a:off x="367348" y="2468880"/>
            <a:ext cx="5559552" cy="1828800"/>
          </a:xfrm>
          <a:prstGeom prst="rect">
            <a:avLst/>
          </a:prstGeom>
          <a:solidFill>
            <a:srgbClr val="F3F6FB"/>
          </a:solidFill>
          <a:ln w="19050">
            <a:solidFill>
              <a:srgbClr val="C02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1940" y="2560320"/>
            <a:ext cx="5166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C02A78"/>
                </a:solidFill>
              </a:rPr>
              <a:t>🔴  動作前  PreToolUse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1940" y="3017520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4A5A78"/>
                </a:solidFill>
              </a:rPr>
              <a:t>AI 要用工具之前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1940" y="3383281"/>
            <a:ext cx="51663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0F1E3C"/>
                </a:solidFill>
              </a:rPr>
              <a:t>→ 阻止危險動作
→ 保護重要檔案不被亂改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29236" y="2468880"/>
            <a:ext cx="5559552" cy="1828800"/>
          </a:xfrm>
          <a:prstGeom prst="rect">
            <a:avLst/>
          </a:prstGeom>
          <a:solidFill>
            <a:srgbClr val="F3F6FB"/>
          </a:solidFill>
          <a:ln w="19050">
            <a:solidFill>
              <a:srgbClr val="E06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3828" y="2560320"/>
            <a:ext cx="5166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E06C10"/>
                </a:solidFill>
              </a:rPr>
              <a:t>🟡  動作後  PostToolUse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3828" y="3017520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4A5A78"/>
                </a:solidFill>
              </a:rPr>
              <a:t>AI 用完工具之後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3828" y="3383281"/>
            <a:ext cx="51663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0F1E3C"/>
                </a:solidFill>
              </a:rPr>
              <a:t>→ 記錄動作
→ 傳結果到 Slack 通知你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7348" y="4498848"/>
            <a:ext cx="5559552" cy="1828800"/>
          </a:xfrm>
          <a:prstGeom prst="rect">
            <a:avLst/>
          </a:prstGeom>
          <a:solidFill>
            <a:srgbClr val="F3F6FB"/>
          </a:solidFill>
          <a:ln w="19050">
            <a:solidFill>
              <a:srgbClr val="00A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1940" y="4590288"/>
            <a:ext cx="5166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00A366"/>
                </a:solidFill>
              </a:rPr>
              <a:t>🟢  開始時  SessionStart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1940" y="5047488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4A5A78"/>
                </a:solidFill>
              </a:rPr>
              <a:t>每次開始對話時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1940" y="5413249"/>
            <a:ext cx="51663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0F1E3C"/>
                </a:solidFill>
              </a:rPr>
              <a:t>→ 自動載入環境設定
→ 初始化需要的資源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29236" y="4498848"/>
            <a:ext cx="5559552" cy="1828800"/>
          </a:xfrm>
          <a:prstGeom prst="rect">
            <a:avLst/>
          </a:prstGeom>
          <a:solidFill>
            <a:srgbClr val="F3F6FB"/>
          </a:solidFill>
          <a:ln w="19050">
            <a:solidFill>
              <a:srgbClr val="177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93828" y="4590288"/>
            <a:ext cx="5166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177EC1"/>
                </a:solidFill>
              </a:rPr>
              <a:t>🔵  結束時  Stop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3828" y="5047488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4A5A78"/>
                </a:solidFill>
              </a:rPr>
              <a:t>對話結束時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3828" y="5413249"/>
            <a:ext cx="51663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0F1E3C"/>
                </a:solidFill>
              </a:rPr>
              <a:t>→ 自動存檔
→ 清理暫存資料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3068" y="6510529"/>
            <a:ext cx="1133856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>
                <a:solidFill>
                  <a:srgbClr val="C28800"/>
                </a:solidFill>
              </a:rPr>
              <a:t>實際例子：設定「AI 每次要修改 .env 之前，先問我確認」→ 這就是一個 Hook 的設定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201168" cy="6858000"/>
          </a:xfrm>
          <a:prstGeom prst="rect">
            <a:avLst/>
          </a:prstGeom>
          <a:solidFill>
            <a:srgbClr val="177E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3068" y="1188721"/>
            <a:ext cx="1124712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>
                <a:solidFill>
                  <a:srgbClr val="FFFFFF"/>
                </a:solidFill>
              </a:rPr>
              <a:t>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3068" y="2514601"/>
            <a:ext cx="112471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dirty="0" err="1">
                <a:solidFill>
                  <a:srgbClr val="FFFFFF"/>
                </a:solidFill>
              </a:rPr>
              <a:t>把它們串起來</a:t>
            </a:r>
            <a:r>
              <a:rPr sz="7200" b="1" dirty="0">
                <a:solidFill>
                  <a:srgbClr val="FFFFFF"/>
                </a:solidFill>
              </a:rPr>
              <a:t>！</a:t>
            </a:r>
          </a:p>
        </p:txBody>
      </p:sp>
      <p:sp>
        <p:nvSpPr>
          <p:cNvPr id="5" name="Rectangle 4"/>
          <p:cNvSpPr/>
          <p:nvPr/>
        </p:nvSpPr>
        <p:spPr>
          <a:xfrm>
            <a:off x="2927668" y="4160520"/>
            <a:ext cx="6309360" cy="64008"/>
          </a:xfrm>
          <a:prstGeom prst="rect">
            <a:avLst/>
          </a:prstGeom>
          <a:solidFill>
            <a:srgbClr val="177E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3068" y="4315969"/>
            <a:ext cx="112471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>
                <a:solidFill>
                  <a:srgbClr val="BBCCDD"/>
                </a:solidFill>
              </a:rPr>
              <a:t>一個完整的 Vibe Coding 工作流程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1005840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960120"/>
            <a:ext cx="12188952" cy="91440"/>
          </a:xfrm>
          <a:prstGeom prst="rect">
            <a:avLst/>
          </a:prstGeom>
          <a:solidFill>
            <a:srgbClr val="00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3068" y="91440"/>
            <a:ext cx="11430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用「蓋房子」來記住這五個概念</a:t>
            </a:r>
          </a:p>
        </p:txBody>
      </p:sp>
      <p:sp>
        <p:nvSpPr>
          <p:cNvPr id="5" name="Rectangle 4"/>
          <p:cNvSpPr/>
          <p:nvPr/>
        </p:nvSpPr>
        <p:spPr>
          <a:xfrm>
            <a:off x="413068" y="1170432"/>
            <a:ext cx="11338560" cy="566928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5948" y="1216152"/>
            <a:ext cx="10972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>
                <a:solidFill>
                  <a:srgbClr val="0F1E3C"/>
                </a:solidFill>
              </a:rPr>
              <a:t>想像你是一個建設公司的老闆，你說：「幫我在這塊地上蓋一棟三房兩廳的房子」</a:t>
            </a:r>
          </a:p>
        </p:txBody>
      </p:sp>
      <p:sp>
        <p:nvSpPr>
          <p:cNvPr id="7" name="Rectangle 6"/>
          <p:cNvSpPr/>
          <p:nvPr/>
        </p:nvSpPr>
        <p:spPr>
          <a:xfrm>
            <a:off x="413068" y="1874519"/>
            <a:ext cx="11338560" cy="777240"/>
          </a:xfrm>
          <a:prstGeom prst="rect">
            <a:avLst/>
          </a:prstGeom>
          <a:solidFill>
            <a:srgbClr val="F3F6FB"/>
          </a:solidFill>
          <a:ln w="19050">
            <a:solidFill>
              <a:srgbClr val="00A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13068" y="1874519"/>
            <a:ext cx="274320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A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50228" y="2039113"/>
            <a:ext cx="256032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A366"/>
                </a:solidFill>
              </a:rPr>
              <a:t>🌊  Vibe Coding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9148" y="2057401"/>
            <a:ext cx="82296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>
                <a:solidFill>
                  <a:srgbClr val="0F1E3C"/>
                </a:solidFill>
              </a:rPr>
              <a:t>老闆（你）用說的方式表達需求，不用自己拿鐵鎚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3068" y="2770632"/>
            <a:ext cx="11338560" cy="777240"/>
          </a:xfrm>
          <a:prstGeom prst="rect">
            <a:avLst/>
          </a:prstGeom>
          <a:solidFill>
            <a:srgbClr val="E8EFF8"/>
          </a:solidFill>
          <a:ln w="19050">
            <a:solidFill>
              <a:srgbClr val="E06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13068" y="2770632"/>
            <a:ext cx="274320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E06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50228" y="2935225"/>
            <a:ext cx="256032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06C10"/>
                </a:solidFill>
              </a:rPr>
              <a:t>🎯  SKILL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9148" y="2953513"/>
            <a:ext cx="82296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>
                <a:solidFill>
                  <a:srgbClr val="0F1E3C"/>
                </a:solidFill>
              </a:rPr>
              <a:t>建築師的「施工手冊」— 碰到地基問題要按什麼步驟處理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3068" y="3666744"/>
            <a:ext cx="11338560" cy="777240"/>
          </a:xfrm>
          <a:prstGeom prst="rect">
            <a:avLst/>
          </a:prstGeom>
          <a:solidFill>
            <a:srgbClr val="F3F6FB"/>
          </a:solidFill>
          <a:ln w="19050">
            <a:solidFill>
              <a:srgbClr val="177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13068" y="3666744"/>
            <a:ext cx="274320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77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50228" y="3831336"/>
            <a:ext cx="256032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77EC1"/>
                </a:solidFill>
              </a:rPr>
              <a:t>🔌  MCP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9148" y="3849625"/>
            <a:ext cx="82296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>
                <a:solidFill>
                  <a:srgbClr val="0F1E3C"/>
                </a:solidFill>
              </a:rPr>
              <a:t>工地的「工具設備」— 挖土機、起重機、電鑽（外部系統）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3068" y="4562856"/>
            <a:ext cx="11338560" cy="777240"/>
          </a:xfrm>
          <a:prstGeom prst="rect">
            <a:avLst/>
          </a:prstGeom>
          <a:solidFill>
            <a:srgbClr val="E8EFF8"/>
          </a:solidFill>
          <a:ln w="19050">
            <a:solidFill>
              <a:srgbClr val="C2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13068" y="4562856"/>
            <a:ext cx="274320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C2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50228" y="4727449"/>
            <a:ext cx="256032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C28800"/>
                </a:solidFill>
              </a:rPr>
              <a:t>📦  Plugin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9148" y="4745737"/>
            <a:ext cx="82296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>
                <a:solidFill>
                  <a:srgbClr val="0F1E3C"/>
                </a:solidFill>
              </a:rPr>
              <a:t>完整的「施工工具包」— 手冊 + 工具 + SOP 打包在一起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3068" y="5458968"/>
            <a:ext cx="11338560" cy="777240"/>
          </a:xfrm>
          <a:prstGeom prst="rect">
            <a:avLst/>
          </a:prstGeom>
          <a:solidFill>
            <a:srgbClr val="F3F6FB"/>
          </a:solidFill>
          <a:ln w="19050">
            <a:solidFill>
              <a:srgbClr val="C02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13068" y="5458968"/>
            <a:ext cx="274320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C02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50228" y="5623560"/>
            <a:ext cx="256032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C02A78"/>
                </a:solidFill>
              </a:rPr>
              <a:t>⚙️  Harness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39148" y="5641849"/>
            <a:ext cx="82296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>
                <a:solidFill>
                  <a:srgbClr val="0F1E3C"/>
                </a:solidFill>
              </a:rPr>
              <a:t>工地的「安全管理員」— 控管哪些機具能用、記錄所有操作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18F49C51-17F1-3738-7EC5-340F696F4B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1696"/>
            <a:ext cx="11910874" cy="669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4456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3453</TotalTime>
  <Words>2340</Words>
  <Application>Microsoft Macintosh PowerPoint</Application>
  <PresentationFormat>寬螢幕</PresentationFormat>
  <Paragraphs>371</Paragraphs>
  <Slides>63</Slides>
  <Notes>3</Notes>
  <HiddenSlides>0</HiddenSlides>
  <MMClips>1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63</vt:i4>
      </vt:variant>
    </vt:vector>
  </HeadingPairs>
  <TitlesOfParts>
    <vt:vector size="68" baseType="lpstr">
      <vt:lpstr>Aptos</vt:lpstr>
      <vt:lpstr>Aptos Display</vt:lpstr>
      <vt:lpstr>Arial</vt:lpstr>
      <vt:lpstr>Wingdings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Rules</vt:lpstr>
      <vt:lpstr>Rules</vt:lpstr>
      <vt:lpstr>Rules</vt:lpstr>
      <vt:lpstr>PowerPoint 簡報</vt:lpstr>
      <vt:lpstr>Workflows: 定義自動化工作流程</vt:lpstr>
      <vt:lpstr>Workflows: 定義自動化工作流程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Charlie Chen</dc:creator>
  <cp:lastModifiedBy>Charlie Chen</cp:lastModifiedBy>
  <cp:revision>23</cp:revision>
  <dcterms:created xsi:type="dcterms:W3CDTF">2026-05-26T02:04:37Z</dcterms:created>
  <dcterms:modified xsi:type="dcterms:W3CDTF">2026-05-31T13:14:27Z</dcterms:modified>
</cp:coreProperties>
</file>